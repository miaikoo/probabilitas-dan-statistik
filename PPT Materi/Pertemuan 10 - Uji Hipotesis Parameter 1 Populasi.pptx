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6858000" cy="9144000"/>
  <p:embeddedFontLst>
    <p:embeddedFont>
      <p:font typeface="Tahoma"/>
      <p:regular r:id="rId42"/>
      <p:bold r:id="rId43"/>
    </p:embeddedFont>
    <p:embeddedFont>
      <p:font typeface="Book Antiqua"/>
      <p:regular r:id="rId44"/>
      <p:bold r:id="rId45"/>
      <p:italic r:id="rId46"/>
      <p:boldItalic r:id="rId47"/>
    </p:embeddedFont>
    <p:embeddedFont>
      <p:font typeface="Noto Sans Symbols"/>
      <p:regular r:id="rId48"/>
      <p:bold r:id="rId49"/>
    </p:embeddedFont>
    <p:embeddedFont>
      <p:font typeface="Arial Black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Tahoma-regular.fntdata"/><Relationship Id="rId41" Type="http://schemas.openxmlformats.org/officeDocument/2006/relationships/slide" Target="slides/slide36.xml"/><Relationship Id="rId44" Type="http://schemas.openxmlformats.org/officeDocument/2006/relationships/font" Target="fonts/BookAntiqua-regular.fntdata"/><Relationship Id="rId43" Type="http://schemas.openxmlformats.org/officeDocument/2006/relationships/font" Target="fonts/Tahoma-bold.fntdata"/><Relationship Id="rId46" Type="http://schemas.openxmlformats.org/officeDocument/2006/relationships/font" Target="fonts/BookAntiqua-italic.fntdata"/><Relationship Id="rId45" Type="http://schemas.openxmlformats.org/officeDocument/2006/relationships/font" Target="fonts/BookAntiqu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otoSansSymbols-regular.fntdata"/><Relationship Id="rId47" Type="http://schemas.openxmlformats.org/officeDocument/2006/relationships/font" Target="fonts/BookAntiqua-boldItalic.fntdata"/><Relationship Id="rId49" Type="http://schemas.openxmlformats.org/officeDocument/2006/relationships/font" Target="fonts/NotoSansSymbol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8" name="Google Shape;28;p2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1" name="Google Shape;41;p2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" type="subTitle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80"/>
              </a:spcBef>
              <a:spcAft>
                <a:spcPts val="0"/>
              </a:spcAft>
              <a:buSzPts val="2550"/>
              <a:buFont typeface="Noto Sans Symbols"/>
              <a:buNone/>
              <a:defRPr sz="3400"/>
            </a:lvl1pPr>
            <a:lvl2pPr lvl="1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3" name="Google Shape;43;p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indent="-350520" lvl="1" marL="914400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61" name="Google Shape;61;p5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indent="-350520" lvl="1" marL="914400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62" name="Google Shape;62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20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69" name="Google Shape;69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indent="-330200" lvl="1" marL="9144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20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71" name="Google Shape;71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■"/>
              <a:defRPr sz="3200"/>
            </a:lvl1pPr>
            <a:lvl2pPr indent="-370840" lvl="1" marL="914400" algn="l">
              <a:spcBef>
                <a:spcPts val="560"/>
              </a:spcBef>
              <a:spcAft>
                <a:spcPts val="0"/>
              </a:spcAft>
              <a:buSzPts val="2240"/>
              <a:buChar char="◻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◻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86" name="Google Shape;86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4" name="Google Shape;94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 rot="5400000">
            <a:off x="2628900" y="-1905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1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LOGO ITS" id="25" name="Google Shape;2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0" y="0"/>
            <a:ext cx="762000" cy="434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Relationship Id="rId6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type="ctrTitle"/>
          </p:nvPr>
        </p:nvSpPr>
        <p:spPr>
          <a:xfrm>
            <a:off x="1763713" y="1828800"/>
            <a:ext cx="7227887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HIPOTESA PARAMETER </a:t>
            </a:r>
            <a:br>
              <a:rPr lang="en-US" sz="4200"/>
            </a:br>
            <a:r>
              <a:rPr lang="en-US" sz="4200"/>
              <a:t>SATU POPULASI</a:t>
            </a:r>
            <a:endParaRPr sz="4600"/>
          </a:p>
        </p:txBody>
      </p:sp>
      <p:sp>
        <p:nvSpPr>
          <p:cNvPr id="114" name="Google Shape;114;p13"/>
          <p:cNvSpPr txBox="1"/>
          <p:nvPr>
            <p:ph idx="1" type="subTitle"/>
          </p:nvPr>
        </p:nvSpPr>
        <p:spPr>
          <a:xfrm>
            <a:off x="1908175" y="4292600"/>
            <a:ext cx="68405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0"/>
              <a:buNone/>
            </a:pPr>
            <a:r>
              <a:rPr lang="en-US" sz="2200"/>
              <a:t>Probabilitas &amp; Statistik</a:t>
            </a:r>
            <a:endParaRPr sz="2200"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SzPts val="1650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200"/>
              <a:buNone/>
            </a:pPr>
            <a:r>
              <a:rPr lang="en-US" sz="1600"/>
              <a:t>Teknik Informatika, Fakultas Teknologi Elektro &amp; Informasi Cerdas</a:t>
            </a:r>
            <a:br>
              <a:rPr lang="en-US" sz="1600"/>
            </a:br>
            <a:r>
              <a:rPr lang="en-US" sz="1800"/>
              <a:t>Institut Teknologi Sepuluh Nopember Surabaya</a:t>
            </a:r>
            <a:endParaRPr sz="1800"/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POPULASI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764088" y="1270000"/>
            <a:ext cx="3816350" cy="1471613"/>
          </a:xfrm>
          <a:prstGeom prst="wedgeRoundRectCallout">
            <a:avLst>
              <a:gd fmla="val -27398" name="adj1"/>
              <a:gd fmla="val 66667" name="adj2"/>
              <a:gd fmla="val 16667" name="adj3"/>
            </a:avLst>
          </a:prstGeom>
          <a:solidFill>
            <a:srgbClr val="FFFF66"/>
          </a:solidFill>
          <a:ln cap="flat" cmpd="sng" w="127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>
            <p:ph type="title"/>
          </p:nvPr>
        </p:nvSpPr>
        <p:spPr>
          <a:xfrm>
            <a:off x="447675" y="363538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Apakah Hipotesa?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457200" y="1981200"/>
            <a:ext cx="4343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Hipotesa adalah sebuah klaim mengenai parameter populasi</a:t>
            </a:r>
            <a:br>
              <a:rPr lang="en-US" sz="2800"/>
            </a:b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Contoh nilai mean atau proporsi dari populasi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parameter harus diidentifikasikan sebelum analisa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4999038" y="1411288"/>
            <a:ext cx="3438525" cy="119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Klaim mean, RT di Surabaya memiliki ranmor μ = 3!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6761163" y="6197600"/>
            <a:ext cx="1643062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© 1984-1994 T/Maker Co.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6540500" y="2938463"/>
            <a:ext cx="111125" cy="17462"/>
          </a:xfrm>
          <a:custGeom>
            <a:rect b="b" l="l" r="r" t="t"/>
            <a:pathLst>
              <a:path extrusionOk="0" h="11" w="70">
                <a:moveTo>
                  <a:pt x="0" y="0"/>
                </a:moveTo>
                <a:lnTo>
                  <a:pt x="69" y="0"/>
                </a:lnTo>
                <a:lnTo>
                  <a:pt x="69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473825" y="2959100"/>
            <a:ext cx="65088" cy="38100"/>
          </a:xfrm>
          <a:custGeom>
            <a:rect b="b" l="l" r="r" t="t"/>
            <a:pathLst>
              <a:path extrusionOk="0" h="24" w="41">
                <a:moveTo>
                  <a:pt x="14" y="0"/>
                </a:moveTo>
                <a:lnTo>
                  <a:pt x="40" y="0"/>
                </a:lnTo>
                <a:lnTo>
                  <a:pt x="40" y="12"/>
                </a:lnTo>
                <a:lnTo>
                  <a:pt x="14" y="12"/>
                </a:lnTo>
                <a:lnTo>
                  <a:pt x="14" y="23"/>
                </a:lnTo>
                <a:lnTo>
                  <a:pt x="0" y="23"/>
                </a:lnTo>
                <a:lnTo>
                  <a:pt x="0" y="12"/>
                </a:lnTo>
                <a:lnTo>
                  <a:pt x="14" y="12"/>
                </a:lnTo>
                <a:lnTo>
                  <a:pt x="1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4973638" y="2959100"/>
            <a:ext cx="3403600" cy="3384550"/>
          </a:xfrm>
          <a:custGeom>
            <a:rect b="b" l="l" r="r" t="t"/>
            <a:pathLst>
              <a:path extrusionOk="0" h="2132" w="2144">
                <a:moveTo>
                  <a:pt x="1057" y="0"/>
                </a:moveTo>
                <a:lnTo>
                  <a:pt x="1085" y="0"/>
                </a:lnTo>
                <a:lnTo>
                  <a:pt x="1085" y="13"/>
                </a:lnTo>
                <a:lnTo>
                  <a:pt x="1099" y="13"/>
                </a:lnTo>
                <a:lnTo>
                  <a:pt x="1099" y="39"/>
                </a:lnTo>
                <a:lnTo>
                  <a:pt x="1142" y="39"/>
                </a:lnTo>
                <a:lnTo>
                  <a:pt x="1142" y="53"/>
                </a:lnTo>
                <a:lnTo>
                  <a:pt x="1170" y="53"/>
                </a:lnTo>
                <a:lnTo>
                  <a:pt x="1170" y="65"/>
                </a:lnTo>
                <a:lnTo>
                  <a:pt x="1198" y="65"/>
                </a:lnTo>
                <a:lnTo>
                  <a:pt x="1198" y="78"/>
                </a:lnTo>
                <a:lnTo>
                  <a:pt x="1212" y="78"/>
                </a:lnTo>
                <a:lnTo>
                  <a:pt x="1212" y="92"/>
                </a:lnTo>
                <a:lnTo>
                  <a:pt x="1226" y="92"/>
                </a:lnTo>
                <a:lnTo>
                  <a:pt x="1226" y="105"/>
                </a:lnTo>
                <a:lnTo>
                  <a:pt x="1241" y="105"/>
                </a:lnTo>
                <a:lnTo>
                  <a:pt x="1241" y="117"/>
                </a:lnTo>
                <a:lnTo>
                  <a:pt x="1353" y="117"/>
                </a:lnTo>
                <a:lnTo>
                  <a:pt x="1353" y="131"/>
                </a:lnTo>
                <a:lnTo>
                  <a:pt x="1269" y="131"/>
                </a:lnTo>
                <a:lnTo>
                  <a:pt x="1269" y="144"/>
                </a:lnTo>
                <a:lnTo>
                  <a:pt x="1282" y="144"/>
                </a:lnTo>
                <a:lnTo>
                  <a:pt x="1282" y="157"/>
                </a:lnTo>
                <a:lnTo>
                  <a:pt x="1296" y="157"/>
                </a:lnTo>
                <a:lnTo>
                  <a:pt x="1296" y="170"/>
                </a:lnTo>
                <a:lnTo>
                  <a:pt x="1381" y="170"/>
                </a:lnTo>
                <a:lnTo>
                  <a:pt x="1381" y="182"/>
                </a:lnTo>
                <a:lnTo>
                  <a:pt x="1395" y="182"/>
                </a:lnTo>
                <a:lnTo>
                  <a:pt x="1395" y="196"/>
                </a:lnTo>
                <a:lnTo>
                  <a:pt x="1410" y="196"/>
                </a:lnTo>
                <a:lnTo>
                  <a:pt x="1410" y="182"/>
                </a:lnTo>
                <a:lnTo>
                  <a:pt x="1423" y="182"/>
                </a:lnTo>
                <a:lnTo>
                  <a:pt x="1423" y="248"/>
                </a:lnTo>
                <a:lnTo>
                  <a:pt x="1438" y="248"/>
                </a:lnTo>
                <a:lnTo>
                  <a:pt x="1438" y="274"/>
                </a:lnTo>
                <a:lnTo>
                  <a:pt x="1451" y="274"/>
                </a:lnTo>
                <a:lnTo>
                  <a:pt x="1451" y="313"/>
                </a:lnTo>
                <a:lnTo>
                  <a:pt x="1466" y="313"/>
                </a:lnTo>
                <a:lnTo>
                  <a:pt x="1466" y="340"/>
                </a:lnTo>
                <a:lnTo>
                  <a:pt x="1480" y="340"/>
                </a:lnTo>
                <a:lnTo>
                  <a:pt x="1480" y="392"/>
                </a:lnTo>
                <a:lnTo>
                  <a:pt x="1466" y="392"/>
                </a:lnTo>
                <a:lnTo>
                  <a:pt x="1466" y="418"/>
                </a:lnTo>
                <a:lnTo>
                  <a:pt x="1451" y="418"/>
                </a:lnTo>
                <a:lnTo>
                  <a:pt x="1451" y="432"/>
                </a:lnTo>
                <a:lnTo>
                  <a:pt x="1438" y="432"/>
                </a:lnTo>
                <a:lnTo>
                  <a:pt x="1438" y="444"/>
                </a:lnTo>
                <a:lnTo>
                  <a:pt x="1451" y="444"/>
                </a:lnTo>
                <a:lnTo>
                  <a:pt x="1451" y="470"/>
                </a:lnTo>
                <a:lnTo>
                  <a:pt x="1466" y="470"/>
                </a:lnTo>
                <a:lnTo>
                  <a:pt x="1466" y="510"/>
                </a:lnTo>
                <a:lnTo>
                  <a:pt x="1480" y="510"/>
                </a:lnTo>
                <a:lnTo>
                  <a:pt x="1480" y="549"/>
                </a:lnTo>
                <a:lnTo>
                  <a:pt x="1494" y="549"/>
                </a:lnTo>
                <a:lnTo>
                  <a:pt x="1494" y="614"/>
                </a:lnTo>
                <a:lnTo>
                  <a:pt x="1480" y="614"/>
                </a:lnTo>
                <a:lnTo>
                  <a:pt x="1480" y="654"/>
                </a:lnTo>
                <a:lnTo>
                  <a:pt x="1494" y="654"/>
                </a:lnTo>
                <a:lnTo>
                  <a:pt x="1494" y="666"/>
                </a:lnTo>
                <a:lnTo>
                  <a:pt x="1509" y="666"/>
                </a:lnTo>
                <a:lnTo>
                  <a:pt x="1509" y="680"/>
                </a:lnTo>
                <a:lnTo>
                  <a:pt x="1522" y="680"/>
                </a:lnTo>
                <a:lnTo>
                  <a:pt x="1522" y="732"/>
                </a:lnTo>
                <a:lnTo>
                  <a:pt x="1536" y="732"/>
                </a:lnTo>
                <a:lnTo>
                  <a:pt x="1536" y="745"/>
                </a:lnTo>
                <a:lnTo>
                  <a:pt x="1551" y="745"/>
                </a:lnTo>
                <a:lnTo>
                  <a:pt x="1551" y="758"/>
                </a:lnTo>
                <a:lnTo>
                  <a:pt x="1565" y="758"/>
                </a:lnTo>
                <a:lnTo>
                  <a:pt x="1565" y="771"/>
                </a:lnTo>
                <a:lnTo>
                  <a:pt x="1607" y="771"/>
                </a:lnTo>
                <a:lnTo>
                  <a:pt x="1607" y="784"/>
                </a:lnTo>
                <a:lnTo>
                  <a:pt x="1634" y="784"/>
                </a:lnTo>
                <a:lnTo>
                  <a:pt x="1634" y="797"/>
                </a:lnTo>
                <a:lnTo>
                  <a:pt x="1649" y="797"/>
                </a:lnTo>
                <a:lnTo>
                  <a:pt x="1649" y="824"/>
                </a:lnTo>
                <a:lnTo>
                  <a:pt x="1706" y="824"/>
                </a:lnTo>
                <a:lnTo>
                  <a:pt x="1706" y="837"/>
                </a:lnTo>
                <a:lnTo>
                  <a:pt x="1733" y="837"/>
                </a:lnTo>
                <a:lnTo>
                  <a:pt x="1733" y="851"/>
                </a:lnTo>
                <a:lnTo>
                  <a:pt x="1748" y="851"/>
                </a:lnTo>
                <a:lnTo>
                  <a:pt x="1748" y="863"/>
                </a:lnTo>
                <a:lnTo>
                  <a:pt x="1761" y="863"/>
                </a:lnTo>
                <a:lnTo>
                  <a:pt x="1761" y="875"/>
                </a:lnTo>
                <a:lnTo>
                  <a:pt x="1776" y="875"/>
                </a:lnTo>
                <a:lnTo>
                  <a:pt x="1776" y="888"/>
                </a:lnTo>
                <a:lnTo>
                  <a:pt x="1790" y="888"/>
                </a:lnTo>
                <a:lnTo>
                  <a:pt x="1790" y="875"/>
                </a:lnTo>
                <a:lnTo>
                  <a:pt x="1903" y="875"/>
                </a:lnTo>
                <a:lnTo>
                  <a:pt x="1903" y="888"/>
                </a:lnTo>
                <a:lnTo>
                  <a:pt x="1931" y="888"/>
                </a:lnTo>
                <a:lnTo>
                  <a:pt x="1931" y="901"/>
                </a:lnTo>
                <a:lnTo>
                  <a:pt x="1946" y="901"/>
                </a:lnTo>
                <a:lnTo>
                  <a:pt x="1946" y="915"/>
                </a:lnTo>
                <a:lnTo>
                  <a:pt x="1960" y="915"/>
                </a:lnTo>
                <a:lnTo>
                  <a:pt x="1960" y="928"/>
                </a:lnTo>
                <a:lnTo>
                  <a:pt x="1973" y="928"/>
                </a:lnTo>
                <a:lnTo>
                  <a:pt x="1973" y="954"/>
                </a:lnTo>
                <a:lnTo>
                  <a:pt x="1987" y="954"/>
                </a:lnTo>
                <a:lnTo>
                  <a:pt x="1987" y="967"/>
                </a:lnTo>
                <a:lnTo>
                  <a:pt x="2001" y="967"/>
                </a:lnTo>
                <a:lnTo>
                  <a:pt x="2001" y="980"/>
                </a:lnTo>
                <a:lnTo>
                  <a:pt x="2015" y="980"/>
                </a:lnTo>
                <a:lnTo>
                  <a:pt x="2015" y="1020"/>
                </a:lnTo>
                <a:lnTo>
                  <a:pt x="2029" y="1020"/>
                </a:lnTo>
                <a:lnTo>
                  <a:pt x="2029" y="1046"/>
                </a:lnTo>
                <a:lnTo>
                  <a:pt x="2044" y="1046"/>
                </a:lnTo>
                <a:lnTo>
                  <a:pt x="2044" y="1072"/>
                </a:lnTo>
                <a:lnTo>
                  <a:pt x="2058" y="1072"/>
                </a:lnTo>
                <a:lnTo>
                  <a:pt x="2058" y="1097"/>
                </a:lnTo>
                <a:lnTo>
                  <a:pt x="2072" y="1097"/>
                </a:lnTo>
                <a:lnTo>
                  <a:pt x="2072" y="1111"/>
                </a:lnTo>
                <a:lnTo>
                  <a:pt x="2086" y="1111"/>
                </a:lnTo>
                <a:lnTo>
                  <a:pt x="2086" y="1138"/>
                </a:lnTo>
                <a:lnTo>
                  <a:pt x="2100" y="1138"/>
                </a:lnTo>
                <a:lnTo>
                  <a:pt x="2100" y="1190"/>
                </a:lnTo>
                <a:lnTo>
                  <a:pt x="2114" y="1190"/>
                </a:lnTo>
                <a:lnTo>
                  <a:pt x="2114" y="1229"/>
                </a:lnTo>
                <a:lnTo>
                  <a:pt x="2128" y="1229"/>
                </a:lnTo>
                <a:lnTo>
                  <a:pt x="2128" y="1307"/>
                </a:lnTo>
                <a:lnTo>
                  <a:pt x="2143" y="1307"/>
                </a:lnTo>
                <a:lnTo>
                  <a:pt x="2143" y="1529"/>
                </a:lnTo>
                <a:lnTo>
                  <a:pt x="2128" y="1529"/>
                </a:lnTo>
                <a:lnTo>
                  <a:pt x="2128" y="1556"/>
                </a:lnTo>
                <a:lnTo>
                  <a:pt x="2114" y="1556"/>
                </a:lnTo>
                <a:lnTo>
                  <a:pt x="2114" y="1582"/>
                </a:lnTo>
                <a:lnTo>
                  <a:pt x="2100" y="1582"/>
                </a:lnTo>
                <a:lnTo>
                  <a:pt x="2100" y="1595"/>
                </a:lnTo>
                <a:lnTo>
                  <a:pt x="2086" y="1595"/>
                </a:lnTo>
                <a:lnTo>
                  <a:pt x="2086" y="1607"/>
                </a:lnTo>
                <a:lnTo>
                  <a:pt x="2072" y="1607"/>
                </a:lnTo>
                <a:lnTo>
                  <a:pt x="2072" y="1620"/>
                </a:lnTo>
                <a:lnTo>
                  <a:pt x="2058" y="1620"/>
                </a:lnTo>
                <a:lnTo>
                  <a:pt x="2058" y="1634"/>
                </a:lnTo>
                <a:lnTo>
                  <a:pt x="2044" y="1634"/>
                </a:lnTo>
                <a:lnTo>
                  <a:pt x="2044" y="1647"/>
                </a:lnTo>
                <a:lnTo>
                  <a:pt x="2029" y="1647"/>
                </a:lnTo>
                <a:lnTo>
                  <a:pt x="2029" y="1660"/>
                </a:lnTo>
                <a:lnTo>
                  <a:pt x="2015" y="1660"/>
                </a:lnTo>
                <a:lnTo>
                  <a:pt x="2015" y="1699"/>
                </a:lnTo>
                <a:lnTo>
                  <a:pt x="2029" y="1699"/>
                </a:lnTo>
                <a:lnTo>
                  <a:pt x="2029" y="1739"/>
                </a:lnTo>
                <a:lnTo>
                  <a:pt x="2044" y="1739"/>
                </a:lnTo>
                <a:lnTo>
                  <a:pt x="2044" y="1791"/>
                </a:lnTo>
                <a:lnTo>
                  <a:pt x="2058" y="1791"/>
                </a:lnTo>
                <a:lnTo>
                  <a:pt x="2058" y="1830"/>
                </a:lnTo>
                <a:lnTo>
                  <a:pt x="2072" y="1830"/>
                </a:lnTo>
                <a:lnTo>
                  <a:pt x="2072" y="1909"/>
                </a:lnTo>
                <a:lnTo>
                  <a:pt x="2086" y="1909"/>
                </a:lnTo>
                <a:lnTo>
                  <a:pt x="2086" y="1974"/>
                </a:lnTo>
                <a:lnTo>
                  <a:pt x="2072" y="1974"/>
                </a:lnTo>
                <a:lnTo>
                  <a:pt x="2072" y="1986"/>
                </a:lnTo>
                <a:lnTo>
                  <a:pt x="2058" y="1986"/>
                </a:lnTo>
                <a:lnTo>
                  <a:pt x="2058" y="2000"/>
                </a:lnTo>
                <a:lnTo>
                  <a:pt x="2044" y="2000"/>
                </a:lnTo>
                <a:lnTo>
                  <a:pt x="2044" y="2012"/>
                </a:lnTo>
                <a:lnTo>
                  <a:pt x="2015" y="2012"/>
                </a:lnTo>
                <a:lnTo>
                  <a:pt x="2015" y="2026"/>
                </a:lnTo>
                <a:lnTo>
                  <a:pt x="1917" y="2026"/>
                </a:lnTo>
                <a:lnTo>
                  <a:pt x="1917" y="2039"/>
                </a:lnTo>
                <a:lnTo>
                  <a:pt x="1761" y="2039"/>
                </a:lnTo>
                <a:lnTo>
                  <a:pt x="1761" y="2026"/>
                </a:lnTo>
                <a:lnTo>
                  <a:pt x="1522" y="2026"/>
                </a:lnTo>
                <a:lnTo>
                  <a:pt x="1522" y="2012"/>
                </a:lnTo>
                <a:lnTo>
                  <a:pt x="1451" y="2012"/>
                </a:lnTo>
                <a:lnTo>
                  <a:pt x="1451" y="2000"/>
                </a:lnTo>
                <a:lnTo>
                  <a:pt x="1296" y="2000"/>
                </a:lnTo>
                <a:lnTo>
                  <a:pt x="1296" y="1986"/>
                </a:lnTo>
                <a:lnTo>
                  <a:pt x="1184" y="1986"/>
                </a:lnTo>
                <a:lnTo>
                  <a:pt x="1184" y="2000"/>
                </a:lnTo>
                <a:lnTo>
                  <a:pt x="1170" y="2000"/>
                </a:lnTo>
                <a:lnTo>
                  <a:pt x="1170" y="2012"/>
                </a:lnTo>
                <a:lnTo>
                  <a:pt x="1156" y="2012"/>
                </a:lnTo>
                <a:lnTo>
                  <a:pt x="1156" y="2039"/>
                </a:lnTo>
                <a:lnTo>
                  <a:pt x="1113" y="2039"/>
                </a:lnTo>
                <a:lnTo>
                  <a:pt x="1113" y="2026"/>
                </a:lnTo>
                <a:lnTo>
                  <a:pt x="1099" y="2026"/>
                </a:lnTo>
                <a:lnTo>
                  <a:pt x="1099" y="2000"/>
                </a:lnTo>
                <a:lnTo>
                  <a:pt x="1072" y="2000"/>
                </a:lnTo>
                <a:lnTo>
                  <a:pt x="1072" y="1986"/>
                </a:lnTo>
                <a:lnTo>
                  <a:pt x="1028" y="1986"/>
                </a:lnTo>
                <a:lnTo>
                  <a:pt x="1028" y="2052"/>
                </a:lnTo>
                <a:lnTo>
                  <a:pt x="1014" y="2052"/>
                </a:lnTo>
                <a:lnTo>
                  <a:pt x="1014" y="2078"/>
                </a:lnTo>
                <a:lnTo>
                  <a:pt x="1000" y="2078"/>
                </a:lnTo>
                <a:lnTo>
                  <a:pt x="1000" y="2091"/>
                </a:lnTo>
                <a:lnTo>
                  <a:pt x="986" y="2091"/>
                </a:lnTo>
                <a:lnTo>
                  <a:pt x="986" y="2104"/>
                </a:lnTo>
                <a:lnTo>
                  <a:pt x="958" y="2104"/>
                </a:lnTo>
                <a:lnTo>
                  <a:pt x="958" y="2117"/>
                </a:lnTo>
                <a:lnTo>
                  <a:pt x="789" y="2117"/>
                </a:lnTo>
                <a:lnTo>
                  <a:pt x="789" y="2131"/>
                </a:lnTo>
                <a:lnTo>
                  <a:pt x="705" y="2131"/>
                </a:lnTo>
                <a:lnTo>
                  <a:pt x="705" y="2117"/>
                </a:lnTo>
                <a:lnTo>
                  <a:pt x="606" y="2117"/>
                </a:lnTo>
                <a:lnTo>
                  <a:pt x="606" y="2104"/>
                </a:lnTo>
                <a:lnTo>
                  <a:pt x="521" y="2104"/>
                </a:lnTo>
                <a:lnTo>
                  <a:pt x="521" y="2091"/>
                </a:lnTo>
                <a:lnTo>
                  <a:pt x="479" y="2091"/>
                </a:lnTo>
                <a:lnTo>
                  <a:pt x="479" y="2078"/>
                </a:lnTo>
                <a:lnTo>
                  <a:pt x="451" y="2078"/>
                </a:lnTo>
                <a:lnTo>
                  <a:pt x="451" y="2066"/>
                </a:lnTo>
                <a:lnTo>
                  <a:pt x="422" y="2066"/>
                </a:lnTo>
                <a:lnTo>
                  <a:pt x="422" y="2052"/>
                </a:lnTo>
                <a:lnTo>
                  <a:pt x="394" y="2052"/>
                </a:lnTo>
                <a:lnTo>
                  <a:pt x="394" y="2039"/>
                </a:lnTo>
                <a:lnTo>
                  <a:pt x="381" y="2039"/>
                </a:lnTo>
                <a:lnTo>
                  <a:pt x="381" y="2026"/>
                </a:lnTo>
                <a:lnTo>
                  <a:pt x="367" y="2026"/>
                </a:lnTo>
                <a:lnTo>
                  <a:pt x="367" y="2012"/>
                </a:lnTo>
                <a:lnTo>
                  <a:pt x="338" y="2012"/>
                </a:lnTo>
                <a:lnTo>
                  <a:pt x="338" y="2000"/>
                </a:lnTo>
                <a:lnTo>
                  <a:pt x="323" y="2000"/>
                </a:lnTo>
                <a:lnTo>
                  <a:pt x="323" y="1986"/>
                </a:lnTo>
                <a:lnTo>
                  <a:pt x="309" y="1986"/>
                </a:lnTo>
                <a:lnTo>
                  <a:pt x="309" y="1974"/>
                </a:lnTo>
                <a:lnTo>
                  <a:pt x="281" y="1974"/>
                </a:lnTo>
                <a:lnTo>
                  <a:pt x="281" y="1960"/>
                </a:lnTo>
                <a:lnTo>
                  <a:pt x="268" y="1960"/>
                </a:lnTo>
                <a:lnTo>
                  <a:pt x="268" y="1948"/>
                </a:lnTo>
                <a:lnTo>
                  <a:pt x="253" y="1948"/>
                </a:lnTo>
                <a:lnTo>
                  <a:pt x="253" y="1935"/>
                </a:lnTo>
                <a:lnTo>
                  <a:pt x="239" y="1935"/>
                </a:lnTo>
                <a:lnTo>
                  <a:pt x="239" y="1909"/>
                </a:lnTo>
                <a:lnTo>
                  <a:pt x="225" y="1909"/>
                </a:lnTo>
                <a:lnTo>
                  <a:pt x="225" y="1856"/>
                </a:lnTo>
                <a:lnTo>
                  <a:pt x="239" y="1856"/>
                </a:lnTo>
                <a:lnTo>
                  <a:pt x="239" y="1791"/>
                </a:lnTo>
                <a:lnTo>
                  <a:pt x="253" y="1791"/>
                </a:lnTo>
                <a:lnTo>
                  <a:pt x="253" y="1765"/>
                </a:lnTo>
                <a:lnTo>
                  <a:pt x="268" y="1765"/>
                </a:lnTo>
                <a:lnTo>
                  <a:pt x="268" y="1725"/>
                </a:lnTo>
                <a:lnTo>
                  <a:pt x="281" y="1725"/>
                </a:lnTo>
                <a:lnTo>
                  <a:pt x="281" y="1699"/>
                </a:lnTo>
                <a:lnTo>
                  <a:pt x="296" y="1699"/>
                </a:lnTo>
                <a:lnTo>
                  <a:pt x="296" y="1673"/>
                </a:lnTo>
                <a:lnTo>
                  <a:pt x="309" y="1673"/>
                </a:lnTo>
                <a:lnTo>
                  <a:pt x="309" y="1660"/>
                </a:lnTo>
                <a:lnTo>
                  <a:pt x="323" y="1660"/>
                </a:lnTo>
                <a:lnTo>
                  <a:pt x="323" y="1647"/>
                </a:lnTo>
                <a:lnTo>
                  <a:pt x="338" y="1647"/>
                </a:lnTo>
                <a:lnTo>
                  <a:pt x="338" y="1634"/>
                </a:lnTo>
                <a:lnTo>
                  <a:pt x="352" y="1634"/>
                </a:lnTo>
                <a:lnTo>
                  <a:pt x="352" y="1620"/>
                </a:lnTo>
                <a:lnTo>
                  <a:pt x="323" y="1620"/>
                </a:lnTo>
                <a:lnTo>
                  <a:pt x="323" y="1607"/>
                </a:lnTo>
                <a:lnTo>
                  <a:pt x="296" y="1607"/>
                </a:lnTo>
                <a:lnTo>
                  <a:pt x="296" y="1595"/>
                </a:lnTo>
                <a:lnTo>
                  <a:pt x="268" y="1595"/>
                </a:lnTo>
                <a:lnTo>
                  <a:pt x="268" y="1582"/>
                </a:lnTo>
                <a:lnTo>
                  <a:pt x="239" y="1582"/>
                </a:lnTo>
                <a:lnTo>
                  <a:pt x="239" y="1569"/>
                </a:lnTo>
                <a:lnTo>
                  <a:pt x="211" y="1569"/>
                </a:lnTo>
                <a:lnTo>
                  <a:pt x="211" y="1556"/>
                </a:lnTo>
                <a:lnTo>
                  <a:pt x="197" y="1556"/>
                </a:lnTo>
                <a:lnTo>
                  <a:pt x="197" y="1543"/>
                </a:lnTo>
                <a:lnTo>
                  <a:pt x="170" y="1543"/>
                </a:lnTo>
                <a:lnTo>
                  <a:pt x="170" y="1529"/>
                </a:lnTo>
                <a:lnTo>
                  <a:pt x="155" y="1529"/>
                </a:lnTo>
                <a:lnTo>
                  <a:pt x="155" y="1517"/>
                </a:lnTo>
                <a:lnTo>
                  <a:pt x="141" y="1517"/>
                </a:lnTo>
                <a:lnTo>
                  <a:pt x="141" y="1504"/>
                </a:lnTo>
                <a:lnTo>
                  <a:pt x="127" y="1504"/>
                </a:lnTo>
                <a:lnTo>
                  <a:pt x="127" y="1490"/>
                </a:lnTo>
                <a:lnTo>
                  <a:pt x="112" y="1490"/>
                </a:lnTo>
                <a:lnTo>
                  <a:pt x="112" y="1477"/>
                </a:lnTo>
                <a:lnTo>
                  <a:pt x="99" y="1477"/>
                </a:lnTo>
                <a:lnTo>
                  <a:pt x="99" y="1464"/>
                </a:lnTo>
                <a:lnTo>
                  <a:pt x="84" y="1464"/>
                </a:lnTo>
                <a:lnTo>
                  <a:pt x="84" y="1451"/>
                </a:lnTo>
                <a:lnTo>
                  <a:pt x="70" y="1451"/>
                </a:lnTo>
                <a:lnTo>
                  <a:pt x="70" y="1424"/>
                </a:lnTo>
                <a:lnTo>
                  <a:pt x="57" y="1424"/>
                </a:lnTo>
                <a:lnTo>
                  <a:pt x="57" y="1385"/>
                </a:lnTo>
                <a:lnTo>
                  <a:pt x="42" y="1385"/>
                </a:lnTo>
                <a:lnTo>
                  <a:pt x="42" y="1163"/>
                </a:lnTo>
                <a:lnTo>
                  <a:pt x="29" y="1163"/>
                </a:lnTo>
                <a:lnTo>
                  <a:pt x="29" y="1124"/>
                </a:lnTo>
                <a:lnTo>
                  <a:pt x="14" y="1124"/>
                </a:lnTo>
                <a:lnTo>
                  <a:pt x="14" y="1085"/>
                </a:lnTo>
                <a:lnTo>
                  <a:pt x="0" y="1085"/>
                </a:lnTo>
                <a:lnTo>
                  <a:pt x="0" y="993"/>
                </a:lnTo>
                <a:lnTo>
                  <a:pt x="14" y="993"/>
                </a:lnTo>
                <a:lnTo>
                  <a:pt x="14" y="980"/>
                </a:lnTo>
                <a:lnTo>
                  <a:pt x="29" y="980"/>
                </a:lnTo>
                <a:lnTo>
                  <a:pt x="29" y="928"/>
                </a:lnTo>
                <a:lnTo>
                  <a:pt x="42" y="928"/>
                </a:lnTo>
                <a:lnTo>
                  <a:pt x="42" y="980"/>
                </a:lnTo>
                <a:lnTo>
                  <a:pt x="112" y="980"/>
                </a:lnTo>
                <a:lnTo>
                  <a:pt x="112" y="967"/>
                </a:lnTo>
                <a:lnTo>
                  <a:pt x="141" y="967"/>
                </a:lnTo>
                <a:lnTo>
                  <a:pt x="141" y="954"/>
                </a:lnTo>
                <a:lnTo>
                  <a:pt x="182" y="954"/>
                </a:lnTo>
                <a:lnTo>
                  <a:pt x="182" y="940"/>
                </a:lnTo>
                <a:lnTo>
                  <a:pt x="225" y="940"/>
                </a:lnTo>
                <a:lnTo>
                  <a:pt x="225" y="928"/>
                </a:lnTo>
                <a:lnTo>
                  <a:pt x="268" y="928"/>
                </a:lnTo>
                <a:lnTo>
                  <a:pt x="268" y="915"/>
                </a:lnTo>
                <a:lnTo>
                  <a:pt x="323" y="915"/>
                </a:lnTo>
                <a:lnTo>
                  <a:pt x="323" y="901"/>
                </a:lnTo>
                <a:lnTo>
                  <a:pt x="367" y="901"/>
                </a:lnTo>
                <a:lnTo>
                  <a:pt x="367" y="888"/>
                </a:lnTo>
                <a:lnTo>
                  <a:pt x="394" y="888"/>
                </a:lnTo>
                <a:lnTo>
                  <a:pt x="394" y="875"/>
                </a:lnTo>
                <a:lnTo>
                  <a:pt x="422" y="875"/>
                </a:lnTo>
                <a:lnTo>
                  <a:pt x="422" y="863"/>
                </a:lnTo>
                <a:lnTo>
                  <a:pt x="451" y="863"/>
                </a:lnTo>
                <a:lnTo>
                  <a:pt x="451" y="851"/>
                </a:lnTo>
                <a:lnTo>
                  <a:pt x="479" y="851"/>
                </a:lnTo>
                <a:lnTo>
                  <a:pt x="479" y="837"/>
                </a:lnTo>
                <a:lnTo>
                  <a:pt x="493" y="837"/>
                </a:lnTo>
                <a:lnTo>
                  <a:pt x="493" y="824"/>
                </a:lnTo>
                <a:lnTo>
                  <a:pt x="508" y="824"/>
                </a:lnTo>
                <a:lnTo>
                  <a:pt x="508" y="784"/>
                </a:lnTo>
                <a:lnTo>
                  <a:pt x="465" y="784"/>
                </a:lnTo>
                <a:lnTo>
                  <a:pt x="465" y="797"/>
                </a:lnTo>
                <a:lnTo>
                  <a:pt x="451" y="797"/>
                </a:lnTo>
                <a:lnTo>
                  <a:pt x="451" y="811"/>
                </a:lnTo>
                <a:lnTo>
                  <a:pt x="422" y="811"/>
                </a:lnTo>
                <a:lnTo>
                  <a:pt x="422" y="824"/>
                </a:lnTo>
                <a:lnTo>
                  <a:pt x="394" y="824"/>
                </a:lnTo>
                <a:lnTo>
                  <a:pt x="394" y="837"/>
                </a:lnTo>
                <a:lnTo>
                  <a:pt x="381" y="837"/>
                </a:lnTo>
                <a:lnTo>
                  <a:pt x="381" y="851"/>
                </a:lnTo>
                <a:lnTo>
                  <a:pt x="338" y="851"/>
                </a:lnTo>
                <a:lnTo>
                  <a:pt x="338" y="863"/>
                </a:lnTo>
                <a:lnTo>
                  <a:pt x="309" y="863"/>
                </a:lnTo>
                <a:lnTo>
                  <a:pt x="309" y="875"/>
                </a:lnTo>
                <a:lnTo>
                  <a:pt x="281" y="875"/>
                </a:lnTo>
                <a:lnTo>
                  <a:pt x="281" y="888"/>
                </a:lnTo>
                <a:lnTo>
                  <a:pt x="253" y="888"/>
                </a:lnTo>
                <a:lnTo>
                  <a:pt x="253" y="901"/>
                </a:lnTo>
                <a:lnTo>
                  <a:pt x="197" y="901"/>
                </a:lnTo>
                <a:lnTo>
                  <a:pt x="197" y="915"/>
                </a:lnTo>
                <a:lnTo>
                  <a:pt x="141" y="915"/>
                </a:lnTo>
                <a:lnTo>
                  <a:pt x="141" y="928"/>
                </a:lnTo>
                <a:lnTo>
                  <a:pt x="42" y="928"/>
                </a:lnTo>
                <a:lnTo>
                  <a:pt x="42" y="915"/>
                </a:lnTo>
                <a:lnTo>
                  <a:pt x="70" y="915"/>
                </a:lnTo>
                <a:lnTo>
                  <a:pt x="70" y="901"/>
                </a:lnTo>
                <a:lnTo>
                  <a:pt x="57" y="901"/>
                </a:lnTo>
                <a:lnTo>
                  <a:pt x="57" y="888"/>
                </a:lnTo>
                <a:lnTo>
                  <a:pt x="42" y="888"/>
                </a:lnTo>
                <a:lnTo>
                  <a:pt x="42" y="863"/>
                </a:lnTo>
                <a:lnTo>
                  <a:pt x="29" y="863"/>
                </a:lnTo>
                <a:lnTo>
                  <a:pt x="29" y="824"/>
                </a:lnTo>
                <a:lnTo>
                  <a:pt x="14" y="824"/>
                </a:lnTo>
                <a:lnTo>
                  <a:pt x="14" y="732"/>
                </a:lnTo>
                <a:lnTo>
                  <a:pt x="29" y="732"/>
                </a:lnTo>
                <a:lnTo>
                  <a:pt x="29" y="705"/>
                </a:lnTo>
                <a:lnTo>
                  <a:pt x="42" y="705"/>
                </a:lnTo>
                <a:lnTo>
                  <a:pt x="42" y="693"/>
                </a:lnTo>
                <a:lnTo>
                  <a:pt x="57" y="693"/>
                </a:lnTo>
                <a:lnTo>
                  <a:pt x="57" y="680"/>
                </a:lnTo>
                <a:lnTo>
                  <a:pt x="70" y="680"/>
                </a:lnTo>
                <a:lnTo>
                  <a:pt x="70" y="640"/>
                </a:lnTo>
                <a:lnTo>
                  <a:pt x="84" y="640"/>
                </a:lnTo>
                <a:lnTo>
                  <a:pt x="84" y="627"/>
                </a:lnTo>
                <a:lnTo>
                  <a:pt x="99" y="627"/>
                </a:lnTo>
                <a:lnTo>
                  <a:pt x="99" y="614"/>
                </a:lnTo>
                <a:lnTo>
                  <a:pt x="112" y="614"/>
                </a:lnTo>
                <a:lnTo>
                  <a:pt x="112" y="601"/>
                </a:lnTo>
                <a:lnTo>
                  <a:pt x="127" y="601"/>
                </a:lnTo>
                <a:lnTo>
                  <a:pt x="127" y="588"/>
                </a:lnTo>
                <a:lnTo>
                  <a:pt x="141" y="588"/>
                </a:lnTo>
                <a:lnTo>
                  <a:pt x="141" y="574"/>
                </a:lnTo>
                <a:lnTo>
                  <a:pt x="155" y="574"/>
                </a:lnTo>
                <a:lnTo>
                  <a:pt x="155" y="562"/>
                </a:lnTo>
                <a:lnTo>
                  <a:pt x="170" y="562"/>
                </a:lnTo>
                <a:lnTo>
                  <a:pt x="170" y="549"/>
                </a:lnTo>
                <a:lnTo>
                  <a:pt x="182" y="549"/>
                </a:lnTo>
                <a:lnTo>
                  <a:pt x="182" y="510"/>
                </a:lnTo>
                <a:lnTo>
                  <a:pt x="170" y="510"/>
                </a:lnTo>
                <a:lnTo>
                  <a:pt x="170" y="458"/>
                </a:lnTo>
                <a:lnTo>
                  <a:pt x="182" y="458"/>
                </a:lnTo>
                <a:lnTo>
                  <a:pt x="182" y="379"/>
                </a:lnTo>
                <a:lnTo>
                  <a:pt x="197" y="379"/>
                </a:lnTo>
                <a:lnTo>
                  <a:pt x="197" y="353"/>
                </a:lnTo>
                <a:lnTo>
                  <a:pt x="211" y="353"/>
                </a:lnTo>
                <a:lnTo>
                  <a:pt x="211" y="327"/>
                </a:lnTo>
                <a:lnTo>
                  <a:pt x="225" y="327"/>
                </a:lnTo>
                <a:lnTo>
                  <a:pt x="225" y="313"/>
                </a:lnTo>
                <a:lnTo>
                  <a:pt x="239" y="313"/>
                </a:lnTo>
                <a:lnTo>
                  <a:pt x="239" y="300"/>
                </a:lnTo>
                <a:lnTo>
                  <a:pt x="281" y="300"/>
                </a:lnTo>
                <a:lnTo>
                  <a:pt x="281" y="313"/>
                </a:lnTo>
                <a:lnTo>
                  <a:pt x="309" y="313"/>
                </a:lnTo>
                <a:lnTo>
                  <a:pt x="309" y="327"/>
                </a:lnTo>
                <a:lnTo>
                  <a:pt x="323" y="327"/>
                </a:lnTo>
                <a:lnTo>
                  <a:pt x="323" y="340"/>
                </a:lnTo>
                <a:lnTo>
                  <a:pt x="338" y="340"/>
                </a:lnTo>
                <a:lnTo>
                  <a:pt x="338" y="549"/>
                </a:lnTo>
                <a:lnTo>
                  <a:pt x="394" y="549"/>
                </a:lnTo>
                <a:lnTo>
                  <a:pt x="394" y="562"/>
                </a:lnTo>
                <a:lnTo>
                  <a:pt x="409" y="562"/>
                </a:lnTo>
                <a:lnTo>
                  <a:pt x="409" y="574"/>
                </a:lnTo>
                <a:lnTo>
                  <a:pt x="437" y="574"/>
                </a:lnTo>
                <a:lnTo>
                  <a:pt x="437" y="588"/>
                </a:lnTo>
                <a:lnTo>
                  <a:pt x="451" y="588"/>
                </a:lnTo>
                <a:lnTo>
                  <a:pt x="451" y="614"/>
                </a:lnTo>
                <a:lnTo>
                  <a:pt x="465" y="614"/>
                </a:lnTo>
                <a:lnTo>
                  <a:pt x="465" y="640"/>
                </a:lnTo>
                <a:lnTo>
                  <a:pt x="479" y="640"/>
                </a:lnTo>
                <a:lnTo>
                  <a:pt x="479" y="666"/>
                </a:lnTo>
                <a:lnTo>
                  <a:pt x="493" y="666"/>
                </a:lnTo>
                <a:lnTo>
                  <a:pt x="493" y="771"/>
                </a:lnTo>
                <a:lnTo>
                  <a:pt x="508" y="771"/>
                </a:lnTo>
                <a:lnTo>
                  <a:pt x="508" y="732"/>
                </a:lnTo>
                <a:lnTo>
                  <a:pt x="521" y="732"/>
                </a:lnTo>
                <a:lnTo>
                  <a:pt x="521" y="705"/>
                </a:lnTo>
                <a:lnTo>
                  <a:pt x="536" y="705"/>
                </a:lnTo>
                <a:lnTo>
                  <a:pt x="536" y="680"/>
                </a:lnTo>
                <a:lnTo>
                  <a:pt x="549" y="680"/>
                </a:lnTo>
                <a:lnTo>
                  <a:pt x="549" y="666"/>
                </a:lnTo>
                <a:lnTo>
                  <a:pt x="564" y="666"/>
                </a:lnTo>
                <a:lnTo>
                  <a:pt x="564" y="654"/>
                </a:lnTo>
                <a:lnTo>
                  <a:pt x="577" y="654"/>
                </a:lnTo>
                <a:lnTo>
                  <a:pt x="577" y="640"/>
                </a:lnTo>
                <a:lnTo>
                  <a:pt x="591" y="640"/>
                </a:lnTo>
                <a:lnTo>
                  <a:pt x="591" y="627"/>
                </a:lnTo>
                <a:lnTo>
                  <a:pt x="606" y="627"/>
                </a:lnTo>
                <a:lnTo>
                  <a:pt x="606" y="614"/>
                </a:lnTo>
                <a:lnTo>
                  <a:pt x="620" y="614"/>
                </a:lnTo>
                <a:lnTo>
                  <a:pt x="620" y="524"/>
                </a:lnTo>
                <a:lnTo>
                  <a:pt x="634" y="524"/>
                </a:lnTo>
                <a:lnTo>
                  <a:pt x="634" y="484"/>
                </a:lnTo>
                <a:lnTo>
                  <a:pt x="620" y="484"/>
                </a:lnTo>
                <a:lnTo>
                  <a:pt x="620" y="470"/>
                </a:lnTo>
                <a:lnTo>
                  <a:pt x="606" y="470"/>
                </a:lnTo>
                <a:lnTo>
                  <a:pt x="606" y="458"/>
                </a:lnTo>
                <a:lnTo>
                  <a:pt x="591" y="458"/>
                </a:lnTo>
                <a:lnTo>
                  <a:pt x="591" y="432"/>
                </a:lnTo>
                <a:lnTo>
                  <a:pt x="577" y="432"/>
                </a:lnTo>
                <a:lnTo>
                  <a:pt x="577" y="340"/>
                </a:lnTo>
                <a:lnTo>
                  <a:pt x="591" y="340"/>
                </a:lnTo>
                <a:lnTo>
                  <a:pt x="591" y="327"/>
                </a:lnTo>
                <a:lnTo>
                  <a:pt x="606" y="327"/>
                </a:lnTo>
                <a:lnTo>
                  <a:pt x="606" y="313"/>
                </a:lnTo>
                <a:lnTo>
                  <a:pt x="620" y="313"/>
                </a:lnTo>
                <a:lnTo>
                  <a:pt x="620" y="274"/>
                </a:lnTo>
                <a:lnTo>
                  <a:pt x="606" y="274"/>
                </a:lnTo>
                <a:lnTo>
                  <a:pt x="606" y="261"/>
                </a:lnTo>
                <a:lnTo>
                  <a:pt x="591" y="261"/>
                </a:lnTo>
                <a:lnTo>
                  <a:pt x="591" y="222"/>
                </a:lnTo>
                <a:lnTo>
                  <a:pt x="606" y="222"/>
                </a:lnTo>
                <a:lnTo>
                  <a:pt x="606" y="196"/>
                </a:lnTo>
                <a:lnTo>
                  <a:pt x="620" y="196"/>
                </a:lnTo>
                <a:lnTo>
                  <a:pt x="620" y="170"/>
                </a:lnTo>
                <a:lnTo>
                  <a:pt x="634" y="170"/>
                </a:lnTo>
                <a:lnTo>
                  <a:pt x="634" y="157"/>
                </a:lnTo>
                <a:lnTo>
                  <a:pt x="647" y="157"/>
                </a:lnTo>
                <a:lnTo>
                  <a:pt x="647" y="170"/>
                </a:lnTo>
                <a:lnTo>
                  <a:pt x="676" y="170"/>
                </a:lnTo>
                <a:lnTo>
                  <a:pt x="676" y="182"/>
                </a:lnTo>
                <a:lnTo>
                  <a:pt x="647" y="182"/>
                </a:lnTo>
                <a:lnTo>
                  <a:pt x="647" y="209"/>
                </a:lnTo>
                <a:lnTo>
                  <a:pt x="634" y="209"/>
                </a:lnTo>
                <a:lnTo>
                  <a:pt x="634" y="235"/>
                </a:lnTo>
                <a:lnTo>
                  <a:pt x="647" y="235"/>
                </a:lnTo>
                <a:lnTo>
                  <a:pt x="647" y="274"/>
                </a:lnTo>
                <a:lnTo>
                  <a:pt x="662" y="274"/>
                </a:lnTo>
                <a:lnTo>
                  <a:pt x="662" y="287"/>
                </a:lnTo>
                <a:lnTo>
                  <a:pt x="676" y="287"/>
                </a:lnTo>
                <a:lnTo>
                  <a:pt x="676" y="274"/>
                </a:lnTo>
                <a:lnTo>
                  <a:pt x="690" y="274"/>
                </a:lnTo>
                <a:lnTo>
                  <a:pt x="690" y="235"/>
                </a:lnTo>
                <a:lnTo>
                  <a:pt x="705" y="235"/>
                </a:lnTo>
                <a:lnTo>
                  <a:pt x="705" y="209"/>
                </a:lnTo>
                <a:lnTo>
                  <a:pt x="719" y="209"/>
                </a:lnTo>
                <a:lnTo>
                  <a:pt x="719" y="182"/>
                </a:lnTo>
                <a:lnTo>
                  <a:pt x="732" y="182"/>
                </a:lnTo>
                <a:lnTo>
                  <a:pt x="732" y="157"/>
                </a:lnTo>
                <a:lnTo>
                  <a:pt x="690" y="157"/>
                </a:lnTo>
                <a:lnTo>
                  <a:pt x="690" y="144"/>
                </a:lnTo>
                <a:lnTo>
                  <a:pt x="761" y="144"/>
                </a:lnTo>
                <a:lnTo>
                  <a:pt x="761" y="131"/>
                </a:lnTo>
                <a:lnTo>
                  <a:pt x="775" y="131"/>
                </a:lnTo>
                <a:lnTo>
                  <a:pt x="775" y="117"/>
                </a:lnTo>
                <a:lnTo>
                  <a:pt x="705" y="117"/>
                </a:lnTo>
                <a:lnTo>
                  <a:pt x="705" y="105"/>
                </a:lnTo>
                <a:lnTo>
                  <a:pt x="804" y="105"/>
                </a:lnTo>
                <a:lnTo>
                  <a:pt x="804" y="92"/>
                </a:lnTo>
                <a:lnTo>
                  <a:pt x="817" y="92"/>
                </a:lnTo>
                <a:lnTo>
                  <a:pt x="817" y="78"/>
                </a:lnTo>
                <a:lnTo>
                  <a:pt x="846" y="78"/>
                </a:lnTo>
                <a:lnTo>
                  <a:pt x="846" y="65"/>
                </a:lnTo>
                <a:lnTo>
                  <a:pt x="874" y="65"/>
                </a:lnTo>
                <a:lnTo>
                  <a:pt x="874" y="53"/>
                </a:lnTo>
                <a:lnTo>
                  <a:pt x="902" y="53"/>
                </a:lnTo>
                <a:lnTo>
                  <a:pt x="902" y="39"/>
                </a:lnTo>
                <a:lnTo>
                  <a:pt x="929" y="39"/>
                </a:lnTo>
                <a:lnTo>
                  <a:pt x="929" y="27"/>
                </a:lnTo>
                <a:lnTo>
                  <a:pt x="944" y="27"/>
                </a:lnTo>
                <a:lnTo>
                  <a:pt x="944" y="39"/>
                </a:lnTo>
                <a:lnTo>
                  <a:pt x="1000" y="39"/>
                </a:lnTo>
                <a:lnTo>
                  <a:pt x="1000" y="27"/>
                </a:lnTo>
                <a:lnTo>
                  <a:pt x="1014" y="27"/>
                </a:lnTo>
                <a:lnTo>
                  <a:pt x="1014" y="13"/>
                </a:lnTo>
                <a:lnTo>
                  <a:pt x="1057" y="13"/>
                </a:lnTo>
                <a:lnTo>
                  <a:pt x="1057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5915025" y="3021013"/>
            <a:ext cx="1408113" cy="1368425"/>
          </a:xfrm>
          <a:custGeom>
            <a:rect b="b" l="l" r="r" t="t"/>
            <a:pathLst>
              <a:path extrusionOk="0" h="862" w="887">
                <a:moveTo>
                  <a:pt x="407" y="0"/>
                </a:moveTo>
                <a:lnTo>
                  <a:pt x="506" y="0"/>
                </a:lnTo>
                <a:lnTo>
                  <a:pt x="506" y="13"/>
                </a:lnTo>
                <a:lnTo>
                  <a:pt x="548" y="13"/>
                </a:lnTo>
                <a:lnTo>
                  <a:pt x="548" y="26"/>
                </a:lnTo>
                <a:lnTo>
                  <a:pt x="576" y="26"/>
                </a:lnTo>
                <a:lnTo>
                  <a:pt x="576" y="39"/>
                </a:lnTo>
                <a:lnTo>
                  <a:pt x="605" y="39"/>
                </a:lnTo>
                <a:lnTo>
                  <a:pt x="605" y="53"/>
                </a:lnTo>
                <a:lnTo>
                  <a:pt x="619" y="53"/>
                </a:lnTo>
                <a:lnTo>
                  <a:pt x="619" y="66"/>
                </a:lnTo>
                <a:lnTo>
                  <a:pt x="633" y="66"/>
                </a:lnTo>
                <a:lnTo>
                  <a:pt x="633" y="77"/>
                </a:lnTo>
                <a:lnTo>
                  <a:pt x="648" y="77"/>
                </a:lnTo>
                <a:lnTo>
                  <a:pt x="648" y="91"/>
                </a:lnTo>
                <a:lnTo>
                  <a:pt x="661" y="91"/>
                </a:lnTo>
                <a:lnTo>
                  <a:pt x="661" y="103"/>
                </a:lnTo>
                <a:lnTo>
                  <a:pt x="675" y="103"/>
                </a:lnTo>
                <a:lnTo>
                  <a:pt x="675" y="117"/>
                </a:lnTo>
                <a:lnTo>
                  <a:pt x="688" y="117"/>
                </a:lnTo>
                <a:lnTo>
                  <a:pt x="688" y="143"/>
                </a:lnTo>
                <a:lnTo>
                  <a:pt x="702" y="143"/>
                </a:lnTo>
                <a:lnTo>
                  <a:pt x="702" y="170"/>
                </a:lnTo>
                <a:lnTo>
                  <a:pt x="717" y="170"/>
                </a:lnTo>
                <a:lnTo>
                  <a:pt x="717" y="234"/>
                </a:lnTo>
                <a:lnTo>
                  <a:pt x="702" y="234"/>
                </a:lnTo>
                <a:lnTo>
                  <a:pt x="702" y="247"/>
                </a:lnTo>
                <a:lnTo>
                  <a:pt x="731" y="247"/>
                </a:lnTo>
                <a:lnTo>
                  <a:pt x="731" y="260"/>
                </a:lnTo>
                <a:lnTo>
                  <a:pt x="746" y="260"/>
                </a:lnTo>
                <a:lnTo>
                  <a:pt x="746" y="287"/>
                </a:lnTo>
                <a:lnTo>
                  <a:pt x="760" y="287"/>
                </a:lnTo>
                <a:lnTo>
                  <a:pt x="760" y="260"/>
                </a:lnTo>
                <a:lnTo>
                  <a:pt x="774" y="260"/>
                </a:lnTo>
                <a:lnTo>
                  <a:pt x="774" y="247"/>
                </a:lnTo>
                <a:lnTo>
                  <a:pt x="788" y="247"/>
                </a:lnTo>
                <a:lnTo>
                  <a:pt x="788" y="234"/>
                </a:lnTo>
                <a:lnTo>
                  <a:pt x="829" y="234"/>
                </a:lnTo>
                <a:lnTo>
                  <a:pt x="829" y="247"/>
                </a:lnTo>
                <a:lnTo>
                  <a:pt x="844" y="247"/>
                </a:lnTo>
                <a:lnTo>
                  <a:pt x="844" y="260"/>
                </a:lnTo>
                <a:lnTo>
                  <a:pt x="788" y="260"/>
                </a:lnTo>
                <a:lnTo>
                  <a:pt x="788" y="273"/>
                </a:lnTo>
                <a:lnTo>
                  <a:pt x="857" y="273"/>
                </a:lnTo>
                <a:lnTo>
                  <a:pt x="857" y="300"/>
                </a:lnTo>
                <a:lnTo>
                  <a:pt x="871" y="300"/>
                </a:lnTo>
                <a:lnTo>
                  <a:pt x="871" y="353"/>
                </a:lnTo>
                <a:lnTo>
                  <a:pt x="857" y="353"/>
                </a:lnTo>
                <a:lnTo>
                  <a:pt x="857" y="377"/>
                </a:lnTo>
                <a:lnTo>
                  <a:pt x="829" y="377"/>
                </a:lnTo>
                <a:lnTo>
                  <a:pt x="829" y="403"/>
                </a:lnTo>
                <a:lnTo>
                  <a:pt x="844" y="403"/>
                </a:lnTo>
                <a:lnTo>
                  <a:pt x="844" y="430"/>
                </a:lnTo>
                <a:lnTo>
                  <a:pt x="857" y="430"/>
                </a:lnTo>
                <a:lnTo>
                  <a:pt x="857" y="470"/>
                </a:lnTo>
                <a:lnTo>
                  <a:pt x="871" y="470"/>
                </a:lnTo>
                <a:lnTo>
                  <a:pt x="871" y="508"/>
                </a:lnTo>
                <a:lnTo>
                  <a:pt x="886" y="508"/>
                </a:lnTo>
                <a:lnTo>
                  <a:pt x="886" y="573"/>
                </a:lnTo>
                <a:lnTo>
                  <a:pt x="871" y="573"/>
                </a:lnTo>
                <a:lnTo>
                  <a:pt x="871" y="627"/>
                </a:lnTo>
                <a:lnTo>
                  <a:pt x="857" y="627"/>
                </a:lnTo>
                <a:lnTo>
                  <a:pt x="857" y="665"/>
                </a:lnTo>
                <a:lnTo>
                  <a:pt x="844" y="665"/>
                </a:lnTo>
                <a:lnTo>
                  <a:pt x="844" y="691"/>
                </a:lnTo>
                <a:lnTo>
                  <a:pt x="829" y="691"/>
                </a:lnTo>
                <a:lnTo>
                  <a:pt x="829" y="718"/>
                </a:lnTo>
                <a:lnTo>
                  <a:pt x="815" y="718"/>
                </a:lnTo>
                <a:lnTo>
                  <a:pt x="815" y="730"/>
                </a:lnTo>
                <a:lnTo>
                  <a:pt x="802" y="730"/>
                </a:lnTo>
                <a:lnTo>
                  <a:pt x="802" y="744"/>
                </a:lnTo>
                <a:lnTo>
                  <a:pt x="788" y="744"/>
                </a:lnTo>
                <a:lnTo>
                  <a:pt x="788" y="757"/>
                </a:lnTo>
                <a:lnTo>
                  <a:pt x="760" y="757"/>
                </a:lnTo>
                <a:lnTo>
                  <a:pt x="760" y="784"/>
                </a:lnTo>
                <a:lnTo>
                  <a:pt x="731" y="784"/>
                </a:lnTo>
                <a:lnTo>
                  <a:pt x="731" y="795"/>
                </a:lnTo>
                <a:lnTo>
                  <a:pt x="717" y="795"/>
                </a:lnTo>
                <a:lnTo>
                  <a:pt x="717" y="809"/>
                </a:lnTo>
                <a:lnTo>
                  <a:pt x="688" y="809"/>
                </a:lnTo>
                <a:lnTo>
                  <a:pt x="688" y="822"/>
                </a:lnTo>
                <a:lnTo>
                  <a:pt x="661" y="822"/>
                </a:lnTo>
                <a:lnTo>
                  <a:pt x="661" y="834"/>
                </a:lnTo>
                <a:lnTo>
                  <a:pt x="533" y="834"/>
                </a:lnTo>
                <a:lnTo>
                  <a:pt x="533" y="822"/>
                </a:lnTo>
                <a:lnTo>
                  <a:pt x="520" y="822"/>
                </a:lnTo>
                <a:lnTo>
                  <a:pt x="520" y="834"/>
                </a:lnTo>
                <a:lnTo>
                  <a:pt x="493" y="834"/>
                </a:lnTo>
                <a:lnTo>
                  <a:pt x="493" y="847"/>
                </a:lnTo>
                <a:lnTo>
                  <a:pt x="464" y="847"/>
                </a:lnTo>
                <a:lnTo>
                  <a:pt x="464" y="861"/>
                </a:lnTo>
                <a:lnTo>
                  <a:pt x="379" y="861"/>
                </a:lnTo>
                <a:lnTo>
                  <a:pt x="379" y="847"/>
                </a:lnTo>
                <a:lnTo>
                  <a:pt x="310" y="847"/>
                </a:lnTo>
                <a:lnTo>
                  <a:pt x="310" y="834"/>
                </a:lnTo>
                <a:lnTo>
                  <a:pt x="281" y="834"/>
                </a:lnTo>
                <a:lnTo>
                  <a:pt x="281" y="822"/>
                </a:lnTo>
                <a:lnTo>
                  <a:pt x="252" y="822"/>
                </a:lnTo>
                <a:lnTo>
                  <a:pt x="252" y="809"/>
                </a:lnTo>
                <a:lnTo>
                  <a:pt x="224" y="809"/>
                </a:lnTo>
                <a:lnTo>
                  <a:pt x="224" y="795"/>
                </a:lnTo>
                <a:lnTo>
                  <a:pt x="197" y="795"/>
                </a:lnTo>
                <a:lnTo>
                  <a:pt x="197" y="784"/>
                </a:lnTo>
                <a:lnTo>
                  <a:pt x="169" y="784"/>
                </a:lnTo>
                <a:lnTo>
                  <a:pt x="169" y="770"/>
                </a:lnTo>
                <a:lnTo>
                  <a:pt x="140" y="770"/>
                </a:lnTo>
                <a:lnTo>
                  <a:pt x="140" y="757"/>
                </a:lnTo>
                <a:lnTo>
                  <a:pt x="126" y="757"/>
                </a:lnTo>
                <a:lnTo>
                  <a:pt x="126" y="744"/>
                </a:lnTo>
                <a:lnTo>
                  <a:pt x="112" y="744"/>
                </a:lnTo>
                <a:lnTo>
                  <a:pt x="112" y="730"/>
                </a:lnTo>
                <a:lnTo>
                  <a:pt x="98" y="730"/>
                </a:lnTo>
                <a:lnTo>
                  <a:pt x="98" y="718"/>
                </a:lnTo>
                <a:lnTo>
                  <a:pt x="83" y="718"/>
                </a:lnTo>
                <a:lnTo>
                  <a:pt x="83" y="691"/>
                </a:lnTo>
                <a:lnTo>
                  <a:pt x="71" y="691"/>
                </a:lnTo>
                <a:lnTo>
                  <a:pt x="71" y="678"/>
                </a:lnTo>
                <a:lnTo>
                  <a:pt x="56" y="678"/>
                </a:lnTo>
                <a:lnTo>
                  <a:pt x="56" y="652"/>
                </a:lnTo>
                <a:lnTo>
                  <a:pt x="43" y="652"/>
                </a:lnTo>
                <a:lnTo>
                  <a:pt x="43" y="483"/>
                </a:lnTo>
                <a:lnTo>
                  <a:pt x="56" y="483"/>
                </a:lnTo>
                <a:lnTo>
                  <a:pt x="56" y="430"/>
                </a:lnTo>
                <a:lnTo>
                  <a:pt x="28" y="430"/>
                </a:lnTo>
                <a:lnTo>
                  <a:pt x="28" y="417"/>
                </a:lnTo>
                <a:lnTo>
                  <a:pt x="14" y="417"/>
                </a:lnTo>
                <a:lnTo>
                  <a:pt x="14" y="391"/>
                </a:lnTo>
                <a:lnTo>
                  <a:pt x="0" y="391"/>
                </a:lnTo>
                <a:lnTo>
                  <a:pt x="0" y="300"/>
                </a:lnTo>
                <a:lnTo>
                  <a:pt x="14" y="300"/>
                </a:lnTo>
                <a:lnTo>
                  <a:pt x="14" y="287"/>
                </a:lnTo>
                <a:lnTo>
                  <a:pt x="28" y="287"/>
                </a:lnTo>
                <a:lnTo>
                  <a:pt x="28" y="273"/>
                </a:lnTo>
                <a:lnTo>
                  <a:pt x="43" y="273"/>
                </a:lnTo>
                <a:lnTo>
                  <a:pt x="43" y="260"/>
                </a:lnTo>
                <a:lnTo>
                  <a:pt x="83" y="260"/>
                </a:lnTo>
                <a:lnTo>
                  <a:pt x="83" y="300"/>
                </a:lnTo>
                <a:lnTo>
                  <a:pt x="71" y="300"/>
                </a:lnTo>
                <a:lnTo>
                  <a:pt x="71" y="313"/>
                </a:lnTo>
                <a:lnTo>
                  <a:pt x="83" y="313"/>
                </a:lnTo>
                <a:lnTo>
                  <a:pt x="83" y="365"/>
                </a:lnTo>
                <a:lnTo>
                  <a:pt x="98" y="365"/>
                </a:lnTo>
                <a:lnTo>
                  <a:pt x="98" y="300"/>
                </a:lnTo>
                <a:lnTo>
                  <a:pt x="112" y="300"/>
                </a:lnTo>
                <a:lnTo>
                  <a:pt x="112" y="287"/>
                </a:lnTo>
                <a:lnTo>
                  <a:pt x="98" y="287"/>
                </a:lnTo>
                <a:lnTo>
                  <a:pt x="98" y="234"/>
                </a:lnTo>
                <a:lnTo>
                  <a:pt x="112" y="234"/>
                </a:lnTo>
                <a:lnTo>
                  <a:pt x="112" y="196"/>
                </a:lnTo>
                <a:lnTo>
                  <a:pt x="126" y="196"/>
                </a:lnTo>
                <a:lnTo>
                  <a:pt x="126" y="170"/>
                </a:lnTo>
                <a:lnTo>
                  <a:pt x="140" y="170"/>
                </a:lnTo>
                <a:lnTo>
                  <a:pt x="140" y="143"/>
                </a:lnTo>
                <a:lnTo>
                  <a:pt x="154" y="143"/>
                </a:lnTo>
                <a:lnTo>
                  <a:pt x="154" y="117"/>
                </a:lnTo>
                <a:lnTo>
                  <a:pt x="169" y="117"/>
                </a:lnTo>
                <a:lnTo>
                  <a:pt x="169" y="103"/>
                </a:lnTo>
                <a:lnTo>
                  <a:pt x="183" y="103"/>
                </a:lnTo>
                <a:lnTo>
                  <a:pt x="183" y="91"/>
                </a:lnTo>
                <a:lnTo>
                  <a:pt x="197" y="91"/>
                </a:lnTo>
                <a:lnTo>
                  <a:pt x="197" y="77"/>
                </a:lnTo>
                <a:lnTo>
                  <a:pt x="211" y="77"/>
                </a:lnTo>
                <a:lnTo>
                  <a:pt x="211" y="66"/>
                </a:lnTo>
                <a:lnTo>
                  <a:pt x="224" y="66"/>
                </a:lnTo>
                <a:lnTo>
                  <a:pt x="224" y="53"/>
                </a:lnTo>
                <a:lnTo>
                  <a:pt x="252" y="53"/>
                </a:lnTo>
                <a:lnTo>
                  <a:pt x="252" y="39"/>
                </a:lnTo>
                <a:lnTo>
                  <a:pt x="281" y="39"/>
                </a:lnTo>
                <a:lnTo>
                  <a:pt x="281" y="26"/>
                </a:lnTo>
                <a:lnTo>
                  <a:pt x="310" y="26"/>
                </a:lnTo>
                <a:lnTo>
                  <a:pt x="310" y="13"/>
                </a:lnTo>
                <a:lnTo>
                  <a:pt x="407" y="13"/>
                </a:lnTo>
                <a:lnTo>
                  <a:pt x="407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6294438" y="3125788"/>
            <a:ext cx="177800" cy="120650"/>
          </a:xfrm>
          <a:custGeom>
            <a:rect b="b" l="l" r="r" t="t"/>
            <a:pathLst>
              <a:path extrusionOk="0" h="76" w="112">
                <a:moveTo>
                  <a:pt x="70" y="0"/>
                </a:moveTo>
                <a:lnTo>
                  <a:pt x="97" y="0"/>
                </a:lnTo>
                <a:lnTo>
                  <a:pt x="97" y="12"/>
                </a:lnTo>
                <a:lnTo>
                  <a:pt x="111" y="12"/>
                </a:lnTo>
                <a:lnTo>
                  <a:pt x="111" y="25"/>
                </a:lnTo>
                <a:lnTo>
                  <a:pt x="97" y="25"/>
                </a:lnTo>
                <a:lnTo>
                  <a:pt x="97" y="37"/>
                </a:lnTo>
                <a:lnTo>
                  <a:pt x="70" y="37"/>
                </a:lnTo>
                <a:lnTo>
                  <a:pt x="70" y="49"/>
                </a:lnTo>
                <a:lnTo>
                  <a:pt x="42" y="49"/>
                </a:lnTo>
                <a:lnTo>
                  <a:pt x="42" y="63"/>
                </a:lnTo>
                <a:lnTo>
                  <a:pt x="28" y="63"/>
                </a:lnTo>
                <a:lnTo>
                  <a:pt x="28" y="75"/>
                </a:lnTo>
                <a:lnTo>
                  <a:pt x="13" y="75"/>
                </a:lnTo>
                <a:lnTo>
                  <a:pt x="13" y="63"/>
                </a:lnTo>
                <a:lnTo>
                  <a:pt x="0" y="63"/>
                </a:lnTo>
                <a:lnTo>
                  <a:pt x="0" y="49"/>
                </a:lnTo>
                <a:lnTo>
                  <a:pt x="13" y="49"/>
                </a:lnTo>
                <a:lnTo>
                  <a:pt x="13" y="37"/>
                </a:lnTo>
                <a:lnTo>
                  <a:pt x="28" y="37"/>
                </a:lnTo>
                <a:lnTo>
                  <a:pt x="28" y="25"/>
                </a:lnTo>
                <a:lnTo>
                  <a:pt x="42" y="25"/>
                </a:lnTo>
                <a:lnTo>
                  <a:pt x="42" y="12"/>
                </a:lnTo>
                <a:lnTo>
                  <a:pt x="70" y="12"/>
                </a:lnTo>
                <a:lnTo>
                  <a:pt x="7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677025" y="3125788"/>
            <a:ext cx="176213" cy="79375"/>
          </a:xfrm>
          <a:custGeom>
            <a:rect b="b" l="l" r="r" t="t"/>
            <a:pathLst>
              <a:path extrusionOk="0" h="50" w="111">
                <a:moveTo>
                  <a:pt x="41" y="0"/>
                </a:moveTo>
                <a:lnTo>
                  <a:pt x="96" y="0"/>
                </a:lnTo>
                <a:lnTo>
                  <a:pt x="96" y="12"/>
                </a:lnTo>
                <a:lnTo>
                  <a:pt x="110" y="12"/>
                </a:lnTo>
                <a:lnTo>
                  <a:pt x="110" y="24"/>
                </a:lnTo>
                <a:lnTo>
                  <a:pt x="96" y="24"/>
                </a:lnTo>
                <a:lnTo>
                  <a:pt x="96" y="37"/>
                </a:lnTo>
                <a:lnTo>
                  <a:pt x="41" y="37"/>
                </a:lnTo>
                <a:lnTo>
                  <a:pt x="41" y="49"/>
                </a:lnTo>
                <a:lnTo>
                  <a:pt x="13" y="49"/>
                </a:lnTo>
                <a:lnTo>
                  <a:pt x="13" y="37"/>
                </a:lnTo>
                <a:lnTo>
                  <a:pt x="0" y="37"/>
                </a:lnTo>
                <a:lnTo>
                  <a:pt x="0" y="24"/>
                </a:lnTo>
                <a:lnTo>
                  <a:pt x="13" y="24"/>
                </a:lnTo>
                <a:lnTo>
                  <a:pt x="13" y="12"/>
                </a:lnTo>
                <a:lnTo>
                  <a:pt x="41" y="12"/>
                </a:lnTo>
                <a:lnTo>
                  <a:pt x="41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6002338" y="3144838"/>
            <a:ext cx="88900" cy="60325"/>
          </a:xfrm>
          <a:custGeom>
            <a:rect b="b" l="l" r="r" t="t"/>
            <a:pathLst>
              <a:path extrusionOk="0" h="38" w="56">
                <a:moveTo>
                  <a:pt x="28" y="0"/>
                </a:moveTo>
                <a:lnTo>
                  <a:pt x="55" y="0"/>
                </a:lnTo>
                <a:lnTo>
                  <a:pt x="55" y="13"/>
                </a:lnTo>
                <a:lnTo>
                  <a:pt x="28" y="13"/>
                </a:lnTo>
                <a:lnTo>
                  <a:pt x="28" y="25"/>
                </a:lnTo>
                <a:lnTo>
                  <a:pt x="14" y="25"/>
                </a:lnTo>
                <a:lnTo>
                  <a:pt x="14" y="37"/>
                </a:lnTo>
                <a:lnTo>
                  <a:pt x="0" y="37"/>
                </a:lnTo>
                <a:lnTo>
                  <a:pt x="0" y="25"/>
                </a:lnTo>
                <a:lnTo>
                  <a:pt x="14" y="25"/>
                </a:lnTo>
                <a:lnTo>
                  <a:pt x="14" y="13"/>
                </a:lnTo>
                <a:lnTo>
                  <a:pt x="28" y="13"/>
                </a:lnTo>
                <a:lnTo>
                  <a:pt x="28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407150" y="3144838"/>
            <a:ext cx="41275" cy="17462"/>
          </a:xfrm>
          <a:custGeom>
            <a:rect b="b" l="l" r="r" t="t"/>
            <a:pathLst>
              <a:path extrusionOk="0" h="11" w="26">
                <a:moveTo>
                  <a:pt x="0" y="0"/>
                </a:moveTo>
                <a:lnTo>
                  <a:pt x="25" y="0"/>
                </a:lnTo>
                <a:lnTo>
                  <a:pt x="25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742113" y="3144838"/>
            <a:ext cx="87312" cy="17462"/>
          </a:xfrm>
          <a:custGeom>
            <a:rect b="b" l="l" r="r" t="t"/>
            <a:pathLst>
              <a:path extrusionOk="0" h="11" w="55">
                <a:moveTo>
                  <a:pt x="0" y="0"/>
                </a:moveTo>
                <a:lnTo>
                  <a:pt x="54" y="0"/>
                </a:lnTo>
                <a:lnTo>
                  <a:pt x="54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362700" y="3165475"/>
            <a:ext cx="41275" cy="19050"/>
          </a:xfrm>
          <a:custGeom>
            <a:rect b="b" l="l" r="r" t="t"/>
            <a:pathLst>
              <a:path extrusionOk="0" h="12" w="26">
                <a:moveTo>
                  <a:pt x="0" y="0"/>
                </a:moveTo>
                <a:lnTo>
                  <a:pt x="25" y="0"/>
                </a:lnTo>
                <a:lnTo>
                  <a:pt x="25" y="11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697663" y="3165475"/>
            <a:ext cx="42862" cy="19050"/>
          </a:xfrm>
          <a:custGeom>
            <a:rect b="b" l="l" r="r" t="t"/>
            <a:pathLst>
              <a:path extrusionOk="0" h="12" w="27">
                <a:moveTo>
                  <a:pt x="0" y="0"/>
                </a:moveTo>
                <a:lnTo>
                  <a:pt x="26" y="0"/>
                </a:lnTo>
                <a:lnTo>
                  <a:pt x="26" y="11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7124700" y="3165475"/>
            <a:ext cx="85725" cy="80963"/>
          </a:xfrm>
          <a:custGeom>
            <a:rect b="b" l="l" r="r" t="t"/>
            <a:pathLst>
              <a:path extrusionOk="0" h="51" w="54">
                <a:moveTo>
                  <a:pt x="0" y="0"/>
                </a:moveTo>
                <a:lnTo>
                  <a:pt x="14" y="0"/>
                </a:lnTo>
                <a:lnTo>
                  <a:pt x="14" y="13"/>
                </a:lnTo>
                <a:lnTo>
                  <a:pt x="27" y="13"/>
                </a:lnTo>
                <a:lnTo>
                  <a:pt x="27" y="25"/>
                </a:lnTo>
                <a:lnTo>
                  <a:pt x="40" y="25"/>
                </a:lnTo>
                <a:lnTo>
                  <a:pt x="40" y="38"/>
                </a:lnTo>
                <a:lnTo>
                  <a:pt x="53" y="38"/>
                </a:lnTo>
                <a:lnTo>
                  <a:pt x="53" y="50"/>
                </a:lnTo>
                <a:lnTo>
                  <a:pt x="40" y="50"/>
                </a:lnTo>
                <a:lnTo>
                  <a:pt x="40" y="38"/>
                </a:lnTo>
                <a:lnTo>
                  <a:pt x="27" y="38"/>
                </a:lnTo>
                <a:lnTo>
                  <a:pt x="27" y="25"/>
                </a:lnTo>
                <a:lnTo>
                  <a:pt x="14" y="25"/>
                </a:lnTo>
                <a:lnTo>
                  <a:pt x="14" y="13"/>
                </a:lnTo>
                <a:lnTo>
                  <a:pt x="0" y="1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6340475" y="3186113"/>
            <a:ext cx="19050" cy="19050"/>
          </a:xfrm>
          <a:custGeom>
            <a:rect b="b" l="l" r="r" t="t"/>
            <a:pathLst>
              <a:path extrusionOk="0" h="12" w="12">
                <a:moveTo>
                  <a:pt x="0" y="0"/>
                </a:moveTo>
                <a:lnTo>
                  <a:pt x="11" y="0"/>
                </a:lnTo>
                <a:lnTo>
                  <a:pt x="11" y="11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048375" y="3208338"/>
            <a:ext cx="20638" cy="17462"/>
          </a:xfrm>
          <a:custGeom>
            <a:rect b="b" l="l" r="r" t="t"/>
            <a:pathLst>
              <a:path extrusionOk="0" h="11" w="13">
                <a:moveTo>
                  <a:pt x="0" y="0"/>
                </a:moveTo>
                <a:lnTo>
                  <a:pt x="12" y="0"/>
                </a:lnTo>
                <a:lnTo>
                  <a:pt x="12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6316663" y="3208338"/>
            <a:ext cx="20637" cy="17462"/>
          </a:xfrm>
          <a:custGeom>
            <a:rect b="b" l="l" r="r" t="t"/>
            <a:pathLst>
              <a:path extrusionOk="0" h="11" w="13">
                <a:moveTo>
                  <a:pt x="0" y="0"/>
                </a:moveTo>
                <a:lnTo>
                  <a:pt x="12" y="0"/>
                </a:lnTo>
                <a:lnTo>
                  <a:pt x="12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6094413" y="3249613"/>
            <a:ext cx="936625" cy="454025"/>
          </a:xfrm>
          <a:custGeom>
            <a:rect b="b" l="l" r="r" t="t"/>
            <a:pathLst>
              <a:path extrusionOk="0" h="286" w="590">
                <a:moveTo>
                  <a:pt x="168" y="0"/>
                </a:moveTo>
                <a:lnTo>
                  <a:pt x="224" y="0"/>
                </a:lnTo>
                <a:lnTo>
                  <a:pt x="224" y="14"/>
                </a:lnTo>
                <a:lnTo>
                  <a:pt x="239" y="14"/>
                </a:lnTo>
                <a:lnTo>
                  <a:pt x="239" y="26"/>
                </a:lnTo>
                <a:lnTo>
                  <a:pt x="252" y="26"/>
                </a:lnTo>
                <a:lnTo>
                  <a:pt x="252" y="39"/>
                </a:lnTo>
                <a:lnTo>
                  <a:pt x="267" y="39"/>
                </a:lnTo>
                <a:lnTo>
                  <a:pt x="267" y="78"/>
                </a:lnTo>
                <a:lnTo>
                  <a:pt x="280" y="78"/>
                </a:lnTo>
                <a:lnTo>
                  <a:pt x="280" y="65"/>
                </a:lnTo>
                <a:lnTo>
                  <a:pt x="309" y="65"/>
                </a:lnTo>
                <a:lnTo>
                  <a:pt x="309" y="52"/>
                </a:lnTo>
                <a:lnTo>
                  <a:pt x="379" y="52"/>
                </a:lnTo>
                <a:lnTo>
                  <a:pt x="379" y="39"/>
                </a:lnTo>
                <a:lnTo>
                  <a:pt x="392" y="39"/>
                </a:lnTo>
                <a:lnTo>
                  <a:pt x="392" y="26"/>
                </a:lnTo>
                <a:lnTo>
                  <a:pt x="407" y="26"/>
                </a:lnTo>
                <a:lnTo>
                  <a:pt x="407" y="14"/>
                </a:lnTo>
                <a:lnTo>
                  <a:pt x="491" y="14"/>
                </a:lnTo>
                <a:lnTo>
                  <a:pt x="491" y="26"/>
                </a:lnTo>
                <a:lnTo>
                  <a:pt x="505" y="26"/>
                </a:lnTo>
                <a:lnTo>
                  <a:pt x="505" y="39"/>
                </a:lnTo>
                <a:lnTo>
                  <a:pt x="519" y="39"/>
                </a:lnTo>
                <a:lnTo>
                  <a:pt x="519" y="65"/>
                </a:lnTo>
                <a:lnTo>
                  <a:pt x="575" y="65"/>
                </a:lnTo>
                <a:lnTo>
                  <a:pt x="575" y="78"/>
                </a:lnTo>
                <a:lnTo>
                  <a:pt x="589" y="78"/>
                </a:lnTo>
                <a:lnTo>
                  <a:pt x="589" y="91"/>
                </a:lnTo>
                <a:lnTo>
                  <a:pt x="575" y="91"/>
                </a:lnTo>
                <a:lnTo>
                  <a:pt x="575" y="78"/>
                </a:lnTo>
                <a:lnTo>
                  <a:pt x="519" y="78"/>
                </a:lnTo>
                <a:lnTo>
                  <a:pt x="519" y="103"/>
                </a:lnTo>
                <a:lnTo>
                  <a:pt x="505" y="103"/>
                </a:lnTo>
                <a:lnTo>
                  <a:pt x="505" y="117"/>
                </a:lnTo>
                <a:lnTo>
                  <a:pt x="491" y="117"/>
                </a:lnTo>
                <a:lnTo>
                  <a:pt x="491" y="129"/>
                </a:lnTo>
                <a:lnTo>
                  <a:pt x="477" y="129"/>
                </a:lnTo>
                <a:lnTo>
                  <a:pt x="477" y="143"/>
                </a:lnTo>
                <a:lnTo>
                  <a:pt x="392" y="143"/>
                </a:lnTo>
                <a:lnTo>
                  <a:pt x="392" y="156"/>
                </a:lnTo>
                <a:lnTo>
                  <a:pt x="407" y="156"/>
                </a:lnTo>
                <a:lnTo>
                  <a:pt x="407" y="168"/>
                </a:lnTo>
                <a:lnTo>
                  <a:pt x="421" y="168"/>
                </a:lnTo>
                <a:lnTo>
                  <a:pt x="421" y="181"/>
                </a:lnTo>
                <a:lnTo>
                  <a:pt x="436" y="181"/>
                </a:lnTo>
                <a:lnTo>
                  <a:pt x="436" y="194"/>
                </a:lnTo>
                <a:lnTo>
                  <a:pt x="449" y="194"/>
                </a:lnTo>
                <a:lnTo>
                  <a:pt x="449" y="220"/>
                </a:lnTo>
                <a:lnTo>
                  <a:pt x="436" y="220"/>
                </a:lnTo>
                <a:lnTo>
                  <a:pt x="436" y="246"/>
                </a:lnTo>
                <a:lnTo>
                  <a:pt x="421" y="246"/>
                </a:lnTo>
                <a:lnTo>
                  <a:pt x="421" y="259"/>
                </a:lnTo>
                <a:lnTo>
                  <a:pt x="392" y="259"/>
                </a:lnTo>
                <a:lnTo>
                  <a:pt x="392" y="271"/>
                </a:lnTo>
                <a:lnTo>
                  <a:pt x="365" y="271"/>
                </a:lnTo>
                <a:lnTo>
                  <a:pt x="365" y="285"/>
                </a:lnTo>
                <a:lnTo>
                  <a:pt x="267" y="285"/>
                </a:lnTo>
                <a:lnTo>
                  <a:pt x="267" y="271"/>
                </a:lnTo>
                <a:lnTo>
                  <a:pt x="252" y="271"/>
                </a:lnTo>
                <a:lnTo>
                  <a:pt x="252" y="259"/>
                </a:lnTo>
                <a:lnTo>
                  <a:pt x="239" y="259"/>
                </a:lnTo>
                <a:lnTo>
                  <a:pt x="239" y="246"/>
                </a:lnTo>
                <a:lnTo>
                  <a:pt x="224" y="246"/>
                </a:lnTo>
                <a:lnTo>
                  <a:pt x="224" y="194"/>
                </a:lnTo>
                <a:lnTo>
                  <a:pt x="239" y="194"/>
                </a:lnTo>
                <a:lnTo>
                  <a:pt x="239" y="168"/>
                </a:lnTo>
                <a:lnTo>
                  <a:pt x="252" y="168"/>
                </a:lnTo>
                <a:lnTo>
                  <a:pt x="252" y="156"/>
                </a:lnTo>
                <a:lnTo>
                  <a:pt x="267" y="156"/>
                </a:lnTo>
                <a:lnTo>
                  <a:pt x="267" y="143"/>
                </a:lnTo>
                <a:lnTo>
                  <a:pt x="280" y="143"/>
                </a:lnTo>
                <a:lnTo>
                  <a:pt x="280" y="156"/>
                </a:lnTo>
                <a:lnTo>
                  <a:pt x="267" y="156"/>
                </a:lnTo>
                <a:lnTo>
                  <a:pt x="267" y="168"/>
                </a:lnTo>
                <a:lnTo>
                  <a:pt x="252" y="168"/>
                </a:lnTo>
                <a:lnTo>
                  <a:pt x="252" y="194"/>
                </a:lnTo>
                <a:lnTo>
                  <a:pt x="239" y="194"/>
                </a:lnTo>
                <a:lnTo>
                  <a:pt x="239" y="246"/>
                </a:lnTo>
                <a:lnTo>
                  <a:pt x="252" y="246"/>
                </a:lnTo>
                <a:lnTo>
                  <a:pt x="252" y="259"/>
                </a:lnTo>
                <a:lnTo>
                  <a:pt x="267" y="259"/>
                </a:lnTo>
                <a:lnTo>
                  <a:pt x="267" y="271"/>
                </a:lnTo>
                <a:lnTo>
                  <a:pt x="365" y="271"/>
                </a:lnTo>
                <a:lnTo>
                  <a:pt x="365" y="259"/>
                </a:lnTo>
                <a:lnTo>
                  <a:pt x="392" y="259"/>
                </a:lnTo>
                <a:lnTo>
                  <a:pt x="392" y="246"/>
                </a:lnTo>
                <a:lnTo>
                  <a:pt x="421" y="246"/>
                </a:lnTo>
                <a:lnTo>
                  <a:pt x="421" y="220"/>
                </a:lnTo>
                <a:lnTo>
                  <a:pt x="436" y="220"/>
                </a:lnTo>
                <a:lnTo>
                  <a:pt x="436" y="194"/>
                </a:lnTo>
                <a:lnTo>
                  <a:pt x="421" y="194"/>
                </a:lnTo>
                <a:lnTo>
                  <a:pt x="421" y="181"/>
                </a:lnTo>
                <a:lnTo>
                  <a:pt x="407" y="181"/>
                </a:lnTo>
                <a:lnTo>
                  <a:pt x="407" y="168"/>
                </a:lnTo>
                <a:lnTo>
                  <a:pt x="392" y="168"/>
                </a:lnTo>
                <a:lnTo>
                  <a:pt x="392" y="156"/>
                </a:lnTo>
                <a:lnTo>
                  <a:pt x="379" y="156"/>
                </a:lnTo>
                <a:lnTo>
                  <a:pt x="379" y="129"/>
                </a:lnTo>
                <a:lnTo>
                  <a:pt x="365" y="129"/>
                </a:lnTo>
                <a:lnTo>
                  <a:pt x="365" y="103"/>
                </a:lnTo>
                <a:lnTo>
                  <a:pt x="350" y="103"/>
                </a:lnTo>
                <a:lnTo>
                  <a:pt x="350" y="91"/>
                </a:lnTo>
                <a:lnTo>
                  <a:pt x="337" y="91"/>
                </a:lnTo>
                <a:lnTo>
                  <a:pt x="337" y="103"/>
                </a:lnTo>
                <a:lnTo>
                  <a:pt x="295" y="103"/>
                </a:lnTo>
                <a:lnTo>
                  <a:pt x="295" y="117"/>
                </a:lnTo>
                <a:lnTo>
                  <a:pt x="252" y="117"/>
                </a:lnTo>
                <a:lnTo>
                  <a:pt x="252" y="129"/>
                </a:lnTo>
                <a:lnTo>
                  <a:pt x="239" y="129"/>
                </a:lnTo>
                <a:lnTo>
                  <a:pt x="239" y="143"/>
                </a:lnTo>
                <a:lnTo>
                  <a:pt x="224" y="143"/>
                </a:lnTo>
                <a:lnTo>
                  <a:pt x="224" y="156"/>
                </a:lnTo>
                <a:lnTo>
                  <a:pt x="126" y="156"/>
                </a:lnTo>
                <a:lnTo>
                  <a:pt x="126" y="168"/>
                </a:lnTo>
                <a:lnTo>
                  <a:pt x="112" y="168"/>
                </a:lnTo>
                <a:lnTo>
                  <a:pt x="112" y="181"/>
                </a:lnTo>
                <a:lnTo>
                  <a:pt x="98" y="181"/>
                </a:lnTo>
                <a:lnTo>
                  <a:pt x="98" y="194"/>
                </a:lnTo>
                <a:lnTo>
                  <a:pt x="84" y="194"/>
                </a:lnTo>
                <a:lnTo>
                  <a:pt x="84" y="181"/>
                </a:lnTo>
                <a:lnTo>
                  <a:pt x="98" y="181"/>
                </a:lnTo>
                <a:lnTo>
                  <a:pt x="98" y="168"/>
                </a:lnTo>
                <a:lnTo>
                  <a:pt x="112" y="168"/>
                </a:lnTo>
                <a:lnTo>
                  <a:pt x="112" y="156"/>
                </a:lnTo>
                <a:lnTo>
                  <a:pt x="126" y="156"/>
                </a:lnTo>
                <a:lnTo>
                  <a:pt x="126" y="143"/>
                </a:lnTo>
                <a:lnTo>
                  <a:pt x="112" y="143"/>
                </a:lnTo>
                <a:lnTo>
                  <a:pt x="112" y="129"/>
                </a:lnTo>
                <a:lnTo>
                  <a:pt x="98" y="129"/>
                </a:lnTo>
                <a:lnTo>
                  <a:pt x="98" y="117"/>
                </a:lnTo>
                <a:lnTo>
                  <a:pt x="84" y="117"/>
                </a:lnTo>
                <a:lnTo>
                  <a:pt x="84" y="103"/>
                </a:lnTo>
                <a:lnTo>
                  <a:pt x="56" y="103"/>
                </a:lnTo>
                <a:lnTo>
                  <a:pt x="56" y="117"/>
                </a:lnTo>
                <a:lnTo>
                  <a:pt x="28" y="117"/>
                </a:lnTo>
                <a:lnTo>
                  <a:pt x="28" y="129"/>
                </a:lnTo>
                <a:lnTo>
                  <a:pt x="14" y="129"/>
                </a:lnTo>
                <a:lnTo>
                  <a:pt x="14" y="143"/>
                </a:lnTo>
                <a:lnTo>
                  <a:pt x="0" y="143"/>
                </a:lnTo>
                <a:lnTo>
                  <a:pt x="0" y="129"/>
                </a:lnTo>
                <a:lnTo>
                  <a:pt x="14" y="129"/>
                </a:lnTo>
                <a:lnTo>
                  <a:pt x="14" y="117"/>
                </a:lnTo>
                <a:lnTo>
                  <a:pt x="28" y="117"/>
                </a:lnTo>
                <a:lnTo>
                  <a:pt x="28" y="103"/>
                </a:lnTo>
                <a:lnTo>
                  <a:pt x="56" y="103"/>
                </a:lnTo>
                <a:lnTo>
                  <a:pt x="56" y="91"/>
                </a:lnTo>
                <a:lnTo>
                  <a:pt x="84" y="91"/>
                </a:lnTo>
                <a:lnTo>
                  <a:pt x="84" y="65"/>
                </a:lnTo>
                <a:lnTo>
                  <a:pt x="98" y="65"/>
                </a:lnTo>
                <a:lnTo>
                  <a:pt x="98" y="39"/>
                </a:lnTo>
                <a:lnTo>
                  <a:pt x="112" y="39"/>
                </a:lnTo>
                <a:lnTo>
                  <a:pt x="112" y="26"/>
                </a:lnTo>
                <a:lnTo>
                  <a:pt x="140" y="26"/>
                </a:lnTo>
                <a:lnTo>
                  <a:pt x="140" y="14"/>
                </a:lnTo>
                <a:lnTo>
                  <a:pt x="168" y="14"/>
                </a:lnTo>
                <a:lnTo>
                  <a:pt x="168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6002338" y="3270250"/>
            <a:ext cx="66675" cy="58738"/>
          </a:xfrm>
          <a:custGeom>
            <a:rect b="b" l="l" r="r" t="t"/>
            <a:pathLst>
              <a:path extrusionOk="0" h="37" w="42">
                <a:moveTo>
                  <a:pt x="28" y="0"/>
                </a:moveTo>
                <a:lnTo>
                  <a:pt x="41" y="0"/>
                </a:lnTo>
                <a:lnTo>
                  <a:pt x="41" y="12"/>
                </a:lnTo>
                <a:lnTo>
                  <a:pt x="28" y="12"/>
                </a:lnTo>
                <a:lnTo>
                  <a:pt x="28" y="24"/>
                </a:lnTo>
                <a:lnTo>
                  <a:pt x="14" y="24"/>
                </a:lnTo>
                <a:lnTo>
                  <a:pt x="14" y="36"/>
                </a:lnTo>
                <a:lnTo>
                  <a:pt x="0" y="36"/>
                </a:lnTo>
                <a:lnTo>
                  <a:pt x="0" y="24"/>
                </a:lnTo>
                <a:lnTo>
                  <a:pt x="14" y="24"/>
                </a:lnTo>
                <a:lnTo>
                  <a:pt x="14" y="12"/>
                </a:lnTo>
                <a:lnTo>
                  <a:pt x="28" y="12"/>
                </a:lnTo>
                <a:lnTo>
                  <a:pt x="28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249988" y="3270250"/>
            <a:ext cx="244475" cy="204788"/>
          </a:xfrm>
          <a:custGeom>
            <a:rect b="b" l="l" r="r" t="t"/>
            <a:pathLst>
              <a:path extrusionOk="0" h="129" w="154">
                <a:moveTo>
                  <a:pt x="69" y="0"/>
                </a:moveTo>
                <a:lnTo>
                  <a:pt x="125" y="0"/>
                </a:lnTo>
                <a:lnTo>
                  <a:pt x="125" y="12"/>
                </a:lnTo>
                <a:lnTo>
                  <a:pt x="140" y="12"/>
                </a:lnTo>
                <a:lnTo>
                  <a:pt x="140" y="26"/>
                </a:lnTo>
                <a:lnTo>
                  <a:pt x="153" y="26"/>
                </a:lnTo>
                <a:lnTo>
                  <a:pt x="153" y="102"/>
                </a:lnTo>
                <a:lnTo>
                  <a:pt x="140" y="102"/>
                </a:lnTo>
                <a:lnTo>
                  <a:pt x="140" y="116"/>
                </a:lnTo>
                <a:lnTo>
                  <a:pt x="125" y="116"/>
                </a:lnTo>
                <a:lnTo>
                  <a:pt x="125" y="128"/>
                </a:lnTo>
                <a:lnTo>
                  <a:pt x="28" y="128"/>
                </a:lnTo>
                <a:lnTo>
                  <a:pt x="28" y="116"/>
                </a:lnTo>
                <a:lnTo>
                  <a:pt x="13" y="116"/>
                </a:lnTo>
                <a:lnTo>
                  <a:pt x="13" y="102"/>
                </a:lnTo>
                <a:lnTo>
                  <a:pt x="0" y="102"/>
                </a:lnTo>
                <a:lnTo>
                  <a:pt x="0" y="51"/>
                </a:lnTo>
                <a:lnTo>
                  <a:pt x="13" y="51"/>
                </a:lnTo>
                <a:lnTo>
                  <a:pt x="13" y="26"/>
                </a:lnTo>
                <a:lnTo>
                  <a:pt x="41" y="26"/>
                </a:lnTo>
                <a:lnTo>
                  <a:pt x="41" y="12"/>
                </a:lnTo>
                <a:lnTo>
                  <a:pt x="69" y="12"/>
                </a:lnTo>
                <a:lnTo>
                  <a:pt x="69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056438" y="3270250"/>
            <a:ext cx="131762" cy="141288"/>
          </a:xfrm>
          <a:custGeom>
            <a:rect b="b" l="l" r="r" t="t"/>
            <a:pathLst>
              <a:path extrusionOk="0" h="89" w="83">
                <a:moveTo>
                  <a:pt x="0" y="0"/>
                </a:moveTo>
                <a:lnTo>
                  <a:pt x="55" y="0"/>
                </a:lnTo>
                <a:lnTo>
                  <a:pt x="55" y="12"/>
                </a:lnTo>
                <a:lnTo>
                  <a:pt x="69" y="12"/>
                </a:lnTo>
                <a:lnTo>
                  <a:pt x="69" y="25"/>
                </a:lnTo>
                <a:lnTo>
                  <a:pt x="82" y="25"/>
                </a:lnTo>
                <a:lnTo>
                  <a:pt x="82" y="63"/>
                </a:lnTo>
                <a:lnTo>
                  <a:pt x="69" y="63"/>
                </a:lnTo>
                <a:lnTo>
                  <a:pt x="69" y="51"/>
                </a:lnTo>
                <a:lnTo>
                  <a:pt x="55" y="51"/>
                </a:lnTo>
                <a:lnTo>
                  <a:pt x="55" y="25"/>
                </a:lnTo>
                <a:lnTo>
                  <a:pt x="41" y="25"/>
                </a:lnTo>
                <a:lnTo>
                  <a:pt x="41" y="88"/>
                </a:lnTo>
                <a:lnTo>
                  <a:pt x="14" y="88"/>
                </a:lnTo>
                <a:lnTo>
                  <a:pt x="14" y="12"/>
                </a:lnTo>
                <a:lnTo>
                  <a:pt x="0" y="12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677025" y="3290888"/>
            <a:ext cx="220663" cy="163512"/>
          </a:xfrm>
          <a:custGeom>
            <a:rect b="b" l="l" r="r" t="t"/>
            <a:pathLst>
              <a:path extrusionOk="0" h="103" w="139">
                <a:moveTo>
                  <a:pt x="41" y="0"/>
                </a:moveTo>
                <a:lnTo>
                  <a:pt x="125" y="0"/>
                </a:lnTo>
                <a:lnTo>
                  <a:pt x="125" y="13"/>
                </a:lnTo>
                <a:lnTo>
                  <a:pt x="138" y="13"/>
                </a:lnTo>
                <a:lnTo>
                  <a:pt x="138" y="76"/>
                </a:lnTo>
                <a:lnTo>
                  <a:pt x="125" y="76"/>
                </a:lnTo>
                <a:lnTo>
                  <a:pt x="125" y="89"/>
                </a:lnTo>
                <a:lnTo>
                  <a:pt x="110" y="89"/>
                </a:lnTo>
                <a:lnTo>
                  <a:pt x="110" y="102"/>
                </a:lnTo>
                <a:lnTo>
                  <a:pt x="13" y="102"/>
                </a:lnTo>
                <a:lnTo>
                  <a:pt x="13" y="76"/>
                </a:lnTo>
                <a:lnTo>
                  <a:pt x="0" y="76"/>
                </a:lnTo>
                <a:lnTo>
                  <a:pt x="0" y="38"/>
                </a:lnTo>
                <a:lnTo>
                  <a:pt x="13" y="38"/>
                </a:lnTo>
                <a:lnTo>
                  <a:pt x="13" y="26"/>
                </a:lnTo>
                <a:lnTo>
                  <a:pt x="28" y="26"/>
                </a:lnTo>
                <a:lnTo>
                  <a:pt x="28" y="13"/>
                </a:lnTo>
                <a:lnTo>
                  <a:pt x="41" y="13"/>
                </a:lnTo>
                <a:lnTo>
                  <a:pt x="41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7102475" y="3290888"/>
            <a:ext cx="19050" cy="17462"/>
          </a:xfrm>
          <a:custGeom>
            <a:rect b="b" l="l" r="r" t="t"/>
            <a:pathLst>
              <a:path extrusionOk="0" h="11" w="12">
                <a:moveTo>
                  <a:pt x="0" y="0"/>
                </a:moveTo>
                <a:lnTo>
                  <a:pt x="11" y="0"/>
                </a:lnTo>
                <a:lnTo>
                  <a:pt x="11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6519863" y="3354388"/>
            <a:ext cx="131762" cy="57150"/>
          </a:xfrm>
          <a:custGeom>
            <a:rect b="b" l="l" r="r" t="t"/>
            <a:pathLst>
              <a:path extrusionOk="0" h="36" w="83">
                <a:moveTo>
                  <a:pt x="41" y="0"/>
                </a:moveTo>
                <a:lnTo>
                  <a:pt x="82" y="0"/>
                </a:lnTo>
                <a:lnTo>
                  <a:pt x="82" y="12"/>
                </a:lnTo>
                <a:lnTo>
                  <a:pt x="69" y="12"/>
                </a:lnTo>
                <a:lnTo>
                  <a:pt x="69" y="24"/>
                </a:lnTo>
                <a:lnTo>
                  <a:pt x="27" y="24"/>
                </a:lnTo>
                <a:lnTo>
                  <a:pt x="27" y="35"/>
                </a:lnTo>
                <a:lnTo>
                  <a:pt x="0" y="35"/>
                </a:lnTo>
                <a:lnTo>
                  <a:pt x="0" y="24"/>
                </a:lnTo>
                <a:lnTo>
                  <a:pt x="13" y="24"/>
                </a:lnTo>
                <a:lnTo>
                  <a:pt x="13" y="12"/>
                </a:lnTo>
                <a:lnTo>
                  <a:pt x="41" y="12"/>
                </a:lnTo>
                <a:lnTo>
                  <a:pt x="41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5019675" y="3457575"/>
            <a:ext cx="712788" cy="952500"/>
          </a:xfrm>
          <a:custGeom>
            <a:rect b="b" l="l" r="r" t="t"/>
            <a:pathLst>
              <a:path extrusionOk="0" h="600" w="449">
                <a:moveTo>
                  <a:pt x="210" y="0"/>
                </a:moveTo>
                <a:lnTo>
                  <a:pt x="252" y="0"/>
                </a:lnTo>
                <a:lnTo>
                  <a:pt x="252" y="13"/>
                </a:lnTo>
                <a:lnTo>
                  <a:pt x="279" y="13"/>
                </a:lnTo>
                <a:lnTo>
                  <a:pt x="279" y="26"/>
                </a:lnTo>
                <a:lnTo>
                  <a:pt x="293" y="26"/>
                </a:lnTo>
                <a:lnTo>
                  <a:pt x="293" y="260"/>
                </a:lnTo>
                <a:lnTo>
                  <a:pt x="308" y="260"/>
                </a:lnTo>
                <a:lnTo>
                  <a:pt x="308" y="248"/>
                </a:lnTo>
                <a:lnTo>
                  <a:pt x="336" y="248"/>
                </a:lnTo>
                <a:lnTo>
                  <a:pt x="336" y="260"/>
                </a:lnTo>
                <a:lnTo>
                  <a:pt x="350" y="260"/>
                </a:lnTo>
                <a:lnTo>
                  <a:pt x="350" y="248"/>
                </a:lnTo>
                <a:lnTo>
                  <a:pt x="363" y="248"/>
                </a:lnTo>
                <a:lnTo>
                  <a:pt x="363" y="260"/>
                </a:lnTo>
                <a:lnTo>
                  <a:pt x="378" y="260"/>
                </a:lnTo>
                <a:lnTo>
                  <a:pt x="378" y="313"/>
                </a:lnTo>
                <a:lnTo>
                  <a:pt x="392" y="313"/>
                </a:lnTo>
                <a:lnTo>
                  <a:pt x="392" y="273"/>
                </a:lnTo>
                <a:lnTo>
                  <a:pt x="406" y="273"/>
                </a:lnTo>
                <a:lnTo>
                  <a:pt x="406" y="299"/>
                </a:lnTo>
                <a:lnTo>
                  <a:pt x="420" y="299"/>
                </a:lnTo>
                <a:lnTo>
                  <a:pt x="420" y="325"/>
                </a:lnTo>
                <a:lnTo>
                  <a:pt x="433" y="325"/>
                </a:lnTo>
                <a:lnTo>
                  <a:pt x="433" y="351"/>
                </a:lnTo>
                <a:lnTo>
                  <a:pt x="448" y="351"/>
                </a:lnTo>
                <a:lnTo>
                  <a:pt x="448" y="455"/>
                </a:lnTo>
                <a:lnTo>
                  <a:pt x="433" y="455"/>
                </a:lnTo>
                <a:lnTo>
                  <a:pt x="433" y="469"/>
                </a:lnTo>
                <a:lnTo>
                  <a:pt x="420" y="469"/>
                </a:lnTo>
                <a:lnTo>
                  <a:pt x="420" y="482"/>
                </a:lnTo>
                <a:lnTo>
                  <a:pt x="392" y="482"/>
                </a:lnTo>
                <a:lnTo>
                  <a:pt x="392" y="495"/>
                </a:lnTo>
                <a:lnTo>
                  <a:pt x="363" y="495"/>
                </a:lnTo>
                <a:lnTo>
                  <a:pt x="363" y="508"/>
                </a:lnTo>
                <a:lnTo>
                  <a:pt x="350" y="508"/>
                </a:lnTo>
                <a:lnTo>
                  <a:pt x="350" y="521"/>
                </a:lnTo>
                <a:lnTo>
                  <a:pt x="308" y="521"/>
                </a:lnTo>
                <a:lnTo>
                  <a:pt x="308" y="535"/>
                </a:lnTo>
                <a:lnTo>
                  <a:pt x="279" y="535"/>
                </a:lnTo>
                <a:lnTo>
                  <a:pt x="279" y="548"/>
                </a:lnTo>
                <a:lnTo>
                  <a:pt x="252" y="548"/>
                </a:lnTo>
                <a:lnTo>
                  <a:pt x="252" y="559"/>
                </a:lnTo>
                <a:lnTo>
                  <a:pt x="224" y="559"/>
                </a:lnTo>
                <a:lnTo>
                  <a:pt x="224" y="572"/>
                </a:lnTo>
                <a:lnTo>
                  <a:pt x="168" y="572"/>
                </a:lnTo>
                <a:lnTo>
                  <a:pt x="168" y="586"/>
                </a:lnTo>
                <a:lnTo>
                  <a:pt x="112" y="586"/>
                </a:lnTo>
                <a:lnTo>
                  <a:pt x="112" y="599"/>
                </a:lnTo>
                <a:lnTo>
                  <a:pt x="55" y="599"/>
                </a:lnTo>
                <a:lnTo>
                  <a:pt x="55" y="586"/>
                </a:lnTo>
                <a:lnTo>
                  <a:pt x="41" y="586"/>
                </a:lnTo>
                <a:lnTo>
                  <a:pt x="41" y="572"/>
                </a:lnTo>
                <a:lnTo>
                  <a:pt x="28" y="572"/>
                </a:lnTo>
                <a:lnTo>
                  <a:pt x="28" y="548"/>
                </a:lnTo>
                <a:lnTo>
                  <a:pt x="13" y="548"/>
                </a:lnTo>
                <a:lnTo>
                  <a:pt x="13" y="508"/>
                </a:lnTo>
                <a:lnTo>
                  <a:pt x="0" y="508"/>
                </a:lnTo>
                <a:lnTo>
                  <a:pt x="0" y="417"/>
                </a:lnTo>
                <a:lnTo>
                  <a:pt x="13" y="417"/>
                </a:lnTo>
                <a:lnTo>
                  <a:pt x="13" y="390"/>
                </a:lnTo>
                <a:lnTo>
                  <a:pt x="28" y="390"/>
                </a:lnTo>
                <a:lnTo>
                  <a:pt x="28" y="378"/>
                </a:lnTo>
                <a:lnTo>
                  <a:pt x="70" y="378"/>
                </a:lnTo>
                <a:lnTo>
                  <a:pt x="70" y="364"/>
                </a:lnTo>
                <a:lnTo>
                  <a:pt x="55" y="364"/>
                </a:lnTo>
                <a:lnTo>
                  <a:pt x="55" y="325"/>
                </a:lnTo>
                <a:lnTo>
                  <a:pt x="70" y="325"/>
                </a:lnTo>
                <a:lnTo>
                  <a:pt x="70" y="313"/>
                </a:lnTo>
                <a:lnTo>
                  <a:pt x="83" y="313"/>
                </a:lnTo>
                <a:lnTo>
                  <a:pt x="83" y="299"/>
                </a:lnTo>
                <a:lnTo>
                  <a:pt x="139" y="299"/>
                </a:lnTo>
                <a:lnTo>
                  <a:pt x="139" y="286"/>
                </a:lnTo>
                <a:lnTo>
                  <a:pt x="112" y="286"/>
                </a:lnTo>
                <a:lnTo>
                  <a:pt x="112" y="273"/>
                </a:lnTo>
                <a:lnTo>
                  <a:pt x="125" y="273"/>
                </a:lnTo>
                <a:lnTo>
                  <a:pt x="125" y="260"/>
                </a:lnTo>
                <a:lnTo>
                  <a:pt x="139" y="260"/>
                </a:lnTo>
                <a:lnTo>
                  <a:pt x="139" y="248"/>
                </a:lnTo>
                <a:lnTo>
                  <a:pt x="195" y="248"/>
                </a:lnTo>
                <a:lnTo>
                  <a:pt x="195" y="235"/>
                </a:lnTo>
                <a:lnTo>
                  <a:pt x="168" y="235"/>
                </a:lnTo>
                <a:lnTo>
                  <a:pt x="168" y="195"/>
                </a:lnTo>
                <a:lnTo>
                  <a:pt x="154" y="195"/>
                </a:lnTo>
                <a:lnTo>
                  <a:pt x="154" y="143"/>
                </a:lnTo>
                <a:lnTo>
                  <a:pt x="168" y="143"/>
                </a:lnTo>
                <a:lnTo>
                  <a:pt x="168" y="65"/>
                </a:lnTo>
                <a:lnTo>
                  <a:pt x="182" y="65"/>
                </a:lnTo>
                <a:lnTo>
                  <a:pt x="182" y="40"/>
                </a:lnTo>
                <a:lnTo>
                  <a:pt x="195" y="40"/>
                </a:lnTo>
                <a:lnTo>
                  <a:pt x="195" y="13"/>
                </a:lnTo>
                <a:lnTo>
                  <a:pt x="210" y="13"/>
                </a:lnTo>
                <a:lnTo>
                  <a:pt x="21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7124700" y="3457575"/>
            <a:ext cx="109538" cy="163513"/>
          </a:xfrm>
          <a:custGeom>
            <a:rect b="b" l="l" r="r" t="t"/>
            <a:pathLst>
              <a:path extrusionOk="0" h="103" w="69">
                <a:moveTo>
                  <a:pt x="15" y="0"/>
                </a:moveTo>
                <a:lnTo>
                  <a:pt x="27" y="0"/>
                </a:lnTo>
                <a:lnTo>
                  <a:pt x="27" y="12"/>
                </a:lnTo>
                <a:lnTo>
                  <a:pt x="15" y="12"/>
                </a:lnTo>
                <a:lnTo>
                  <a:pt x="15" y="26"/>
                </a:lnTo>
                <a:lnTo>
                  <a:pt x="27" y="26"/>
                </a:lnTo>
                <a:lnTo>
                  <a:pt x="27" y="51"/>
                </a:lnTo>
                <a:lnTo>
                  <a:pt x="40" y="51"/>
                </a:lnTo>
                <a:lnTo>
                  <a:pt x="40" y="63"/>
                </a:lnTo>
                <a:lnTo>
                  <a:pt x="54" y="63"/>
                </a:lnTo>
                <a:lnTo>
                  <a:pt x="54" y="76"/>
                </a:lnTo>
                <a:lnTo>
                  <a:pt x="68" y="76"/>
                </a:lnTo>
                <a:lnTo>
                  <a:pt x="68" y="102"/>
                </a:lnTo>
                <a:lnTo>
                  <a:pt x="54" y="102"/>
                </a:lnTo>
                <a:lnTo>
                  <a:pt x="54" y="76"/>
                </a:lnTo>
                <a:lnTo>
                  <a:pt x="40" y="76"/>
                </a:lnTo>
                <a:lnTo>
                  <a:pt x="40" y="63"/>
                </a:lnTo>
                <a:lnTo>
                  <a:pt x="27" y="63"/>
                </a:lnTo>
                <a:lnTo>
                  <a:pt x="27" y="51"/>
                </a:lnTo>
                <a:lnTo>
                  <a:pt x="15" y="51"/>
                </a:lnTo>
                <a:lnTo>
                  <a:pt x="15" y="26"/>
                </a:lnTo>
                <a:lnTo>
                  <a:pt x="0" y="26"/>
                </a:lnTo>
                <a:lnTo>
                  <a:pt x="0" y="12"/>
                </a:lnTo>
                <a:lnTo>
                  <a:pt x="15" y="12"/>
                </a:lnTo>
                <a:lnTo>
                  <a:pt x="1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5959475" y="3478213"/>
            <a:ext cx="63500" cy="58737"/>
          </a:xfrm>
          <a:custGeom>
            <a:rect b="b" l="l" r="r" t="t"/>
            <a:pathLst>
              <a:path extrusionOk="0" h="37" w="40">
                <a:moveTo>
                  <a:pt x="13" y="0"/>
                </a:moveTo>
                <a:lnTo>
                  <a:pt x="39" y="0"/>
                </a:lnTo>
                <a:lnTo>
                  <a:pt x="39" y="12"/>
                </a:lnTo>
                <a:lnTo>
                  <a:pt x="13" y="12"/>
                </a:lnTo>
                <a:lnTo>
                  <a:pt x="13" y="36"/>
                </a:lnTo>
                <a:lnTo>
                  <a:pt x="0" y="36"/>
                </a:lnTo>
                <a:lnTo>
                  <a:pt x="0" y="12"/>
                </a:lnTo>
                <a:lnTo>
                  <a:pt x="13" y="12"/>
                </a:lnTo>
                <a:lnTo>
                  <a:pt x="13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6002338" y="3603625"/>
            <a:ext cx="44450" cy="100013"/>
          </a:xfrm>
          <a:custGeom>
            <a:rect b="b" l="l" r="r" t="t"/>
            <a:pathLst>
              <a:path extrusionOk="0" h="63" w="28">
                <a:moveTo>
                  <a:pt x="14" y="0"/>
                </a:moveTo>
                <a:lnTo>
                  <a:pt x="27" y="0"/>
                </a:lnTo>
                <a:lnTo>
                  <a:pt x="27" y="25"/>
                </a:lnTo>
                <a:lnTo>
                  <a:pt x="14" y="25"/>
                </a:lnTo>
                <a:lnTo>
                  <a:pt x="14" y="62"/>
                </a:lnTo>
                <a:lnTo>
                  <a:pt x="0" y="62"/>
                </a:lnTo>
                <a:lnTo>
                  <a:pt x="0" y="25"/>
                </a:lnTo>
                <a:lnTo>
                  <a:pt x="14" y="25"/>
                </a:lnTo>
                <a:lnTo>
                  <a:pt x="14" y="12"/>
                </a:lnTo>
                <a:lnTo>
                  <a:pt x="1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7259638" y="3644900"/>
            <a:ext cx="19050" cy="17463"/>
          </a:xfrm>
          <a:custGeom>
            <a:rect b="b" l="l" r="r" t="t"/>
            <a:pathLst>
              <a:path extrusionOk="0" h="11" w="12">
                <a:moveTo>
                  <a:pt x="0" y="0"/>
                </a:moveTo>
                <a:lnTo>
                  <a:pt x="11" y="0"/>
                </a:lnTo>
                <a:lnTo>
                  <a:pt x="11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272213" y="3748088"/>
            <a:ext cx="669925" cy="163512"/>
          </a:xfrm>
          <a:custGeom>
            <a:rect b="b" l="l" r="r" t="t"/>
            <a:pathLst>
              <a:path extrusionOk="0" h="103" w="422">
                <a:moveTo>
                  <a:pt x="71" y="0"/>
                </a:moveTo>
                <a:lnTo>
                  <a:pt x="86" y="0"/>
                </a:lnTo>
                <a:lnTo>
                  <a:pt x="86" y="26"/>
                </a:lnTo>
                <a:lnTo>
                  <a:pt x="71" y="26"/>
                </a:lnTo>
                <a:lnTo>
                  <a:pt x="71" y="39"/>
                </a:lnTo>
                <a:lnTo>
                  <a:pt x="86" y="39"/>
                </a:lnTo>
                <a:lnTo>
                  <a:pt x="86" y="51"/>
                </a:lnTo>
                <a:lnTo>
                  <a:pt x="99" y="51"/>
                </a:lnTo>
                <a:lnTo>
                  <a:pt x="99" y="64"/>
                </a:lnTo>
                <a:lnTo>
                  <a:pt x="127" y="64"/>
                </a:lnTo>
                <a:lnTo>
                  <a:pt x="127" y="77"/>
                </a:lnTo>
                <a:lnTo>
                  <a:pt x="155" y="77"/>
                </a:lnTo>
                <a:lnTo>
                  <a:pt x="155" y="90"/>
                </a:lnTo>
                <a:lnTo>
                  <a:pt x="253" y="90"/>
                </a:lnTo>
                <a:lnTo>
                  <a:pt x="253" y="77"/>
                </a:lnTo>
                <a:lnTo>
                  <a:pt x="295" y="77"/>
                </a:lnTo>
                <a:lnTo>
                  <a:pt x="295" y="64"/>
                </a:lnTo>
                <a:lnTo>
                  <a:pt x="309" y="64"/>
                </a:lnTo>
                <a:lnTo>
                  <a:pt x="309" y="51"/>
                </a:lnTo>
                <a:lnTo>
                  <a:pt x="323" y="51"/>
                </a:lnTo>
                <a:lnTo>
                  <a:pt x="323" y="39"/>
                </a:lnTo>
                <a:lnTo>
                  <a:pt x="337" y="39"/>
                </a:lnTo>
                <a:lnTo>
                  <a:pt x="337" y="0"/>
                </a:lnTo>
                <a:lnTo>
                  <a:pt x="351" y="0"/>
                </a:lnTo>
                <a:lnTo>
                  <a:pt x="351" y="39"/>
                </a:lnTo>
                <a:lnTo>
                  <a:pt x="366" y="39"/>
                </a:lnTo>
                <a:lnTo>
                  <a:pt x="366" y="51"/>
                </a:lnTo>
                <a:lnTo>
                  <a:pt x="380" y="51"/>
                </a:lnTo>
                <a:lnTo>
                  <a:pt x="380" y="64"/>
                </a:lnTo>
                <a:lnTo>
                  <a:pt x="421" y="64"/>
                </a:lnTo>
                <a:lnTo>
                  <a:pt x="421" y="77"/>
                </a:lnTo>
                <a:lnTo>
                  <a:pt x="380" y="77"/>
                </a:lnTo>
                <a:lnTo>
                  <a:pt x="380" y="64"/>
                </a:lnTo>
                <a:lnTo>
                  <a:pt x="366" y="64"/>
                </a:lnTo>
                <a:lnTo>
                  <a:pt x="366" y="51"/>
                </a:lnTo>
                <a:lnTo>
                  <a:pt x="351" y="51"/>
                </a:lnTo>
                <a:lnTo>
                  <a:pt x="351" y="39"/>
                </a:lnTo>
                <a:lnTo>
                  <a:pt x="337" y="39"/>
                </a:lnTo>
                <a:lnTo>
                  <a:pt x="337" y="51"/>
                </a:lnTo>
                <a:lnTo>
                  <a:pt x="323" y="51"/>
                </a:lnTo>
                <a:lnTo>
                  <a:pt x="323" y="64"/>
                </a:lnTo>
                <a:lnTo>
                  <a:pt x="309" y="64"/>
                </a:lnTo>
                <a:lnTo>
                  <a:pt x="309" y="77"/>
                </a:lnTo>
                <a:lnTo>
                  <a:pt x="295" y="77"/>
                </a:lnTo>
                <a:lnTo>
                  <a:pt x="295" y="90"/>
                </a:lnTo>
                <a:lnTo>
                  <a:pt x="253" y="90"/>
                </a:lnTo>
                <a:lnTo>
                  <a:pt x="253" y="102"/>
                </a:lnTo>
                <a:lnTo>
                  <a:pt x="155" y="102"/>
                </a:lnTo>
                <a:lnTo>
                  <a:pt x="155" y="90"/>
                </a:lnTo>
                <a:lnTo>
                  <a:pt x="127" y="90"/>
                </a:lnTo>
                <a:lnTo>
                  <a:pt x="127" y="77"/>
                </a:lnTo>
                <a:lnTo>
                  <a:pt x="99" y="77"/>
                </a:lnTo>
                <a:lnTo>
                  <a:pt x="99" y="64"/>
                </a:lnTo>
                <a:lnTo>
                  <a:pt x="86" y="64"/>
                </a:lnTo>
                <a:lnTo>
                  <a:pt x="86" y="51"/>
                </a:lnTo>
                <a:lnTo>
                  <a:pt x="71" y="51"/>
                </a:lnTo>
                <a:lnTo>
                  <a:pt x="71" y="39"/>
                </a:lnTo>
                <a:lnTo>
                  <a:pt x="57" y="39"/>
                </a:lnTo>
                <a:lnTo>
                  <a:pt x="57" y="51"/>
                </a:lnTo>
                <a:lnTo>
                  <a:pt x="43" y="51"/>
                </a:lnTo>
                <a:lnTo>
                  <a:pt x="43" y="64"/>
                </a:lnTo>
                <a:lnTo>
                  <a:pt x="29" y="64"/>
                </a:lnTo>
                <a:lnTo>
                  <a:pt x="29" y="77"/>
                </a:lnTo>
                <a:lnTo>
                  <a:pt x="0" y="77"/>
                </a:lnTo>
                <a:lnTo>
                  <a:pt x="0" y="64"/>
                </a:lnTo>
                <a:lnTo>
                  <a:pt x="29" y="64"/>
                </a:lnTo>
                <a:lnTo>
                  <a:pt x="29" y="51"/>
                </a:lnTo>
                <a:lnTo>
                  <a:pt x="43" y="51"/>
                </a:lnTo>
                <a:lnTo>
                  <a:pt x="43" y="39"/>
                </a:lnTo>
                <a:lnTo>
                  <a:pt x="57" y="39"/>
                </a:lnTo>
                <a:lnTo>
                  <a:pt x="57" y="26"/>
                </a:lnTo>
                <a:lnTo>
                  <a:pt x="71" y="26"/>
                </a:lnTo>
                <a:lnTo>
                  <a:pt x="71" y="12"/>
                </a:lnTo>
                <a:lnTo>
                  <a:pt x="71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5106988" y="3851275"/>
            <a:ext cx="377825" cy="414338"/>
          </a:xfrm>
          <a:custGeom>
            <a:rect b="b" l="l" r="r" t="t"/>
            <a:pathLst>
              <a:path extrusionOk="0" h="261" w="238">
                <a:moveTo>
                  <a:pt x="139" y="0"/>
                </a:moveTo>
                <a:lnTo>
                  <a:pt x="168" y="0"/>
                </a:lnTo>
                <a:lnTo>
                  <a:pt x="168" y="14"/>
                </a:lnTo>
                <a:lnTo>
                  <a:pt x="182" y="14"/>
                </a:lnTo>
                <a:lnTo>
                  <a:pt x="182" y="26"/>
                </a:lnTo>
                <a:lnTo>
                  <a:pt x="223" y="26"/>
                </a:lnTo>
                <a:lnTo>
                  <a:pt x="223" y="14"/>
                </a:lnTo>
                <a:lnTo>
                  <a:pt x="237" y="14"/>
                </a:lnTo>
                <a:lnTo>
                  <a:pt x="237" y="26"/>
                </a:lnTo>
                <a:lnTo>
                  <a:pt x="223" y="26"/>
                </a:lnTo>
                <a:lnTo>
                  <a:pt x="223" y="65"/>
                </a:lnTo>
                <a:lnTo>
                  <a:pt x="237" y="65"/>
                </a:lnTo>
                <a:lnTo>
                  <a:pt x="237" y="91"/>
                </a:lnTo>
                <a:lnTo>
                  <a:pt x="223" y="91"/>
                </a:lnTo>
                <a:lnTo>
                  <a:pt x="223" y="117"/>
                </a:lnTo>
                <a:lnTo>
                  <a:pt x="209" y="117"/>
                </a:lnTo>
                <a:lnTo>
                  <a:pt x="209" y="130"/>
                </a:lnTo>
                <a:lnTo>
                  <a:pt x="196" y="130"/>
                </a:lnTo>
                <a:lnTo>
                  <a:pt x="196" y="156"/>
                </a:lnTo>
                <a:lnTo>
                  <a:pt x="182" y="156"/>
                </a:lnTo>
                <a:lnTo>
                  <a:pt x="182" y="169"/>
                </a:lnTo>
                <a:lnTo>
                  <a:pt x="168" y="169"/>
                </a:lnTo>
                <a:lnTo>
                  <a:pt x="168" y="195"/>
                </a:lnTo>
                <a:lnTo>
                  <a:pt x="154" y="195"/>
                </a:lnTo>
                <a:lnTo>
                  <a:pt x="154" y="234"/>
                </a:lnTo>
                <a:lnTo>
                  <a:pt x="139" y="234"/>
                </a:lnTo>
                <a:lnTo>
                  <a:pt x="139" y="260"/>
                </a:lnTo>
                <a:lnTo>
                  <a:pt x="126" y="260"/>
                </a:lnTo>
                <a:lnTo>
                  <a:pt x="126" y="234"/>
                </a:lnTo>
                <a:lnTo>
                  <a:pt x="139" y="234"/>
                </a:lnTo>
                <a:lnTo>
                  <a:pt x="139" y="195"/>
                </a:lnTo>
                <a:lnTo>
                  <a:pt x="154" y="195"/>
                </a:lnTo>
                <a:lnTo>
                  <a:pt x="154" y="156"/>
                </a:lnTo>
                <a:lnTo>
                  <a:pt x="139" y="156"/>
                </a:lnTo>
                <a:lnTo>
                  <a:pt x="139" y="169"/>
                </a:lnTo>
                <a:lnTo>
                  <a:pt x="126" y="169"/>
                </a:lnTo>
                <a:lnTo>
                  <a:pt x="126" y="182"/>
                </a:lnTo>
                <a:lnTo>
                  <a:pt x="112" y="182"/>
                </a:lnTo>
                <a:lnTo>
                  <a:pt x="112" y="195"/>
                </a:lnTo>
                <a:lnTo>
                  <a:pt x="84" y="195"/>
                </a:lnTo>
                <a:lnTo>
                  <a:pt x="84" y="207"/>
                </a:lnTo>
                <a:lnTo>
                  <a:pt x="69" y="207"/>
                </a:lnTo>
                <a:lnTo>
                  <a:pt x="69" y="221"/>
                </a:lnTo>
                <a:lnTo>
                  <a:pt x="15" y="221"/>
                </a:lnTo>
                <a:lnTo>
                  <a:pt x="15" y="234"/>
                </a:lnTo>
                <a:lnTo>
                  <a:pt x="0" y="234"/>
                </a:lnTo>
                <a:lnTo>
                  <a:pt x="0" y="221"/>
                </a:lnTo>
                <a:lnTo>
                  <a:pt x="15" y="221"/>
                </a:lnTo>
                <a:lnTo>
                  <a:pt x="15" y="195"/>
                </a:lnTo>
                <a:lnTo>
                  <a:pt x="0" y="195"/>
                </a:lnTo>
                <a:lnTo>
                  <a:pt x="0" y="169"/>
                </a:lnTo>
                <a:lnTo>
                  <a:pt x="15" y="169"/>
                </a:lnTo>
                <a:lnTo>
                  <a:pt x="15" y="156"/>
                </a:lnTo>
                <a:lnTo>
                  <a:pt x="42" y="156"/>
                </a:lnTo>
                <a:lnTo>
                  <a:pt x="42" y="143"/>
                </a:lnTo>
                <a:lnTo>
                  <a:pt x="15" y="143"/>
                </a:lnTo>
                <a:lnTo>
                  <a:pt x="15" y="130"/>
                </a:lnTo>
                <a:lnTo>
                  <a:pt x="42" y="130"/>
                </a:lnTo>
                <a:lnTo>
                  <a:pt x="42" y="143"/>
                </a:lnTo>
                <a:lnTo>
                  <a:pt x="56" y="143"/>
                </a:lnTo>
                <a:lnTo>
                  <a:pt x="56" y="207"/>
                </a:lnTo>
                <a:lnTo>
                  <a:pt x="69" y="207"/>
                </a:lnTo>
                <a:lnTo>
                  <a:pt x="69" y="195"/>
                </a:lnTo>
                <a:lnTo>
                  <a:pt x="84" y="195"/>
                </a:lnTo>
                <a:lnTo>
                  <a:pt x="84" y="182"/>
                </a:lnTo>
                <a:lnTo>
                  <a:pt x="112" y="182"/>
                </a:lnTo>
                <a:lnTo>
                  <a:pt x="112" y="169"/>
                </a:lnTo>
                <a:lnTo>
                  <a:pt x="126" y="169"/>
                </a:lnTo>
                <a:lnTo>
                  <a:pt x="126" y="156"/>
                </a:lnTo>
                <a:lnTo>
                  <a:pt x="139" y="156"/>
                </a:lnTo>
                <a:lnTo>
                  <a:pt x="139" y="143"/>
                </a:lnTo>
                <a:lnTo>
                  <a:pt x="154" y="143"/>
                </a:lnTo>
                <a:lnTo>
                  <a:pt x="154" y="104"/>
                </a:lnTo>
                <a:lnTo>
                  <a:pt x="139" y="104"/>
                </a:lnTo>
                <a:lnTo>
                  <a:pt x="139" y="91"/>
                </a:lnTo>
                <a:lnTo>
                  <a:pt x="126" y="91"/>
                </a:lnTo>
                <a:lnTo>
                  <a:pt x="126" y="77"/>
                </a:lnTo>
                <a:lnTo>
                  <a:pt x="112" y="77"/>
                </a:lnTo>
                <a:lnTo>
                  <a:pt x="112" y="65"/>
                </a:lnTo>
                <a:lnTo>
                  <a:pt x="84" y="65"/>
                </a:lnTo>
                <a:lnTo>
                  <a:pt x="84" y="52"/>
                </a:lnTo>
                <a:lnTo>
                  <a:pt x="112" y="52"/>
                </a:lnTo>
                <a:lnTo>
                  <a:pt x="112" y="65"/>
                </a:lnTo>
                <a:lnTo>
                  <a:pt x="126" y="65"/>
                </a:lnTo>
                <a:lnTo>
                  <a:pt x="126" y="77"/>
                </a:lnTo>
                <a:lnTo>
                  <a:pt x="139" y="77"/>
                </a:lnTo>
                <a:lnTo>
                  <a:pt x="139" y="91"/>
                </a:lnTo>
                <a:lnTo>
                  <a:pt x="154" y="91"/>
                </a:lnTo>
                <a:lnTo>
                  <a:pt x="154" y="104"/>
                </a:lnTo>
                <a:lnTo>
                  <a:pt x="168" y="104"/>
                </a:lnTo>
                <a:lnTo>
                  <a:pt x="168" y="143"/>
                </a:lnTo>
                <a:lnTo>
                  <a:pt x="182" y="143"/>
                </a:lnTo>
                <a:lnTo>
                  <a:pt x="182" y="130"/>
                </a:lnTo>
                <a:lnTo>
                  <a:pt x="196" y="130"/>
                </a:lnTo>
                <a:lnTo>
                  <a:pt x="196" y="117"/>
                </a:lnTo>
                <a:lnTo>
                  <a:pt x="209" y="117"/>
                </a:lnTo>
                <a:lnTo>
                  <a:pt x="209" y="91"/>
                </a:lnTo>
                <a:lnTo>
                  <a:pt x="223" y="91"/>
                </a:lnTo>
                <a:lnTo>
                  <a:pt x="223" y="65"/>
                </a:lnTo>
                <a:lnTo>
                  <a:pt x="209" y="65"/>
                </a:lnTo>
                <a:lnTo>
                  <a:pt x="209" y="77"/>
                </a:lnTo>
                <a:lnTo>
                  <a:pt x="196" y="77"/>
                </a:lnTo>
                <a:lnTo>
                  <a:pt x="196" y="91"/>
                </a:lnTo>
                <a:lnTo>
                  <a:pt x="182" y="91"/>
                </a:lnTo>
                <a:lnTo>
                  <a:pt x="182" y="77"/>
                </a:lnTo>
                <a:lnTo>
                  <a:pt x="168" y="77"/>
                </a:lnTo>
                <a:lnTo>
                  <a:pt x="168" y="14"/>
                </a:lnTo>
                <a:lnTo>
                  <a:pt x="139" y="14"/>
                </a:lnTo>
                <a:lnTo>
                  <a:pt x="139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5532438" y="3873500"/>
            <a:ext cx="88900" cy="100013"/>
          </a:xfrm>
          <a:custGeom>
            <a:rect b="b" l="l" r="r" t="t"/>
            <a:pathLst>
              <a:path extrusionOk="0" h="63" w="56">
                <a:moveTo>
                  <a:pt x="0" y="0"/>
                </a:moveTo>
                <a:lnTo>
                  <a:pt x="14" y="0"/>
                </a:lnTo>
                <a:lnTo>
                  <a:pt x="14" y="49"/>
                </a:lnTo>
                <a:lnTo>
                  <a:pt x="55" y="49"/>
                </a:lnTo>
                <a:lnTo>
                  <a:pt x="55" y="62"/>
                </a:lnTo>
                <a:lnTo>
                  <a:pt x="14" y="62"/>
                </a:lnTo>
                <a:lnTo>
                  <a:pt x="14" y="49"/>
                </a:lnTo>
                <a:lnTo>
                  <a:pt x="0" y="49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5399088" y="3914775"/>
            <a:ext cx="41275" cy="58738"/>
          </a:xfrm>
          <a:custGeom>
            <a:rect b="b" l="l" r="r" t="t"/>
            <a:pathLst>
              <a:path extrusionOk="0" h="37" w="26">
                <a:moveTo>
                  <a:pt x="0" y="0"/>
                </a:moveTo>
                <a:lnTo>
                  <a:pt x="25" y="0"/>
                </a:lnTo>
                <a:lnTo>
                  <a:pt x="25" y="24"/>
                </a:lnTo>
                <a:lnTo>
                  <a:pt x="13" y="24"/>
                </a:lnTo>
                <a:lnTo>
                  <a:pt x="13" y="36"/>
                </a:lnTo>
                <a:lnTo>
                  <a:pt x="0" y="36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4995863" y="3956050"/>
            <a:ext cx="1609725" cy="2365375"/>
          </a:xfrm>
          <a:custGeom>
            <a:rect b="b" l="l" r="r" t="t"/>
            <a:pathLst>
              <a:path extrusionOk="0" h="1490" w="1014">
                <a:moveTo>
                  <a:pt x="591" y="0"/>
                </a:moveTo>
                <a:lnTo>
                  <a:pt x="605" y="0"/>
                </a:lnTo>
                <a:lnTo>
                  <a:pt x="605" y="66"/>
                </a:lnTo>
                <a:lnTo>
                  <a:pt x="619" y="66"/>
                </a:lnTo>
                <a:lnTo>
                  <a:pt x="619" y="92"/>
                </a:lnTo>
                <a:lnTo>
                  <a:pt x="633" y="92"/>
                </a:lnTo>
                <a:lnTo>
                  <a:pt x="633" y="274"/>
                </a:lnTo>
                <a:lnTo>
                  <a:pt x="647" y="274"/>
                </a:lnTo>
                <a:lnTo>
                  <a:pt x="647" y="340"/>
                </a:lnTo>
                <a:lnTo>
                  <a:pt x="661" y="340"/>
                </a:lnTo>
                <a:lnTo>
                  <a:pt x="661" y="405"/>
                </a:lnTo>
                <a:lnTo>
                  <a:pt x="675" y="405"/>
                </a:lnTo>
                <a:lnTo>
                  <a:pt x="675" y="445"/>
                </a:lnTo>
                <a:lnTo>
                  <a:pt x="690" y="445"/>
                </a:lnTo>
                <a:lnTo>
                  <a:pt x="690" y="484"/>
                </a:lnTo>
                <a:lnTo>
                  <a:pt x="704" y="484"/>
                </a:lnTo>
                <a:lnTo>
                  <a:pt x="704" y="510"/>
                </a:lnTo>
                <a:lnTo>
                  <a:pt x="718" y="510"/>
                </a:lnTo>
                <a:lnTo>
                  <a:pt x="718" y="536"/>
                </a:lnTo>
                <a:lnTo>
                  <a:pt x="732" y="536"/>
                </a:lnTo>
                <a:lnTo>
                  <a:pt x="732" y="575"/>
                </a:lnTo>
                <a:lnTo>
                  <a:pt x="746" y="575"/>
                </a:lnTo>
                <a:lnTo>
                  <a:pt x="746" y="601"/>
                </a:lnTo>
                <a:lnTo>
                  <a:pt x="760" y="601"/>
                </a:lnTo>
                <a:lnTo>
                  <a:pt x="760" y="627"/>
                </a:lnTo>
                <a:lnTo>
                  <a:pt x="774" y="627"/>
                </a:lnTo>
                <a:lnTo>
                  <a:pt x="774" y="640"/>
                </a:lnTo>
                <a:lnTo>
                  <a:pt x="788" y="640"/>
                </a:lnTo>
                <a:lnTo>
                  <a:pt x="788" y="666"/>
                </a:lnTo>
                <a:lnTo>
                  <a:pt x="802" y="666"/>
                </a:lnTo>
                <a:lnTo>
                  <a:pt x="802" y="680"/>
                </a:lnTo>
                <a:lnTo>
                  <a:pt x="816" y="680"/>
                </a:lnTo>
                <a:lnTo>
                  <a:pt x="816" y="692"/>
                </a:lnTo>
                <a:lnTo>
                  <a:pt x="830" y="692"/>
                </a:lnTo>
                <a:lnTo>
                  <a:pt x="830" y="706"/>
                </a:lnTo>
                <a:lnTo>
                  <a:pt x="844" y="706"/>
                </a:lnTo>
                <a:lnTo>
                  <a:pt x="844" y="731"/>
                </a:lnTo>
                <a:lnTo>
                  <a:pt x="859" y="731"/>
                </a:lnTo>
                <a:lnTo>
                  <a:pt x="859" y="745"/>
                </a:lnTo>
                <a:lnTo>
                  <a:pt x="873" y="745"/>
                </a:lnTo>
                <a:lnTo>
                  <a:pt x="873" y="758"/>
                </a:lnTo>
                <a:lnTo>
                  <a:pt x="887" y="758"/>
                </a:lnTo>
                <a:lnTo>
                  <a:pt x="887" y="771"/>
                </a:lnTo>
                <a:lnTo>
                  <a:pt x="902" y="771"/>
                </a:lnTo>
                <a:lnTo>
                  <a:pt x="902" y="784"/>
                </a:lnTo>
                <a:lnTo>
                  <a:pt x="915" y="784"/>
                </a:lnTo>
                <a:lnTo>
                  <a:pt x="915" y="823"/>
                </a:lnTo>
                <a:lnTo>
                  <a:pt x="929" y="823"/>
                </a:lnTo>
                <a:lnTo>
                  <a:pt x="929" y="863"/>
                </a:lnTo>
                <a:lnTo>
                  <a:pt x="942" y="863"/>
                </a:lnTo>
                <a:lnTo>
                  <a:pt x="942" y="901"/>
                </a:lnTo>
                <a:lnTo>
                  <a:pt x="956" y="901"/>
                </a:lnTo>
                <a:lnTo>
                  <a:pt x="956" y="980"/>
                </a:lnTo>
                <a:lnTo>
                  <a:pt x="971" y="980"/>
                </a:lnTo>
                <a:lnTo>
                  <a:pt x="971" y="1006"/>
                </a:lnTo>
                <a:lnTo>
                  <a:pt x="984" y="1006"/>
                </a:lnTo>
                <a:lnTo>
                  <a:pt x="984" y="1046"/>
                </a:lnTo>
                <a:lnTo>
                  <a:pt x="971" y="1046"/>
                </a:lnTo>
                <a:lnTo>
                  <a:pt x="971" y="1058"/>
                </a:lnTo>
                <a:lnTo>
                  <a:pt x="999" y="1058"/>
                </a:lnTo>
                <a:lnTo>
                  <a:pt x="999" y="1136"/>
                </a:lnTo>
                <a:lnTo>
                  <a:pt x="1013" y="1136"/>
                </a:lnTo>
                <a:lnTo>
                  <a:pt x="1013" y="1359"/>
                </a:lnTo>
                <a:lnTo>
                  <a:pt x="999" y="1359"/>
                </a:lnTo>
                <a:lnTo>
                  <a:pt x="999" y="1424"/>
                </a:lnTo>
                <a:lnTo>
                  <a:pt x="984" y="1424"/>
                </a:lnTo>
                <a:lnTo>
                  <a:pt x="984" y="1450"/>
                </a:lnTo>
                <a:lnTo>
                  <a:pt x="971" y="1450"/>
                </a:lnTo>
                <a:lnTo>
                  <a:pt x="971" y="1463"/>
                </a:lnTo>
                <a:lnTo>
                  <a:pt x="942" y="1463"/>
                </a:lnTo>
                <a:lnTo>
                  <a:pt x="942" y="1476"/>
                </a:lnTo>
                <a:lnTo>
                  <a:pt x="774" y="1476"/>
                </a:lnTo>
                <a:lnTo>
                  <a:pt x="774" y="1489"/>
                </a:lnTo>
                <a:lnTo>
                  <a:pt x="690" y="1489"/>
                </a:lnTo>
                <a:lnTo>
                  <a:pt x="690" y="1476"/>
                </a:lnTo>
                <a:lnTo>
                  <a:pt x="591" y="1476"/>
                </a:lnTo>
                <a:lnTo>
                  <a:pt x="591" y="1463"/>
                </a:lnTo>
                <a:lnTo>
                  <a:pt x="507" y="1463"/>
                </a:lnTo>
                <a:lnTo>
                  <a:pt x="507" y="1450"/>
                </a:lnTo>
                <a:lnTo>
                  <a:pt x="464" y="1450"/>
                </a:lnTo>
                <a:lnTo>
                  <a:pt x="464" y="1437"/>
                </a:lnTo>
                <a:lnTo>
                  <a:pt x="436" y="1437"/>
                </a:lnTo>
                <a:lnTo>
                  <a:pt x="436" y="1424"/>
                </a:lnTo>
                <a:lnTo>
                  <a:pt x="408" y="1424"/>
                </a:lnTo>
                <a:lnTo>
                  <a:pt x="408" y="1411"/>
                </a:lnTo>
                <a:lnTo>
                  <a:pt x="381" y="1411"/>
                </a:lnTo>
                <a:lnTo>
                  <a:pt x="381" y="1398"/>
                </a:lnTo>
                <a:lnTo>
                  <a:pt x="366" y="1398"/>
                </a:lnTo>
                <a:lnTo>
                  <a:pt x="366" y="1384"/>
                </a:lnTo>
                <a:lnTo>
                  <a:pt x="352" y="1384"/>
                </a:lnTo>
                <a:lnTo>
                  <a:pt x="352" y="1372"/>
                </a:lnTo>
                <a:lnTo>
                  <a:pt x="324" y="1372"/>
                </a:lnTo>
                <a:lnTo>
                  <a:pt x="324" y="1359"/>
                </a:lnTo>
                <a:lnTo>
                  <a:pt x="309" y="1359"/>
                </a:lnTo>
                <a:lnTo>
                  <a:pt x="309" y="1346"/>
                </a:lnTo>
                <a:lnTo>
                  <a:pt x="295" y="1346"/>
                </a:lnTo>
                <a:lnTo>
                  <a:pt x="295" y="1333"/>
                </a:lnTo>
                <a:lnTo>
                  <a:pt x="267" y="1333"/>
                </a:lnTo>
                <a:lnTo>
                  <a:pt x="267" y="1320"/>
                </a:lnTo>
                <a:lnTo>
                  <a:pt x="253" y="1320"/>
                </a:lnTo>
                <a:lnTo>
                  <a:pt x="253" y="1307"/>
                </a:lnTo>
                <a:lnTo>
                  <a:pt x="239" y="1307"/>
                </a:lnTo>
                <a:lnTo>
                  <a:pt x="239" y="1281"/>
                </a:lnTo>
                <a:lnTo>
                  <a:pt x="226" y="1281"/>
                </a:lnTo>
                <a:lnTo>
                  <a:pt x="226" y="1228"/>
                </a:lnTo>
                <a:lnTo>
                  <a:pt x="239" y="1228"/>
                </a:lnTo>
                <a:lnTo>
                  <a:pt x="239" y="1163"/>
                </a:lnTo>
                <a:lnTo>
                  <a:pt x="253" y="1163"/>
                </a:lnTo>
                <a:lnTo>
                  <a:pt x="253" y="1136"/>
                </a:lnTo>
                <a:lnTo>
                  <a:pt x="267" y="1136"/>
                </a:lnTo>
                <a:lnTo>
                  <a:pt x="267" y="1098"/>
                </a:lnTo>
                <a:lnTo>
                  <a:pt x="281" y="1098"/>
                </a:lnTo>
                <a:lnTo>
                  <a:pt x="281" y="1072"/>
                </a:lnTo>
                <a:lnTo>
                  <a:pt x="295" y="1072"/>
                </a:lnTo>
                <a:lnTo>
                  <a:pt x="295" y="1046"/>
                </a:lnTo>
                <a:lnTo>
                  <a:pt x="309" y="1046"/>
                </a:lnTo>
                <a:lnTo>
                  <a:pt x="309" y="1033"/>
                </a:lnTo>
                <a:lnTo>
                  <a:pt x="324" y="1033"/>
                </a:lnTo>
                <a:lnTo>
                  <a:pt x="324" y="1019"/>
                </a:lnTo>
                <a:lnTo>
                  <a:pt x="338" y="1019"/>
                </a:lnTo>
                <a:lnTo>
                  <a:pt x="338" y="1006"/>
                </a:lnTo>
                <a:lnTo>
                  <a:pt x="352" y="1006"/>
                </a:lnTo>
                <a:lnTo>
                  <a:pt x="352" y="993"/>
                </a:lnTo>
                <a:lnTo>
                  <a:pt x="394" y="993"/>
                </a:lnTo>
                <a:lnTo>
                  <a:pt x="394" y="1006"/>
                </a:lnTo>
                <a:lnTo>
                  <a:pt x="408" y="1006"/>
                </a:lnTo>
                <a:lnTo>
                  <a:pt x="408" y="993"/>
                </a:lnTo>
                <a:lnTo>
                  <a:pt x="507" y="993"/>
                </a:lnTo>
                <a:lnTo>
                  <a:pt x="507" y="980"/>
                </a:lnTo>
                <a:lnTo>
                  <a:pt x="309" y="980"/>
                </a:lnTo>
                <a:lnTo>
                  <a:pt x="309" y="967"/>
                </a:lnTo>
                <a:lnTo>
                  <a:pt x="281" y="967"/>
                </a:lnTo>
                <a:lnTo>
                  <a:pt x="281" y="954"/>
                </a:lnTo>
                <a:lnTo>
                  <a:pt x="253" y="954"/>
                </a:lnTo>
                <a:lnTo>
                  <a:pt x="253" y="941"/>
                </a:lnTo>
                <a:lnTo>
                  <a:pt x="226" y="941"/>
                </a:lnTo>
                <a:lnTo>
                  <a:pt x="226" y="927"/>
                </a:lnTo>
                <a:lnTo>
                  <a:pt x="198" y="927"/>
                </a:lnTo>
                <a:lnTo>
                  <a:pt x="198" y="914"/>
                </a:lnTo>
                <a:lnTo>
                  <a:pt x="184" y="914"/>
                </a:lnTo>
                <a:lnTo>
                  <a:pt x="184" y="901"/>
                </a:lnTo>
                <a:lnTo>
                  <a:pt x="155" y="901"/>
                </a:lnTo>
                <a:lnTo>
                  <a:pt x="155" y="888"/>
                </a:lnTo>
                <a:lnTo>
                  <a:pt x="140" y="888"/>
                </a:lnTo>
                <a:lnTo>
                  <a:pt x="140" y="876"/>
                </a:lnTo>
                <a:lnTo>
                  <a:pt x="126" y="876"/>
                </a:lnTo>
                <a:lnTo>
                  <a:pt x="126" y="863"/>
                </a:lnTo>
                <a:lnTo>
                  <a:pt x="112" y="863"/>
                </a:lnTo>
                <a:lnTo>
                  <a:pt x="112" y="850"/>
                </a:lnTo>
                <a:lnTo>
                  <a:pt x="98" y="850"/>
                </a:lnTo>
                <a:lnTo>
                  <a:pt x="98" y="837"/>
                </a:lnTo>
                <a:lnTo>
                  <a:pt x="84" y="837"/>
                </a:lnTo>
                <a:lnTo>
                  <a:pt x="84" y="823"/>
                </a:lnTo>
                <a:lnTo>
                  <a:pt x="71" y="823"/>
                </a:lnTo>
                <a:lnTo>
                  <a:pt x="71" y="797"/>
                </a:lnTo>
                <a:lnTo>
                  <a:pt x="57" y="797"/>
                </a:lnTo>
                <a:lnTo>
                  <a:pt x="57" y="758"/>
                </a:lnTo>
                <a:lnTo>
                  <a:pt x="43" y="758"/>
                </a:lnTo>
                <a:lnTo>
                  <a:pt x="43" y="536"/>
                </a:lnTo>
                <a:lnTo>
                  <a:pt x="28" y="536"/>
                </a:lnTo>
                <a:lnTo>
                  <a:pt x="28" y="496"/>
                </a:lnTo>
                <a:lnTo>
                  <a:pt x="15" y="496"/>
                </a:lnTo>
                <a:lnTo>
                  <a:pt x="15" y="458"/>
                </a:lnTo>
                <a:lnTo>
                  <a:pt x="0" y="458"/>
                </a:lnTo>
                <a:lnTo>
                  <a:pt x="0" y="366"/>
                </a:lnTo>
                <a:lnTo>
                  <a:pt x="98" y="366"/>
                </a:lnTo>
                <a:lnTo>
                  <a:pt x="98" y="354"/>
                </a:lnTo>
                <a:lnTo>
                  <a:pt x="126" y="354"/>
                </a:lnTo>
                <a:lnTo>
                  <a:pt x="126" y="340"/>
                </a:lnTo>
                <a:lnTo>
                  <a:pt x="169" y="340"/>
                </a:lnTo>
                <a:lnTo>
                  <a:pt x="169" y="327"/>
                </a:lnTo>
                <a:lnTo>
                  <a:pt x="211" y="327"/>
                </a:lnTo>
                <a:lnTo>
                  <a:pt x="211" y="314"/>
                </a:lnTo>
                <a:lnTo>
                  <a:pt x="253" y="314"/>
                </a:lnTo>
                <a:lnTo>
                  <a:pt x="253" y="301"/>
                </a:lnTo>
                <a:lnTo>
                  <a:pt x="309" y="301"/>
                </a:lnTo>
                <a:lnTo>
                  <a:pt x="309" y="288"/>
                </a:lnTo>
                <a:lnTo>
                  <a:pt x="352" y="288"/>
                </a:lnTo>
                <a:lnTo>
                  <a:pt x="352" y="274"/>
                </a:lnTo>
                <a:lnTo>
                  <a:pt x="381" y="274"/>
                </a:lnTo>
                <a:lnTo>
                  <a:pt x="381" y="261"/>
                </a:lnTo>
                <a:lnTo>
                  <a:pt x="408" y="261"/>
                </a:lnTo>
                <a:lnTo>
                  <a:pt x="408" y="248"/>
                </a:lnTo>
                <a:lnTo>
                  <a:pt x="436" y="248"/>
                </a:lnTo>
                <a:lnTo>
                  <a:pt x="436" y="236"/>
                </a:lnTo>
                <a:lnTo>
                  <a:pt x="464" y="236"/>
                </a:lnTo>
                <a:lnTo>
                  <a:pt x="464" y="223"/>
                </a:lnTo>
                <a:lnTo>
                  <a:pt x="478" y="223"/>
                </a:lnTo>
                <a:lnTo>
                  <a:pt x="478" y="210"/>
                </a:lnTo>
                <a:lnTo>
                  <a:pt x="493" y="210"/>
                </a:lnTo>
                <a:lnTo>
                  <a:pt x="493" y="196"/>
                </a:lnTo>
                <a:lnTo>
                  <a:pt x="507" y="196"/>
                </a:lnTo>
                <a:lnTo>
                  <a:pt x="507" y="169"/>
                </a:lnTo>
                <a:lnTo>
                  <a:pt x="549" y="169"/>
                </a:lnTo>
                <a:lnTo>
                  <a:pt x="549" y="157"/>
                </a:lnTo>
                <a:lnTo>
                  <a:pt x="521" y="157"/>
                </a:lnTo>
                <a:lnTo>
                  <a:pt x="521" y="144"/>
                </a:lnTo>
                <a:lnTo>
                  <a:pt x="507" y="144"/>
                </a:lnTo>
                <a:lnTo>
                  <a:pt x="507" y="105"/>
                </a:lnTo>
                <a:lnTo>
                  <a:pt x="521" y="105"/>
                </a:lnTo>
                <a:lnTo>
                  <a:pt x="521" y="79"/>
                </a:lnTo>
                <a:lnTo>
                  <a:pt x="535" y="79"/>
                </a:lnTo>
                <a:lnTo>
                  <a:pt x="535" y="53"/>
                </a:lnTo>
                <a:lnTo>
                  <a:pt x="549" y="53"/>
                </a:lnTo>
                <a:lnTo>
                  <a:pt x="549" y="39"/>
                </a:lnTo>
                <a:lnTo>
                  <a:pt x="563" y="39"/>
                </a:lnTo>
                <a:lnTo>
                  <a:pt x="563" y="27"/>
                </a:lnTo>
                <a:lnTo>
                  <a:pt x="577" y="27"/>
                </a:lnTo>
                <a:lnTo>
                  <a:pt x="577" y="13"/>
                </a:lnTo>
                <a:lnTo>
                  <a:pt x="591" y="13"/>
                </a:lnTo>
                <a:lnTo>
                  <a:pt x="591" y="0"/>
                </a:lnTo>
              </a:path>
            </a:pathLst>
          </a:custGeom>
          <a:solidFill>
            <a:srgbClr val="008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5219700" y="3997325"/>
            <a:ext cx="87313" cy="100013"/>
          </a:xfrm>
          <a:custGeom>
            <a:rect b="b" l="l" r="r" t="t"/>
            <a:pathLst>
              <a:path extrusionOk="0" h="63" w="55">
                <a:moveTo>
                  <a:pt x="27" y="0"/>
                </a:moveTo>
                <a:lnTo>
                  <a:pt x="40" y="0"/>
                </a:lnTo>
                <a:lnTo>
                  <a:pt x="40" y="13"/>
                </a:lnTo>
                <a:lnTo>
                  <a:pt x="54" y="13"/>
                </a:lnTo>
                <a:lnTo>
                  <a:pt x="54" y="26"/>
                </a:lnTo>
                <a:lnTo>
                  <a:pt x="40" y="26"/>
                </a:lnTo>
                <a:lnTo>
                  <a:pt x="40" y="13"/>
                </a:lnTo>
                <a:lnTo>
                  <a:pt x="27" y="13"/>
                </a:lnTo>
                <a:lnTo>
                  <a:pt x="27" y="26"/>
                </a:lnTo>
                <a:lnTo>
                  <a:pt x="14" y="26"/>
                </a:lnTo>
                <a:lnTo>
                  <a:pt x="14" y="49"/>
                </a:lnTo>
                <a:lnTo>
                  <a:pt x="40" y="49"/>
                </a:lnTo>
                <a:lnTo>
                  <a:pt x="40" y="38"/>
                </a:lnTo>
                <a:lnTo>
                  <a:pt x="54" y="38"/>
                </a:lnTo>
                <a:lnTo>
                  <a:pt x="54" y="49"/>
                </a:lnTo>
                <a:lnTo>
                  <a:pt x="40" y="49"/>
                </a:lnTo>
                <a:lnTo>
                  <a:pt x="40" y="62"/>
                </a:lnTo>
                <a:lnTo>
                  <a:pt x="0" y="62"/>
                </a:lnTo>
                <a:lnTo>
                  <a:pt x="0" y="26"/>
                </a:lnTo>
                <a:lnTo>
                  <a:pt x="14" y="26"/>
                </a:lnTo>
                <a:lnTo>
                  <a:pt x="14" y="13"/>
                </a:lnTo>
                <a:lnTo>
                  <a:pt x="27" y="13"/>
                </a:lnTo>
                <a:lnTo>
                  <a:pt x="27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6765925" y="4017963"/>
            <a:ext cx="1587500" cy="2159000"/>
          </a:xfrm>
          <a:custGeom>
            <a:rect b="b" l="l" r="r" t="t"/>
            <a:pathLst>
              <a:path extrusionOk="0" h="1360" w="1000">
                <a:moveTo>
                  <a:pt x="338" y="0"/>
                </a:moveTo>
                <a:lnTo>
                  <a:pt x="365" y="0"/>
                </a:lnTo>
                <a:lnTo>
                  <a:pt x="365" y="14"/>
                </a:lnTo>
                <a:lnTo>
                  <a:pt x="380" y="14"/>
                </a:lnTo>
                <a:lnTo>
                  <a:pt x="380" y="66"/>
                </a:lnTo>
                <a:lnTo>
                  <a:pt x="394" y="66"/>
                </a:lnTo>
                <a:lnTo>
                  <a:pt x="394" y="79"/>
                </a:lnTo>
                <a:lnTo>
                  <a:pt x="409" y="79"/>
                </a:lnTo>
                <a:lnTo>
                  <a:pt x="409" y="92"/>
                </a:lnTo>
                <a:lnTo>
                  <a:pt x="422" y="92"/>
                </a:lnTo>
                <a:lnTo>
                  <a:pt x="422" y="105"/>
                </a:lnTo>
                <a:lnTo>
                  <a:pt x="435" y="105"/>
                </a:lnTo>
                <a:lnTo>
                  <a:pt x="435" y="117"/>
                </a:lnTo>
                <a:lnTo>
                  <a:pt x="479" y="117"/>
                </a:lnTo>
                <a:lnTo>
                  <a:pt x="479" y="130"/>
                </a:lnTo>
                <a:lnTo>
                  <a:pt x="507" y="130"/>
                </a:lnTo>
                <a:lnTo>
                  <a:pt x="507" y="353"/>
                </a:lnTo>
                <a:lnTo>
                  <a:pt x="394" y="353"/>
                </a:lnTo>
                <a:lnTo>
                  <a:pt x="394" y="366"/>
                </a:lnTo>
                <a:lnTo>
                  <a:pt x="520" y="366"/>
                </a:lnTo>
                <a:lnTo>
                  <a:pt x="520" y="170"/>
                </a:lnTo>
                <a:lnTo>
                  <a:pt x="578" y="170"/>
                </a:lnTo>
                <a:lnTo>
                  <a:pt x="578" y="183"/>
                </a:lnTo>
                <a:lnTo>
                  <a:pt x="605" y="183"/>
                </a:lnTo>
                <a:lnTo>
                  <a:pt x="605" y="196"/>
                </a:lnTo>
                <a:lnTo>
                  <a:pt x="619" y="196"/>
                </a:lnTo>
                <a:lnTo>
                  <a:pt x="619" y="209"/>
                </a:lnTo>
                <a:lnTo>
                  <a:pt x="633" y="209"/>
                </a:lnTo>
                <a:lnTo>
                  <a:pt x="633" y="222"/>
                </a:lnTo>
                <a:lnTo>
                  <a:pt x="647" y="222"/>
                </a:lnTo>
                <a:lnTo>
                  <a:pt x="647" y="235"/>
                </a:lnTo>
                <a:lnTo>
                  <a:pt x="661" y="235"/>
                </a:lnTo>
                <a:lnTo>
                  <a:pt x="661" y="222"/>
                </a:lnTo>
                <a:lnTo>
                  <a:pt x="774" y="222"/>
                </a:lnTo>
                <a:lnTo>
                  <a:pt x="774" y="235"/>
                </a:lnTo>
                <a:lnTo>
                  <a:pt x="801" y="235"/>
                </a:lnTo>
                <a:lnTo>
                  <a:pt x="801" y="249"/>
                </a:lnTo>
                <a:lnTo>
                  <a:pt x="816" y="249"/>
                </a:lnTo>
                <a:lnTo>
                  <a:pt x="816" y="262"/>
                </a:lnTo>
                <a:lnTo>
                  <a:pt x="830" y="262"/>
                </a:lnTo>
                <a:lnTo>
                  <a:pt x="830" y="288"/>
                </a:lnTo>
                <a:lnTo>
                  <a:pt x="845" y="288"/>
                </a:lnTo>
                <a:lnTo>
                  <a:pt x="845" y="301"/>
                </a:lnTo>
                <a:lnTo>
                  <a:pt x="858" y="301"/>
                </a:lnTo>
                <a:lnTo>
                  <a:pt x="858" y="314"/>
                </a:lnTo>
                <a:lnTo>
                  <a:pt x="873" y="314"/>
                </a:lnTo>
                <a:lnTo>
                  <a:pt x="873" y="353"/>
                </a:lnTo>
                <a:lnTo>
                  <a:pt x="887" y="353"/>
                </a:lnTo>
                <a:lnTo>
                  <a:pt x="887" y="379"/>
                </a:lnTo>
                <a:lnTo>
                  <a:pt x="901" y="379"/>
                </a:lnTo>
                <a:lnTo>
                  <a:pt x="901" y="405"/>
                </a:lnTo>
                <a:lnTo>
                  <a:pt x="916" y="405"/>
                </a:lnTo>
                <a:lnTo>
                  <a:pt x="916" y="431"/>
                </a:lnTo>
                <a:lnTo>
                  <a:pt x="928" y="431"/>
                </a:lnTo>
                <a:lnTo>
                  <a:pt x="928" y="444"/>
                </a:lnTo>
                <a:lnTo>
                  <a:pt x="943" y="444"/>
                </a:lnTo>
                <a:lnTo>
                  <a:pt x="943" y="471"/>
                </a:lnTo>
                <a:lnTo>
                  <a:pt x="956" y="471"/>
                </a:lnTo>
                <a:lnTo>
                  <a:pt x="956" y="523"/>
                </a:lnTo>
                <a:lnTo>
                  <a:pt x="971" y="523"/>
                </a:lnTo>
                <a:lnTo>
                  <a:pt x="971" y="562"/>
                </a:lnTo>
                <a:lnTo>
                  <a:pt x="985" y="562"/>
                </a:lnTo>
                <a:lnTo>
                  <a:pt x="985" y="640"/>
                </a:lnTo>
                <a:lnTo>
                  <a:pt x="999" y="640"/>
                </a:lnTo>
                <a:lnTo>
                  <a:pt x="999" y="862"/>
                </a:lnTo>
                <a:lnTo>
                  <a:pt x="985" y="862"/>
                </a:lnTo>
                <a:lnTo>
                  <a:pt x="985" y="888"/>
                </a:lnTo>
                <a:lnTo>
                  <a:pt x="971" y="888"/>
                </a:lnTo>
                <a:lnTo>
                  <a:pt x="971" y="915"/>
                </a:lnTo>
                <a:lnTo>
                  <a:pt x="956" y="915"/>
                </a:lnTo>
                <a:lnTo>
                  <a:pt x="956" y="928"/>
                </a:lnTo>
                <a:lnTo>
                  <a:pt x="943" y="928"/>
                </a:lnTo>
                <a:lnTo>
                  <a:pt x="943" y="941"/>
                </a:lnTo>
                <a:lnTo>
                  <a:pt x="928" y="941"/>
                </a:lnTo>
                <a:lnTo>
                  <a:pt x="928" y="954"/>
                </a:lnTo>
                <a:lnTo>
                  <a:pt x="916" y="954"/>
                </a:lnTo>
                <a:lnTo>
                  <a:pt x="916" y="967"/>
                </a:lnTo>
                <a:lnTo>
                  <a:pt x="901" y="967"/>
                </a:lnTo>
                <a:lnTo>
                  <a:pt x="901" y="980"/>
                </a:lnTo>
                <a:lnTo>
                  <a:pt x="887" y="980"/>
                </a:lnTo>
                <a:lnTo>
                  <a:pt x="887" y="994"/>
                </a:lnTo>
                <a:lnTo>
                  <a:pt x="873" y="994"/>
                </a:lnTo>
                <a:lnTo>
                  <a:pt x="873" y="1007"/>
                </a:lnTo>
                <a:lnTo>
                  <a:pt x="858" y="1007"/>
                </a:lnTo>
                <a:lnTo>
                  <a:pt x="858" y="1019"/>
                </a:lnTo>
                <a:lnTo>
                  <a:pt x="873" y="1019"/>
                </a:lnTo>
                <a:lnTo>
                  <a:pt x="873" y="1032"/>
                </a:lnTo>
                <a:lnTo>
                  <a:pt x="887" y="1032"/>
                </a:lnTo>
                <a:lnTo>
                  <a:pt x="887" y="1071"/>
                </a:lnTo>
                <a:lnTo>
                  <a:pt x="901" y="1071"/>
                </a:lnTo>
                <a:lnTo>
                  <a:pt x="901" y="1124"/>
                </a:lnTo>
                <a:lnTo>
                  <a:pt x="916" y="1124"/>
                </a:lnTo>
                <a:lnTo>
                  <a:pt x="916" y="1163"/>
                </a:lnTo>
                <a:lnTo>
                  <a:pt x="928" y="1163"/>
                </a:lnTo>
                <a:lnTo>
                  <a:pt x="928" y="1242"/>
                </a:lnTo>
                <a:lnTo>
                  <a:pt x="943" y="1242"/>
                </a:lnTo>
                <a:lnTo>
                  <a:pt x="943" y="1306"/>
                </a:lnTo>
                <a:lnTo>
                  <a:pt x="928" y="1306"/>
                </a:lnTo>
                <a:lnTo>
                  <a:pt x="928" y="1319"/>
                </a:lnTo>
                <a:lnTo>
                  <a:pt x="916" y="1319"/>
                </a:lnTo>
                <a:lnTo>
                  <a:pt x="916" y="1333"/>
                </a:lnTo>
                <a:lnTo>
                  <a:pt x="887" y="1333"/>
                </a:lnTo>
                <a:lnTo>
                  <a:pt x="887" y="1345"/>
                </a:lnTo>
                <a:lnTo>
                  <a:pt x="788" y="1345"/>
                </a:lnTo>
                <a:lnTo>
                  <a:pt x="788" y="1359"/>
                </a:lnTo>
                <a:lnTo>
                  <a:pt x="633" y="1359"/>
                </a:lnTo>
                <a:lnTo>
                  <a:pt x="633" y="1345"/>
                </a:lnTo>
                <a:lnTo>
                  <a:pt x="394" y="1345"/>
                </a:lnTo>
                <a:lnTo>
                  <a:pt x="394" y="1333"/>
                </a:lnTo>
                <a:lnTo>
                  <a:pt x="323" y="1333"/>
                </a:lnTo>
                <a:lnTo>
                  <a:pt x="323" y="1319"/>
                </a:lnTo>
                <a:lnTo>
                  <a:pt x="169" y="1319"/>
                </a:lnTo>
                <a:lnTo>
                  <a:pt x="169" y="1306"/>
                </a:lnTo>
                <a:lnTo>
                  <a:pt x="42" y="1306"/>
                </a:lnTo>
                <a:lnTo>
                  <a:pt x="42" y="1293"/>
                </a:lnTo>
                <a:lnTo>
                  <a:pt x="14" y="1293"/>
                </a:lnTo>
                <a:lnTo>
                  <a:pt x="14" y="1280"/>
                </a:lnTo>
                <a:lnTo>
                  <a:pt x="0" y="1280"/>
                </a:lnTo>
                <a:lnTo>
                  <a:pt x="0" y="1242"/>
                </a:lnTo>
                <a:lnTo>
                  <a:pt x="14" y="1242"/>
                </a:lnTo>
                <a:lnTo>
                  <a:pt x="14" y="1097"/>
                </a:lnTo>
                <a:lnTo>
                  <a:pt x="28" y="1097"/>
                </a:lnTo>
                <a:lnTo>
                  <a:pt x="28" y="1045"/>
                </a:lnTo>
                <a:lnTo>
                  <a:pt x="42" y="1045"/>
                </a:lnTo>
                <a:lnTo>
                  <a:pt x="42" y="994"/>
                </a:lnTo>
                <a:lnTo>
                  <a:pt x="56" y="994"/>
                </a:lnTo>
                <a:lnTo>
                  <a:pt x="56" y="967"/>
                </a:lnTo>
                <a:lnTo>
                  <a:pt x="71" y="967"/>
                </a:lnTo>
                <a:lnTo>
                  <a:pt x="71" y="954"/>
                </a:lnTo>
                <a:lnTo>
                  <a:pt x="83" y="954"/>
                </a:lnTo>
                <a:lnTo>
                  <a:pt x="83" y="941"/>
                </a:lnTo>
                <a:lnTo>
                  <a:pt x="112" y="941"/>
                </a:lnTo>
                <a:lnTo>
                  <a:pt x="112" y="928"/>
                </a:lnTo>
                <a:lnTo>
                  <a:pt x="126" y="928"/>
                </a:lnTo>
                <a:lnTo>
                  <a:pt x="126" y="915"/>
                </a:lnTo>
                <a:lnTo>
                  <a:pt x="154" y="915"/>
                </a:lnTo>
                <a:lnTo>
                  <a:pt x="154" y="902"/>
                </a:lnTo>
                <a:lnTo>
                  <a:pt x="198" y="902"/>
                </a:lnTo>
                <a:lnTo>
                  <a:pt x="198" y="915"/>
                </a:lnTo>
                <a:lnTo>
                  <a:pt x="225" y="915"/>
                </a:lnTo>
                <a:lnTo>
                  <a:pt x="225" y="928"/>
                </a:lnTo>
                <a:lnTo>
                  <a:pt x="267" y="928"/>
                </a:lnTo>
                <a:lnTo>
                  <a:pt x="267" y="941"/>
                </a:lnTo>
                <a:lnTo>
                  <a:pt x="323" y="941"/>
                </a:lnTo>
                <a:lnTo>
                  <a:pt x="323" y="954"/>
                </a:lnTo>
                <a:lnTo>
                  <a:pt x="352" y="954"/>
                </a:lnTo>
                <a:lnTo>
                  <a:pt x="352" y="967"/>
                </a:lnTo>
                <a:lnTo>
                  <a:pt x="409" y="967"/>
                </a:lnTo>
                <a:lnTo>
                  <a:pt x="409" y="980"/>
                </a:lnTo>
                <a:lnTo>
                  <a:pt x="450" y="980"/>
                </a:lnTo>
                <a:lnTo>
                  <a:pt x="450" y="994"/>
                </a:lnTo>
                <a:lnTo>
                  <a:pt x="464" y="994"/>
                </a:lnTo>
                <a:lnTo>
                  <a:pt x="464" y="1007"/>
                </a:lnTo>
                <a:lnTo>
                  <a:pt x="479" y="1007"/>
                </a:lnTo>
                <a:lnTo>
                  <a:pt x="479" y="1019"/>
                </a:lnTo>
                <a:lnTo>
                  <a:pt x="492" y="1019"/>
                </a:lnTo>
                <a:lnTo>
                  <a:pt x="492" y="1045"/>
                </a:lnTo>
                <a:lnTo>
                  <a:pt x="507" y="1045"/>
                </a:lnTo>
                <a:lnTo>
                  <a:pt x="507" y="1058"/>
                </a:lnTo>
                <a:lnTo>
                  <a:pt x="520" y="1058"/>
                </a:lnTo>
                <a:lnTo>
                  <a:pt x="520" y="1071"/>
                </a:lnTo>
                <a:lnTo>
                  <a:pt x="534" y="1071"/>
                </a:lnTo>
                <a:lnTo>
                  <a:pt x="534" y="1097"/>
                </a:lnTo>
                <a:lnTo>
                  <a:pt x="549" y="1097"/>
                </a:lnTo>
                <a:lnTo>
                  <a:pt x="549" y="1110"/>
                </a:lnTo>
                <a:lnTo>
                  <a:pt x="619" y="1110"/>
                </a:lnTo>
                <a:lnTo>
                  <a:pt x="619" y="1097"/>
                </a:lnTo>
                <a:lnTo>
                  <a:pt x="578" y="1097"/>
                </a:lnTo>
                <a:lnTo>
                  <a:pt x="578" y="1058"/>
                </a:lnTo>
                <a:lnTo>
                  <a:pt x="563" y="1058"/>
                </a:lnTo>
                <a:lnTo>
                  <a:pt x="563" y="1032"/>
                </a:lnTo>
                <a:lnTo>
                  <a:pt x="549" y="1032"/>
                </a:lnTo>
                <a:lnTo>
                  <a:pt x="549" y="994"/>
                </a:lnTo>
                <a:lnTo>
                  <a:pt x="534" y="994"/>
                </a:lnTo>
                <a:lnTo>
                  <a:pt x="534" y="980"/>
                </a:lnTo>
                <a:lnTo>
                  <a:pt x="520" y="980"/>
                </a:lnTo>
                <a:lnTo>
                  <a:pt x="520" y="967"/>
                </a:lnTo>
                <a:lnTo>
                  <a:pt x="507" y="967"/>
                </a:lnTo>
                <a:lnTo>
                  <a:pt x="507" y="941"/>
                </a:lnTo>
                <a:lnTo>
                  <a:pt x="492" y="941"/>
                </a:lnTo>
                <a:lnTo>
                  <a:pt x="492" y="915"/>
                </a:lnTo>
                <a:lnTo>
                  <a:pt x="479" y="915"/>
                </a:lnTo>
                <a:lnTo>
                  <a:pt x="479" y="888"/>
                </a:lnTo>
                <a:lnTo>
                  <a:pt x="464" y="888"/>
                </a:lnTo>
                <a:lnTo>
                  <a:pt x="464" y="875"/>
                </a:lnTo>
                <a:lnTo>
                  <a:pt x="450" y="875"/>
                </a:lnTo>
                <a:lnTo>
                  <a:pt x="450" y="849"/>
                </a:lnTo>
                <a:lnTo>
                  <a:pt x="435" y="849"/>
                </a:lnTo>
                <a:lnTo>
                  <a:pt x="435" y="823"/>
                </a:lnTo>
                <a:lnTo>
                  <a:pt x="422" y="823"/>
                </a:lnTo>
                <a:lnTo>
                  <a:pt x="422" y="797"/>
                </a:lnTo>
                <a:lnTo>
                  <a:pt x="409" y="797"/>
                </a:lnTo>
                <a:lnTo>
                  <a:pt x="409" y="771"/>
                </a:lnTo>
                <a:lnTo>
                  <a:pt x="394" y="771"/>
                </a:lnTo>
                <a:lnTo>
                  <a:pt x="394" y="745"/>
                </a:lnTo>
                <a:lnTo>
                  <a:pt x="380" y="745"/>
                </a:lnTo>
                <a:lnTo>
                  <a:pt x="380" y="706"/>
                </a:lnTo>
                <a:lnTo>
                  <a:pt x="394" y="706"/>
                </a:lnTo>
                <a:lnTo>
                  <a:pt x="394" y="692"/>
                </a:lnTo>
                <a:lnTo>
                  <a:pt x="409" y="692"/>
                </a:lnTo>
                <a:lnTo>
                  <a:pt x="409" y="680"/>
                </a:lnTo>
                <a:lnTo>
                  <a:pt x="464" y="680"/>
                </a:lnTo>
                <a:lnTo>
                  <a:pt x="464" y="667"/>
                </a:lnTo>
                <a:lnTo>
                  <a:pt x="422" y="667"/>
                </a:lnTo>
                <a:lnTo>
                  <a:pt x="422" y="653"/>
                </a:lnTo>
                <a:lnTo>
                  <a:pt x="409" y="653"/>
                </a:lnTo>
                <a:lnTo>
                  <a:pt x="409" y="667"/>
                </a:lnTo>
                <a:lnTo>
                  <a:pt x="394" y="667"/>
                </a:lnTo>
                <a:lnTo>
                  <a:pt x="394" y="680"/>
                </a:lnTo>
                <a:lnTo>
                  <a:pt x="380" y="680"/>
                </a:lnTo>
                <a:lnTo>
                  <a:pt x="380" y="692"/>
                </a:lnTo>
                <a:lnTo>
                  <a:pt x="365" y="692"/>
                </a:lnTo>
                <a:lnTo>
                  <a:pt x="365" y="706"/>
                </a:lnTo>
                <a:lnTo>
                  <a:pt x="352" y="706"/>
                </a:lnTo>
                <a:lnTo>
                  <a:pt x="352" y="719"/>
                </a:lnTo>
                <a:lnTo>
                  <a:pt x="338" y="719"/>
                </a:lnTo>
                <a:lnTo>
                  <a:pt x="338" y="732"/>
                </a:lnTo>
                <a:lnTo>
                  <a:pt x="323" y="732"/>
                </a:lnTo>
                <a:lnTo>
                  <a:pt x="323" y="745"/>
                </a:lnTo>
                <a:lnTo>
                  <a:pt x="252" y="745"/>
                </a:lnTo>
                <a:lnTo>
                  <a:pt x="252" y="732"/>
                </a:lnTo>
                <a:lnTo>
                  <a:pt x="141" y="732"/>
                </a:lnTo>
                <a:lnTo>
                  <a:pt x="141" y="745"/>
                </a:lnTo>
                <a:lnTo>
                  <a:pt x="112" y="745"/>
                </a:lnTo>
                <a:lnTo>
                  <a:pt x="112" y="719"/>
                </a:lnTo>
                <a:lnTo>
                  <a:pt x="126" y="719"/>
                </a:lnTo>
                <a:lnTo>
                  <a:pt x="126" y="680"/>
                </a:lnTo>
                <a:lnTo>
                  <a:pt x="141" y="680"/>
                </a:lnTo>
                <a:lnTo>
                  <a:pt x="141" y="653"/>
                </a:lnTo>
                <a:lnTo>
                  <a:pt x="154" y="653"/>
                </a:lnTo>
                <a:lnTo>
                  <a:pt x="154" y="588"/>
                </a:lnTo>
                <a:lnTo>
                  <a:pt x="169" y="588"/>
                </a:lnTo>
                <a:lnTo>
                  <a:pt x="169" y="536"/>
                </a:lnTo>
                <a:lnTo>
                  <a:pt x="183" y="536"/>
                </a:lnTo>
                <a:lnTo>
                  <a:pt x="183" y="497"/>
                </a:lnTo>
                <a:lnTo>
                  <a:pt x="198" y="497"/>
                </a:lnTo>
                <a:lnTo>
                  <a:pt x="198" y="457"/>
                </a:lnTo>
                <a:lnTo>
                  <a:pt x="211" y="457"/>
                </a:lnTo>
                <a:lnTo>
                  <a:pt x="211" y="405"/>
                </a:lnTo>
                <a:lnTo>
                  <a:pt x="225" y="405"/>
                </a:lnTo>
                <a:lnTo>
                  <a:pt x="225" y="340"/>
                </a:lnTo>
                <a:lnTo>
                  <a:pt x="240" y="340"/>
                </a:lnTo>
                <a:lnTo>
                  <a:pt x="240" y="262"/>
                </a:lnTo>
                <a:lnTo>
                  <a:pt x="252" y="262"/>
                </a:lnTo>
                <a:lnTo>
                  <a:pt x="252" y="183"/>
                </a:lnTo>
                <a:lnTo>
                  <a:pt x="267" y="183"/>
                </a:lnTo>
                <a:lnTo>
                  <a:pt x="267" y="130"/>
                </a:lnTo>
                <a:lnTo>
                  <a:pt x="281" y="130"/>
                </a:lnTo>
                <a:lnTo>
                  <a:pt x="281" y="105"/>
                </a:lnTo>
                <a:lnTo>
                  <a:pt x="295" y="105"/>
                </a:lnTo>
                <a:lnTo>
                  <a:pt x="295" y="92"/>
                </a:lnTo>
                <a:lnTo>
                  <a:pt x="310" y="92"/>
                </a:lnTo>
                <a:lnTo>
                  <a:pt x="310" y="66"/>
                </a:lnTo>
                <a:lnTo>
                  <a:pt x="323" y="66"/>
                </a:lnTo>
                <a:lnTo>
                  <a:pt x="323" y="40"/>
                </a:lnTo>
                <a:lnTo>
                  <a:pt x="338" y="40"/>
                </a:lnTo>
                <a:lnTo>
                  <a:pt x="338" y="27"/>
                </a:lnTo>
                <a:lnTo>
                  <a:pt x="338" y="0"/>
                </a:lnTo>
              </a:path>
            </a:pathLst>
          </a:custGeom>
          <a:solidFill>
            <a:srgbClr val="0084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130800" y="4122738"/>
            <a:ext cx="41275" cy="38100"/>
          </a:xfrm>
          <a:custGeom>
            <a:rect b="b" l="l" r="r" t="t"/>
            <a:pathLst>
              <a:path extrusionOk="0" h="24" w="26">
                <a:moveTo>
                  <a:pt x="0" y="0"/>
                </a:moveTo>
                <a:lnTo>
                  <a:pt x="25" y="0"/>
                </a:lnTo>
                <a:lnTo>
                  <a:pt x="25" y="23"/>
                </a:lnTo>
                <a:lnTo>
                  <a:pt x="0" y="23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765925" y="4143375"/>
            <a:ext cx="63500" cy="184150"/>
          </a:xfrm>
          <a:custGeom>
            <a:rect b="b" l="l" r="r" t="t"/>
            <a:pathLst>
              <a:path extrusionOk="0" h="116" w="40">
                <a:moveTo>
                  <a:pt x="0" y="0"/>
                </a:moveTo>
                <a:lnTo>
                  <a:pt x="13" y="0"/>
                </a:lnTo>
                <a:lnTo>
                  <a:pt x="13" y="12"/>
                </a:lnTo>
                <a:lnTo>
                  <a:pt x="27" y="12"/>
                </a:lnTo>
                <a:lnTo>
                  <a:pt x="27" y="38"/>
                </a:lnTo>
                <a:lnTo>
                  <a:pt x="39" y="38"/>
                </a:lnTo>
                <a:lnTo>
                  <a:pt x="39" y="76"/>
                </a:lnTo>
                <a:lnTo>
                  <a:pt x="27" y="76"/>
                </a:lnTo>
                <a:lnTo>
                  <a:pt x="27" y="103"/>
                </a:lnTo>
                <a:lnTo>
                  <a:pt x="13" y="103"/>
                </a:lnTo>
                <a:lnTo>
                  <a:pt x="13" y="115"/>
                </a:lnTo>
                <a:lnTo>
                  <a:pt x="0" y="115"/>
                </a:lnTo>
                <a:lnTo>
                  <a:pt x="0" y="103"/>
                </a:lnTo>
                <a:lnTo>
                  <a:pt x="13" y="103"/>
                </a:lnTo>
                <a:lnTo>
                  <a:pt x="13" y="76"/>
                </a:lnTo>
                <a:lnTo>
                  <a:pt x="27" y="76"/>
                </a:lnTo>
                <a:lnTo>
                  <a:pt x="27" y="38"/>
                </a:lnTo>
                <a:lnTo>
                  <a:pt x="13" y="38"/>
                </a:lnTo>
                <a:lnTo>
                  <a:pt x="13" y="12"/>
                </a:lnTo>
                <a:lnTo>
                  <a:pt x="0" y="12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6026150" y="4164013"/>
            <a:ext cx="1139825" cy="2012950"/>
          </a:xfrm>
          <a:custGeom>
            <a:rect b="b" l="l" r="r" t="t"/>
            <a:pathLst>
              <a:path extrusionOk="0" h="1268" w="718">
                <a:moveTo>
                  <a:pt x="0" y="0"/>
                </a:moveTo>
                <a:lnTo>
                  <a:pt x="14" y="0"/>
                </a:lnTo>
                <a:lnTo>
                  <a:pt x="14" y="13"/>
                </a:lnTo>
                <a:lnTo>
                  <a:pt x="29" y="13"/>
                </a:lnTo>
                <a:lnTo>
                  <a:pt x="29" y="26"/>
                </a:lnTo>
                <a:lnTo>
                  <a:pt x="43" y="26"/>
                </a:lnTo>
                <a:lnTo>
                  <a:pt x="43" y="65"/>
                </a:lnTo>
                <a:lnTo>
                  <a:pt x="57" y="65"/>
                </a:lnTo>
                <a:lnTo>
                  <a:pt x="57" y="92"/>
                </a:lnTo>
                <a:lnTo>
                  <a:pt x="70" y="92"/>
                </a:lnTo>
                <a:lnTo>
                  <a:pt x="70" y="117"/>
                </a:lnTo>
                <a:lnTo>
                  <a:pt x="84" y="117"/>
                </a:lnTo>
                <a:lnTo>
                  <a:pt x="84" y="130"/>
                </a:lnTo>
                <a:lnTo>
                  <a:pt x="98" y="130"/>
                </a:lnTo>
                <a:lnTo>
                  <a:pt x="98" y="143"/>
                </a:lnTo>
                <a:lnTo>
                  <a:pt x="112" y="143"/>
                </a:lnTo>
                <a:lnTo>
                  <a:pt x="112" y="157"/>
                </a:lnTo>
                <a:lnTo>
                  <a:pt x="126" y="157"/>
                </a:lnTo>
                <a:lnTo>
                  <a:pt x="126" y="169"/>
                </a:lnTo>
                <a:lnTo>
                  <a:pt x="141" y="169"/>
                </a:lnTo>
                <a:lnTo>
                  <a:pt x="141" y="195"/>
                </a:lnTo>
                <a:lnTo>
                  <a:pt x="154" y="195"/>
                </a:lnTo>
                <a:lnTo>
                  <a:pt x="154" y="209"/>
                </a:lnTo>
                <a:lnTo>
                  <a:pt x="169" y="209"/>
                </a:lnTo>
                <a:lnTo>
                  <a:pt x="169" y="222"/>
                </a:lnTo>
                <a:lnTo>
                  <a:pt x="182" y="222"/>
                </a:lnTo>
                <a:lnTo>
                  <a:pt x="182" y="235"/>
                </a:lnTo>
                <a:lnTo>
                  <a:pt x="197" y="235"/>
                </a:lnTo>
                <a:lnTo>
                  <a:pt x="197" y="249"/>
                </a:lnTo>
                <a:lnTo>
                  <a:pt x="211" y="249"/>
                </a:lnTo>
                <a:lnTo>
                  <a:pt x="211" y="262"/>
                </a:lnTo>
                <a:lnTo>
                  <a:pt x="225" y="262"/>
                </a:lnTo>
                <a:lnTo>
                  <a:pt x="225" y="275"/>
                </a:lnTo>
                <a:lnTo>
                  <a:pt x="239" y="275"/>
                </a:lnTo>
                <a:lnTo>
                  <a:pt x="239" y="288"/>
                </a:lnTo>
                <a:lnTo>
                  <a:pt x="253" y="288"/>
                </a:lnTo>
                <a:lnTo>
                  <a:pt x="253" y="314"/>
                </a:lnTo>
                <a:lnTo>
                  <a:pt x="267" y="314"/>
                </a:lnTo>
                <a:lnTo>
                  <a:pt x="267" y="339"/>
                </a:lnTo>
                <a:lnTo>
                  <a:pt x="281" y="339"/>
                </a:lnTo>
                <a:lnTo>
                  <a:pt x="281" y="365"/>
                </a:lnTo>
                <a:lnTo>
                  <a:pt x="296" y="365"/>
                </a:lnTo>
                <a:lnTo>
                  <a:pt x="296" y="392"/>
                </a:lnTo>
                <a:lnTo>
                  <a:pt x="309" y="392"/>
                </a:lnTo>
                <a:lnTo>
                  <a:pt x="309" y="431"/>
                </a:lnTo>
                <a:lnTo>
                  <a:pt x="323" y="431"/>
                </a:lnTo>
                <a:lnTo>
                  <a:pt x="323" y="470"/>
                </a:lnTo>
                <a:lnTo>
                  <a:pt x="337" y="470"/>
                </a:lnTo>
                <a:lnTo>
                  <a:pt x="337" y="510"/>
                </a:lnTo>
                <a:lnTo>
                  <a:pt x="365" y="510"/>
                </a:lnTo>
                <a:lnTo>
                  <a:pt x="365" y="497"/>
                </a:lnTo>
                <a:lnTo>
                  <a:pt x="380" y="497"/>
                </a:lnTo>
                <a:lnTo>
                  <a:pt x="380" y="484"/>
                </a:lnTo>
                <a:lnTo>
                  <a:pt x="394" y="484"/>
                </a:lnTo>
                <a:lnTo>
                  <a:pt x="394" y="457"/>
                </a:lnTo>
                <a:lnTo>
                  <a:pt x="409" y="457"/>
                </a:lnTo>
                <a:lnTo>
                  <a:pt x="409" y="431"/>
                </a:lnTo>
                <a:lnTo>
                  <a:pt x="421" y="431"/>
                </a:lnTo>
                <a:lnTo>
                  <a:pt x="421" y="405"/>
                </a:lnTo>
                <a:lnTo>
                  <a:pt x="435" y="405"/>
                </a:lnTo>
                <a:lnTo>
                  <a:pt x="435" y="392"/>
                </a:lnTo>
                <a:lnTo>
                  <a:pt x="449" y="392"/>
                </a:lnTo>
                <a:lnTo>
                  <a:pt x="449" y="365"/>
                </a:lnTo>
                <a:lnTo>
                  <a:pt x="463" y="365"/>
                </a:lnTo>
                <a:lnTo>
                  <a:pt x="463" y="352"/>
                </a:lnTo>
                <a:lnTo>
                  <a:pt x="478" y="352"/>
                </a:lnTo>
                <a:lnTo>
                  <a:pt x="478" y="326"/>
                </a:lnTo>
                <a:lnTo>
                  <a:pt x="492" y="326"/>
                </a:lnTo>
                <a:lnTo>
                  <a:pt x="492" y="314"/>
                </a:lnTo>
                <a:lnTo>
                  <a:pt x="506" y="314"/>
                </a:lnTo>
                <a:lnTo>
                  <a:pt x="506" y="300"/>
                </a:lnTo>
                <a:lnTo>
                  <a:pt x="521" y="300"/>
                </a:lnTo>
                <a:lnTo>
                  <a:pt x="521" y="288"/>
                </a:lnTo>
                <a:lnTo>
                  <a:pt x="535" y="288"/>
                </a:lnTo>
                <a:lnTo>
                  <a:pt x="535" y="262"/>
                </a:lnTo>
                <a:lnTo>
                  <a:pt x="548" y="262"/>
                </a:lnTo>
                <a:lnTo>
                  <a:pt x="548" y="249"/>
                </a:lnTo>
                <a:lnTo>
                  <a:pt x="562" y="249"/>
                </a:lnTo>
                <a:lnTo>
                  <a:pt x="562" y="235"/>
                </a:lnTo>
                <a:lnTo>
                  <a:pt x="577" y="235"/>
                </a:lnTo>
                <a:lnTo>
                  <a:pt x="577" y="222"/>
                </a:lnTo>
                <a:lnTo>
                  <a:pt x="591" y="222"/>
                </a:lnTo>
                <a:lnTo>
                  <a:pt x="591" y="209"/>
                </a:lnTo>
                <a:lnTo>
                  <a:pt x="605" y="209"/>
                </a:lnTo>
                <a:lnTo>
                  <a:pt x="605" y="195"/>
                </a:lnTo>
                <a:lnTo>
                  <a:pt x="619" y="195"/>
                </a:lnTo>
                <a:lnTo>
                  <a:pt x="619" y="183"/>
                </a:lnTo>
                <a:lnTo>
                  <a:pt x="632" y="183"/>
                </a:lnTo>
                <a:lnTo>
                  <a:pt x="632" y="169"/>
                </a:lnTo>
                <a:lnTo>
                  <a:pt x="647" y="169"/>
                </a:lnTo>
                <a:lnTo>
                  <a:pt x="647" y="143"/>
                </a:lnTo>
                <a:lnTo>
                  <a:pt x="660" y="143"/>
                </a:lnTo>
                <a:lnTo>
                  <a:pt x="660" y="130"/>
                </a:lnTo>
                <a:lnTo>
                  <a:pt x="675" y="130"/>
                </a:lnTo>
                <a:lnTo>
                  <a:pt x="675" y="105"/>
                </a:lnTo>
                <a:lnTo>
                  <a:pt x="689" y="105"/>
                </a:lnTo>
                <a:lnTo>
                  <a:pt x="689" y="65"/>
                </a:lnTo>
                <a:lnTo>
                  <a:pt x="703" y="65"/>
                </a:lnTo>
                <a:lnTo>
                  <a:pt x="703" y="53"/>
                </a:lnTo>
                <a:lnTo>
                  <a:pt x="717" y="53"/>
                </a:lnTo>
                <a:lnTo>
                  <a:pt x="717" y="92"/>
                </a:lnTo>
                <a:lnTo>
                  <a:pt x="703" y="92"/>
                </a:lnTo>
                <a:lnTo>
                  <a:pt x="703" y="169"/>
                </a:lnTo>
                <a:lnTo>
                  <a:pt x="689" y="169"/>
                </a:lnTo>
                <a:lnTo>
                  <a:pt x="689" y="249"/>
                </a:lnTo>
                <a:lnTo>
                  <a:pt x="675" y="249"/>
                </a:lnTo>
                <a:lnTo>
                  <a:pt x="675" y="314"/>
                </a:lnTo>
                <a:lnTo>
                  <a:pt x="660" y="314"/>
                </a:lnTo>
                <a:lnTo>
                  <a:pt x="660" y="365"/>
                </a:lnTo>
                <a:lnTo>
                  <a:pt x="647" y="365"/>
                </a:lnTo>
                <a:lnTo>
                  <a:pt x="647" y="405"/>
                </a:lnTo>
                <a:lnTo>
                  <a:pt x="632" y="405"/>
                </a:lnTo>
                <a:lnTo>
                  <a:pt x="632" y="444"/>
                </a:lnTo>
                <a:lnTo>
                  <a:pt x="619" y="444"/>
                </a:lnTo>
                <a:lnTo>
                  <a:pt x="619" y="497"/>
                </a:lnTo>
                <a:lnTo>
                  <a:pt x="605" y="497"/>
                </a:lnTo>
                <a:lnTo>
                  <a:pt x="605" y="561"/>
                </a:lnTo>
                <a:lnTo>
                  <a:pt x="591" y="561"/>
                </a:lnTo>
                <a:lnTo>
                  <a:pt x="591" y="588"/>
                </a:lnTo>
                <a:lnTo>
                  <a:pt x="577" y="588"/>
                </a:lnTo>
                <a:lnTo>
                  <a:pt x="577" y="627"/>
                </a:lnTo>
                <a:lnTo>
                  <a:pt x="562" y="627"/>
                </a:lnTo>
                <a:lnTo>
                  <a:pt x="562" y="666"/>
                </a:lnTo>
                <a:lnTo>
                  <a:pt x="548" y="666"/>
                </a:lnTo>
                <a:lnTo>
                  <a:pt x="548" y="679"/>
                </a:lnTo>
                <a:lnTo>
                  <a:pt x="535" y="679"/>
                </a:lnTo>
                <a:lnTo>
                  <a:pt x="535" y="692"/>
                </a:lnTo>
                <a:lnTo>
                  <a:pt x="521" y="692"/>
                </a:lnTo>
                <a:lnTo>
                  <a:pt x="521" y="706"/>
                </a:lnTo>
                <a:lnTo>
                  <a:pt x="506" y="706"/>
                </a:lnTo>
                <a:lnTo>
                  <a:pt x="506" y="719"/>
                </a:lnTo>
                <a:lnTo>
                  <a:pt x="492" y="719"/>
                </a:lnTo>
                <a:lnTo>
                  <a:pt x="492" y="744"/>
                </a:lnTo>
                <a:lnTo>
                  <a:pt x="478" y="744"/>
                </a:lnTo>
                <a:lnTo>
                  <a:pt x="478" y="757"/>
                </a:lnTo>
                <a:lnTo>
                  <a:pt x="463" y="757"/>
                </a:lnTo>
                <a:lnTo>
                  <a:pt x="463" y="770"/>
                </a:lnTo>
                <a:lnTo>
                  <a:pt x="449" y="770"/>
                </a:lnTo>
                <a:lnTo>
                  <a:pt x="449" y="783"/>
                </a:lnTo>
                <a:lnTo>
                  <a:pt x="435" y="783"/>
                </a:lnTo>
                <a:lnTo>
                  <a:pt x="435" y="796"/>
                </a:lnTo>
                <a:lnTo>
                  <a:pt x="421" y="796"/>
                </a:lnTo>
                <a:lnTo>
                  <a:pt x="421" y="849"/>
                </a:lnTo>
                <a:lnTo>
                  <a:pt x="435" y="849"/>
                </a:lnTo>
                <a:lnTo>
                  <a:pt x="435" y="862"/>
                </a:lnTo>
                <a:lnTo>
                  <a:pt x="449" y="862"/>
                </a:lnTo>
                <a:lnTo>
                  <a:pt x="449" y="875"/>
                </a:lnTo>
                <a:lnTo>
                  <a:pt x="506" y="875"/>
                </a:lnTo>
                <a:lnTo>
                  <a:pt x="506" y="902"/>
                </a:lnTo>
                <a:lnTo>
                  <a:pt x="492" y="902"/>
                </a:lnTo>
                <a:lnTo>
                  <a:pt x="492" y="953"/>
                </a:lnTo>
                <a:lnTo>
                  <a:pt x="478" y="953"/>
                </a:lnTo>
                <a:lnTo>
                  <a:pt x="478" y="1005"/>
                </a:lnTo>
                <a:lnTo>
                  <a:pt x="463" y="1005"/>
                </a:lnTo>
                <a:lnTo>
                  <a:pt x="463" y="1150"/>
                </a:lnTo>
                <a:lnTo>
                  <a:pt x="449" y="1150"/>
                </a:lnTo>
                <a:lnTo>
                  <a:pt x="449" y="1188"/>
                </a:lnTo>
                <a:lnTo>
                  <a:pt x="463" y="1188"/>
                </a:lnTo>
                <a:lnTo>
                  <a:pt x="463" y="1201"/>
                </a:lnTo>
                <a:lnTo>
                  <a:pt x="478" y="1201"/>
                </a:lnTo>
                <a:lnTo>
                  <a:pt x="478" y="1214"/>
                </a:lnTo>
                <a:lnTo>
                  <a:pt x="506" y="1214"/>
                </a:lnTo>
                <a:lnTo>
                  <a:pt x="506" y="1241"/>
                </a:lnTo>
                <a:lnTo>
                  <a:pt x="492" y="1241"/>
                </a:lnTo>
                <a:lnTo>
                  <a:pt x="492" y="1253"/>
                </a:lnTo>
                <a:lnTo>
                  <a:pt x="478" y="1253"/>
                </a:lnTo>
                <a:lnTo>
                  <a:pt x="478" y="1267"/>
                </a:lnTo>
                <a:lnTo>
                  <a:pt x="449" y="1267"/>
                </a:lnTo>
                <a:lnTo>
                  <a:pt x="449" y="1241"/>
                </a:lnTo>
                <a:lnTo>
                  <a:pt x="435" y="1241"/>
                </a:lnTo>
                <a:lnTo>
                  <a:pt x="435" y="1227"/>
                </a:lnTo>
                <a:lnTo>
                  <a:pt x="409" y="1227"/>
                </a:lnTo>
                <a:lnTo>
                  <a:pt x="409" y="1214"/>
                </a:lnTo>
                <a:lnTo>
                  <a:pt x="380" y="1214"/>
                </a:lnTo>
                <a:lnTo>
                  <a:pt x="380" y="1123"/>
                </a:lnTo>
                <a:lnTo>
                  <a:pt x="394" y="1123"/>
                </a:lnTo>
                <a:lnTo>
                  <a:pt x="394" y="1110"/>
                </a:lnTo>
                <a:lnTo>
                  <a:pt x="380" y="1110"/>
                </a:lnTo>
                <a:lnTo>
                  <a:pt x="380" y="1084"/>
                </a:lnTo>
                <a:lnTo>
                  <a:pt x="394" y="1084"/>
                </a:lnTo>
                <a:lnTo>
                  <a:pt x="394" y="1071"/>
                </a:lnTo>
                <a:lnTo>
                  <a:pt x="380" y="1071"/>
                </a:lnTo>
                <a:lnTo>
                  <a:pt x="380" y="1005"/>
                </a:lnTo>
                <a:lnTo>
                  <a:pt x="365" y="1005"/>
                </a:lnTo>
                <a:lnTo>
                  <a:pt x="365" y="979"/>
                </a:lnTo>
                <a:lnTo>
                  <a:pt x="380" y="979"/>
                </a:lnTo>
                <a:lnTo>
                  <a:pt x="380" y="953"/>
                </a:lnTo>
                <a:lnTo>
                  <a:pt x="365" y="953"/>
                </a:lnTo>
                <a:lnTo>
                  <a:pt x="365" y="927"/>
                </a:lnTo>
                <a:lnTo>
                  <a:pt x="351" y="927"/>
                </a:lnTo>
                <a:lnTo>
                  <a:pt x="351" y="875"/>
                </a:lnTo>
                <a:lnTo>
                  <a:pt x="337" y="875"/>
                </a:lnTo>
                <a:lnTo>
                  <a:pt x="337" y="849"/>
                </a:lnTo>
                <a:lnTo>
                  <a:pt x="323" y="849"/>
                </a:lnTo>
                <a:lnTo>
                  <a:pt x="323" y="770"/>
                </a:lnTo>
                <a:lnTo>
                  <a:pt x="309" y="770"/>
                </a:lnTo>
                <a:lnTo>
                  <a:pt x="309" y="732"/>
                </a:lnTo>
                <a:lnTo>
                  <a:pt x="296" y="732"/>
                </a:lnTo>
                <a:lnTo>
                  <a:pt x="296" y="692"/>
                </a:lnTo>
                <a:lnTo>
                  <a:pt x="281" y="692"/>
                </a:lnTo>
                <a:lnTo>
                  <a:pt x="281" y="653"/>
                </a:lnTo>
                <a:lnTo>
                  <a:pt x="267" y="653"/>
                </a:lnTo>
                <a:lnTo>
                  <a:pt x="267" y="640"/>
                </a:lnTo>
                <a:lnTo>
                  <a:pt x="253" y="640"/>
                </a:lnTo>
                <a:lnTo>
                  <a:pt x="253" y="627"/>
                </a:lnTo>
                <a:lnTo>
                  <a:pt x="239" y="627"/>
                </a:lnTo>
                <a:lnTo>
                  <a:pt x="239" y="614"/>
                </a:lnTo>
                <a:lnTo>
                  <a:pt x="225" y="614"/>
                </a:lnTo>
                <a:lnTo>
                  <a:pt x="225" y="600"/>
                </a:lnTo>
                <a:lnTo>
                  <a:pt x="211" y="600"/>
                </a:lnTo>
                <a:lnTo>
                  <a:pt x="211" y="575"/>
                </a:lnTo>
                <a:lnTo>
                  <a:pt x="197" y="575"/>
                </a:lnTo>
                <a:lnTo>
                  <a:pt x="197" y="561"/>
                </a:lnTo>
                <a:lnTo>
                  <a:pt x="182" y="561"/>
                </a:lnTo>
                <a:lnTo>
                  <a:pt x="182" y="548"/>
                </a:lnTo>
                <a:lnTo>
                  <a:pt x="169" y="548"/>
                </a:lnTo>
                <a:lnTo>
                  <a:pt x="169" y="534"/>
                </a:lnTo>
                <a:lnTo>
                  <a:pt x="154" y="534"/>
                </a:lnTo>
                <a:lnTo>
                  <a:pt x="154" y="510"/>
                </a:lnTo>
                <a:lnTo>
                  <a:pt x="141" y="510"/>
                </a:lnTo>
                <a:lnTo>
                  <a:pt x="141" y="497"/>
                </a:lnTo>
                <a:lnTo>
                  <a:pt x="126" y="497"/>
                </a:lnTo>
                <a:lnTo>
                  <a:pt x="126" y="470"/>
                </a:lnTo>
                <a:lnTo>
                  <a:pt x="112" y="470"/>
                </a:lnTo>
                <a:lnTo>
                  <a:pt x="112" y="444"/>
                </a:lnTo>
                <a:lnTo>
                  <a:pt x="98" y="444"/>
                </a:lnTo>
                <a:lnTo>
                  <a:pt x="98" y="405"/>
                </a:lnTo>
                <a:lnTo>
                  <a:pt x="84" y="405"/>
                </a:lnTo>
                <a:lnTo>
                  <a:pt x="84" y="379"/>
                </a:lnTo>
                <a:lnTo>
                  <a:pt x="70" y="379"/>
                </a:lnTo>
                <a:lnTo>
                  <a:pt x="70" y="352"/>
                </a:lnTo>
                <a:lnTo>
                  <a:pt x="57" y="352"/>
                </a:lnTo>
                <a:lnTo>
                  <a:pt x="57" y="314"/>
                </a:lnTo>
                <a:lnTo>
                  <a:pt x="43" y="314"/>
                </a:lnTo>
                <a:lnTo>
                  <a:pt x="43" y="275"/>
                </a:lnTo>
                <a:lnTo>
                  <a:pt x="29" y="275"/>
                </a:lnTo>
                <a:lnTo>
                  <a:pt x="29" y="209"/>
                </a:lnTo>
                <a:lnTo>
                  <a:pt x="14" y="209"/>
                </a:lnTo>
                <a:lnTo>
                  <a:pt x="14" y="143"/>
                </a:lnTo>
                <a:lnTo>
                  <a:pt x="0" y="143"/>
                </a:lnTo>
                <a:lnTo>
                  <a:pt x="0" y="0"/>
                </a:lnTo>
              </a:path>
            </a:pathLst>
          </a:custGeom>
          <a:solidFill>
            <a:srgbClr val="FF00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5556250" y="4225925"/>
            <a:ext cx="758825" cy="1825625"/>
          </a:xfrm>
          <a:custGeom>
            <a:rect b="b" l="l" r="r" t="t"/>
            <a:pathLst>
              <a:path extrusionOk="0" h="1150" w="478">
                <a:moveTo>
                  <a:pt x="197" y="0"/>
                </a:moveTo>
                <a:lnTo>
                  <a:pt x="210" y="0"/>
                </a:lnTo>
                <a:lnTo>
                  <a:pt x="210" y="14"/>
                </a:lnTo>
                <a:lnTo>
                  <a:pt x="224" y="14"/>
                </a:lnTo>
                <a:lnTo>
                  <a:pt x="224" y="41"/>
                </a:lnTo>
                <a:lnTo>
                  <a:pt x="239" y="41"/>
                </a:lnTo>
                <a:lnTo>
                  <a:pt x="239" y="66"/>
                </a:lnTo>
                <a:lnTo>
                  <a:pt x="252" y="66"/>
                </a:lnTo>
                <a:lnTo>
                  <a:pt x="252" y="104"/>
                </a:lnTo>
                <a:lnTo>
                  <a:pt x="267" y="104"/>
                </a:lnTo>
                <a:lnTo>
                  <a:pt x="267" y="131"/>
                </a:lnTo>
                <a:lnTo>
                  <a:pt x="280" y="131"/>
                </a:lnTo>
                <a:lnTo>
                  <a:pt x="280" y="210"/>
                </a:lnTo>
                <a:lnTo>
                  <a:pt x="294" y="210"/>
                </a:lnTo>
                <a:lnTo>
                  <a:pt x="294" y="262"/>
                </a:lnTo>
                <a:lnTo>
                  <a:pt x="308" y="262"/>
                </a:lnTo>
                <a:lnTo>
                  <a:pt x="308" y="313"/>
                </a:lnTo>
                <a:lnTo>
                  <a:pt x="322" y="313"/>
                </a:lnTo>
                <a:lnTo>
                  <a:pt x="322" y="366"/>
                </a:lnTo>
                <a:lnTo>
                  <a:pt x="337" y="366"/>
                </a:lnTo>
                <a:lnTo>
                  <a:pt x="337" y="431"/>
                </a:lnTo>
                <a:lnTo>
                  <a:pt x="351" y="431"/>
                </a:lnTo>
                <a:lnTo>
                  <a:pt x="351" y="627"/>
                </a:lnTo>
                <a:lnTo>
                  <a:pt x="364" y="627"/>
                </a:lnTo>
                <a:lnTo>
                  <a:pt x="364" y="640"/>
                </a:lnTo>
                <a:lnTo>
                  <a:pt x="378" y="640"/>
                </a:lnTo>
                <a:lnTo>
                  <a:pt x="378" y="653"/>
                </a:lnTo>
                <a:lnTo>
                  <a:pt x="392" y="653"/>
                </a:lnTo>
                <a:lnTo>
                  <a:pt x="392" y="667"/>
                </a:lnTo>
                <a:lnTo>
                  <a:pt x="378" y="667"/>
                </a:lnTo>
                <a:lnTo>
                  <a:pt x="378" y="653"/>
                </a:lnTo>
                <a:lnTo>
                  <a:pt x="364" y="653"/>
                </a:lnTo>
                <a:lnTo>
                  <a:pt x="364" y="640"/>
                </a:lnTo>
                <a:lnTo>
                  <a:pt x="351" y="640"/>
                </a:lnTo>
                <a:lnTo>
                  <a:pt x="351" y="667"/>
                </a:lnTo>
                <a:lnTo>
                  <a:pt x="337" y="667"/>
                </a:lnTo>
                <a:lnTo>
                  <a:pt x="337" y="679"/>
                </a:lnTo>
                <a:lnTo>
                  <a:pt x="322" y="679"/>
                </a:lnTo>
                <a:lnTo>
                  <a:pt x="322" y="706"/>
                </a:lnTo>
                <a:lnTo>
                  <a:pt x="308" y="706"/>
                </a:lnTo>
                <a:lnTo>
                  <a:pt x="308" y="719"/>
                </a:lnTo>
                <a:lnTo>
                  <a:pt x="294" y="719"/>
                </a:lnTo>
                <a:lnTo>
                  <a:pt x="294" y="731"/>
                </a:lnTo>
                <a:lnTo>
                  <a:pt x="280" y="731"/>
                </a:lnTo>
                <a:lnTo>
                  <a:pt x="280" y="745"/>
                </a:lnTo>
                <a:lnTo>
                  <a:pt x="294" y="745"/>
                </a:lnTo>
                <a:lnTo>
                  <a:pt x="294" y="757"/>
                </a:lnTo>
                <a:lnTo>
                  <a:pt x="337" y="757"/>
                </a:lnTo>
                <a:lnTo>
                  <a:pt x="337" y="771"/>
                </a:lnTo>
                <a:lnTo>
                  <a:pt x="392" y="771"/>
                </a:lnTo>
                <a:lnTo>
                  <a:pt x="392" y="784"/>
                </a:lnTo>
                <a:lnTo>
                  <a:pt x="462" y="784"/>
                </a:lnTo>
                <a:lnTo>
                  <a:pt x="462" y="797"/>
                </a:lnTo>
                <a:lnTo>
                  <a:pt x="477" y="797"/>
                </a:lnTo>
                <a:lnTo>
                  <a:pt x="477" y="1057"/>
                </a:lnTo>
                <a:lnTo>
                  <a:pt x="462" y="1057"/>
                </a:lnTo>
                <a:lnTo>
                  <a:pt x="462" y="1084"/>
                </a:lnTo>
                <a:lnTo>
                  <a:pt x="448" y="1084"/>
                </a:lnTo>
                <a:lnTo>
                  <a:pt x="448" y="1097"/>
                </a:lnTo>
                <a:lnTo>
                  <a:pt x="435" y="1097"/>
                </a:lnTo>
                <a:lnTo>
                  <a:pt x="435" y="1110"/>
                </a:lnTo>
                <a:lnTo>
                  <a:pt x="421" y="1110"/>
                </a:lnTo>
                <a:lnTo>
                  <a:pt x="421" y="1122"/>
                </a:lnTo>
                <a:lnTo>
                  <a:pt x="392" y="1122"/>
                </a:lnTo>
                <a:lnTo>
                  <a:pt x="392" y="1136"/>
                </a:lnTo>
                <a:lnTo>
                  <a:pt x="322" y="1136"/>
                </a:lnTo>
                <a:lnTo>
                  <a:pt x="322" y="1149"/>
                </a:lnTo>
                <a:lnTo>
                  <a:pt x="183" y="1149"/>
                </a:lnTo>
                <a:lnTo>
                  <a:pt x="183" y="1136"/>
                </a:lnTo>
                <a:lnTo>
                  <a:pt x="154" y="1136"/>
                </a:lnTo>
                <a:lnTo>
                  <a:pt x="154" y="1122"/>
                </a:lnTo>
                <a:lnTo>
                  <a:pt x="125" y="1122"/>
                </a:lnTo>
                <a:lnTo>
                  <a:pt x="125" y="1110"/>
                </a:lnTo>
                <a:lnTo>
                  <a:pt x="98" y="1110"/>
                </a:lnTo>
                <a:lnTo>
                  <a:pt x="98" y="1097"/>
                </a:lnTo>
                <a:lnTo>
                  <a:pt x="70" y="1097"/>
                </a:lnTo>
                <a:lnTo>
                  <a:pt x="70" y="1084"/>
                </a:lnTo>
                <a:lnTo>
                  <a:pt x="55" y="1084"/>
                </a:lnTo>
                <a:lnTo>
                  <a:pt x="55" y="1071"/>
                </a:lnTo>
                <a:lnTo>
                  <a:pt x="41" y="1071"/>
                </a:lnTo>
                <a:lnTo>
                  <a:pt x="41" y="1057"/>
                </a:lnTo>
                <a:lnTo>
                  <a:pt x="28" y="1057"/>
                </a:lnTo>
                <a:lnTo>
                  <a:pt x="28" y="1046"/>
                </a:lnTo>
                <a:lnTo>
                  <a:pt x="14" y="1046"/>
                </a:lnTo>
                <a:lnTo>
                  <a:pt x="14" y="1019"/>
                </a:lnTo>
                <a:lnTo>
                  <a:pt x="0" y="1019"/>
                </a:lnTo>
                <a:lnTo>
                  <a:pt x="0" y="875"/>
                </a:lnTo>
                <a:lnTo>
                  <a:pt x="14" y="875"/>
                </a:lnTo>
                <a:lnTo>
                  <a:pt x="14" y="850"/>
                </a:lnTo>
                <a:lnTo>
                  <a:pt x="28" y="850"/>
                </a:lnTo>
                <a:lnTo>
                  <a:pt x="28" y="837"/>
                </a:lnTo>
                <a:lnTo>
                  <a:pt x="41" y="837"/>
                </a:lnTo>
                <a:lnTo>
                  <a:pt x="41" y="850"/>
                </a:lnTo>
                <a:lnTo>
                  <a:pt x="28" y="850"/>
                </a:lnTo>
                <a:lnTo>
                  <a:pt x="28" y="875"/>
                </a:lnTo>
                <a:lnTo>
                  <a:pt x="14" y="875"/>
                </a:lnTo>
                <a:lnTo>
                  <a:pt x="14" y="1019"/>
                </a:lnTo>
                <a:lnTo>
                  <a:pt x="28" y="1019"/>
                </a:lnTo>
                <a:lnTo>
                  <a:pt x="28" y="1046"/>
                </a:lnTo>
                <a:lnTo>
                  <a:pt x="41" y="1046"/>
                </a:lnTo>
                <a:lnTo>
                  <a:pt x="41" y="1057"/>
                </a:lnTo>
                <a:lnTo>
                  <a:pt x="55" y="1057"/>
                </a:lnTo>
                <a:lnTo>
                  <a:pt x="55" y="1071"/>
                </a:lnTo>
                <a:lnTo>
                  <a:pt x="70" y="1071"/>
                </a:lnTo>
                <a:lnTo>
                  <a:pt x="70" y="1084"/>
                </a:lnTo>
                <a:lnTo>
                  <a:pt x="98" y="1084"/>
                </a:lnTo>
                <a:lnTo>
                  <a:pt x="98" y="1097"/>
                </a:lnTo>
                <a:lnTo>
                  <a:pt x="125" y="1097"/>
                </a:lnTo>
                <a:lnTo>
                  <a:pt x="125" y="1110"/>
                </a:lnTo>
                <a:lnTo>
                  <a:pt x="154" y="1110"/>
                </a:lnTo>
                <a:lnTo>
                  <a:pt x="154" y="1122"/>
                </a:lnTo>
                <a:lnTo>
                  <a:pt x="183" y="1122"/>
                </a:lnTo>
                <a:lnTo>
                  <a:pt x="183" y="1136"/>
                </a:lnTo>
                <a:lnTo>
                  <a:pt x="322" y="1136"/>
                </a:lnTo>
                <a:lnTo>
                  <a:pt x="322" y="1122"/>
                </a:lnTo>
                <a:lnTo>
                  <a:pt x="392" y="1122"/>
                </a:lnTo>
                <a:lnTo>
                  <a:pt x="392" y="1110"/>
                </a:lnTo>
                <a:lnTo>
                  <a:pt x="421" y="1110"/>
                </a:lnTo>
                <a:lnTo>
                  <a:pt x="421" y="1097"/>
                </a:lnTo>
                <a:lnTo>
                  <a:pt x="435" y="1097"/>
                </a:lnTo>
                <a:lnTo>
                  <a:pt x="435" y="1084"/>
                </a:lnTo>
                <a:lnTo>
                  <a:pt x="448" y="1084"/>
                </a:lnTo>
                <a:lnTo>
                  <a:pt x="448" y="1057"/>
                </a:lnTo>
                <a:lnTo>
                  <a:pt x="462" y="1057"/>
                </a:lnTo>
                <a:lnTo>
                  <a:pt x="462" y="797"/>
                </a:lnTo>
                <a:lnTo>
                  <a:pt x="392" y="797"/>
                </a:lnTo>
                <a:lnTo>
                  <a:pt x="392" y="784"/>
                </a:lnTo>
                <a:lnTo>
                  <a:pt x="337" y="784"/>
                </a:lnTo>
                <a:lnTo>
                  <a:pt x="337" y="771"/>
                </a:lnTo>
                <a:lnTo>
                  <a:pt x="294" y="771"/>
                </a:lnTo>
                <a:lnTo>
                  <a:pt x="294" y="757"/>
                </a:lnTo>
                <a:lnTo>
                  <a:pt x="267" y="757"/>
                </a:lnTo>
                <a:lnTo>
                  <a:pt x="267" y="771"/>
                </a:lnTo>
                <a:lnTo>
                  <a:pt x="239" y="771"/>
                </a:lnTo>
                <a:lnTo>
                  <a:pt x="239" y="784"/>
                </a:lnTo>
                <a:lnTo>
                  <a:pt x="224" y="784"/>
                </a:lnTo>
                <a:lnTo>
                  <a:pt x="224" y="797"/>
                </a:lnTo>
                <a:lnTo>
                  <a:pt x="197" y="797"/>
                </a:lnTo>
                <a:lnTo>
                  <a:pt x="197" y="810"/>
                </a:lnTo>
                <a:lnTo>
                  <a:pt x="154" y="810"/>
                </a:lnTo>
                <a:lnTo>
                  <a:pt x="154" y="797"/>
                </a:lnTo>
                <a:lnTo>
                  <a:pt x="197" y="797"/>
                </a:lnTo>
                <a:lnTo>
                  <a:pt x="197" y="784"/>
                </a:lnTo>
                <a:lnTo>
                  <a:pt x="224" y="784"/>
                </a:lnTo>
                <a:lnTo>
                  <a:pt x="224" y="771"/>
                </a:lnTo>
                <a:lnTo>
                  <a:pt x="239" y="771"/>
                </a:lnTo>
                <a:lnTo>
                  <a:pt x="239" y="757"/>
                </a:lnTo>
                <a:lnTo>
                  <a:pt x="252" y="757"/>
                </a:lnTo>
                <a:lnTo>
                  <a:pt x="252" y="745"/>
                </a:lnTo>
                <a:lnTo>
                  <a:pt x="267" y="745"/>
                </a:lnTo>
                <a:lnTo>
                  <a:pt x="267" y="731"/>
                </a:lnTo>
                <a:lnTo>
                  <a:pt x="280" y="731"/>
                </a:lnTo>
                <a:lnTo>
                  <a:pt x="280" y="719"/>
                </a:lnTo>
                <a:lnTo>
                  <a:pt x="294" y="719"/>
                </a:lnTo>
                <a:lnTo>
                  <a:pt x="294" y="706"/>
                </a:lnTo>
                <a:lnTo>
                  <a:pt x="308" y="706"/>
                </a:lnTo>
                <a:lnTo>
                  <a:pt x="308" y="679"/>
                </a:lnTo>
                <a:lnTo>
                  <a:pt x="322" y="679"/>
                </a:lnTo>
                <a:lnTo>
                  <a:pt x="322" y="667"/>
                </a:lnTo>
                <a:lnTo>
                  <a:pt x="337" y="667"/>
                </a:lnTo>
                <a:lnTo>
                  <a:pt x="337" y="431"/>
                </a:lnTo>
                <a:lnTo>
                  <a:pt x="322" y="431"/>
                </a:lnTo>
                <a:lnTo>
                  <a:pt x="322" y="366"/>
                </a:lnTo>
                <a:lnTo>
                  <a:pt x="308" y="366"/>
                </a:lnTo>
                <a:lnTo>
                  <a:pt x="308" y="313"/>
                </a:lnTo>
                <a:lnTo>
                  <a:pt x="294" y="313"/>
                </a:lnTo>
                <a:lnTo>
                  <a:pt x="294" y="262"/>
                </a:lnTo>
                <a:lnTo>
                  <a:pt x="280" y="262"/>
                </a:lnTo>
                <a:lnTo>
                  <a:pt x="280" y="210"/>
                </a:lnTo>
                <a:lnTo>
                  <a:pt x="267" y="210"/>
                </a:lnTo>
                <a:lnTo>
                  <a:pt x="267" y="131"/>
                </a:lnTo>
                <a:lnTo>
                  <a:pt x="252" y="131"/>
                </a:lnTo>
                <a:lnTo>
                  <a:pt x="252" y="104"/>
                </a:lnTo>
                <a:lnTo>
                  <a:pt x="239" y="104"/>
                </a:lnTo>
                <a:lnTo>
                  <a:pt x="239" y="66"/>
                </a:lnTo>
                <a:lnTo>
                  <a:pt x="224" y="66"/>
                </a:lnTo>
                <a:lnTo>
                  <a:pt x="224" y="41"/>
                </a:lnTo>
                <a:lnTo>
                  <a:pt x="210" y="41"/>
                </a:lnTo>
                <a:lnTo>
                  <a:pt x="210" y="14"/>
                </a:lnTo>
                <a:lnTo>
                  <a:pt x="197" y="14"/>
                </a:lnTo>
                <a:lnTo>
                  <a:pt x="197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124700" y="4225925"/>
            <a:ext cx="19050" cy="17463"/>
          </a:xfrm>
          <a:custGeom>
            <a:rect b="b" l="l" r="r" t="t"/>
            <a:pathLst>
              <a:path extrusionOk="0" h="11" w="12">
                <a:moveTo>
                  <a:pt x="0" y="0"/>
                </a:moveTo>
                <a:lnTo>
                  <a:pt x="11" y="0"/>
                </a:lnTo>
                <a:lnTo>
                  <a:pt x="11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FF84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6116638" y="4246563"/>
            <a:ext cx="422275" cy="392112"/>
          </a:xfrm>
          <a:custGeom>
            <a:rect b="b" l="l" r="r" t="t"/>
            <a:pathLst>
              <a:path extrusionOk="0" h="247" w="266">
                <a:moveTo>
                  <a:pt x="0" y="0"/>
                </a:moveTo>
                <a:lnTo>
                  <a:pt x="14" y="0"/>
                </a:lnTo>
                <a:lnTo>
                  <a:pt x="14" y="13"/>
                </a:lnTo>
                <a:lnTo>
                  <a:pt x="41" y="13"/>
                </a:lnTo>
                <a:lnTo>
                  <a:pt x="41" y="26"/>
                </a:lnTo>
                <a:lnTo>
                  <a:pt x="68" y="26"/>
                </a:lnTo>
                <a:lnTo>
                  <a:pt x="68" y="39"/>
                </a:lnTo>
                <a:lnTo>
                  <a:pt x="97" y="39"/>
                </a:lnTo>
                <a:lnTo>
                  <a:pt x="97" y="52"/>
                </a:lnTo>
                <a:lnTo>
                  <a:pt x="125" y="52"/>
                </a:lnTo>
                <a:lnTo>
                  <a:pt x="125" y="64"/>
                </a:lnTo>
                <a:lnTo>
                  <a:pt x="154" y="64"/>
                </a:lnTo>
                <a:lnTo>
                  <a:pt x="154" y="77"/>
                </a:lnTo>
                <a:lnTo>
                  <a:pt x="182" y="77"/>
                </a:lnTo>
                <a:lnTo>
                  <a:pt x="182" y="90"/>
                </a:lnTo>
                <a:lnTo>
                  <a:pt x="223" y="90"/>
                </a:lnTo>
                <a:lnTo>
                  <a:pt x="223" y="129"/>
                </a:lnTo>
                <a:lnTo>
                  <a:pt x="237" y="129"/>
                </a:lnTo>
                <a:lnTo>
                  <a:pt x="237" y="143"/>
                </a:lnTo>
                <a:lnTo>
                  <a:pt x="250" y="143"/>
                </a:lnTo>
                <a:lnTo>
                  <a:pt x="250" y="155"/>
                </a:lnTo>
                <a:lnTo>
                  <a:pt x="265" y="155"/>
                </a:lnTo>
                <a:lnTo>
                  <a:pt x="265" y="182"/>
                </a:lnTo>
                <a:lnTo>
                  <a:pt x="250" y="182"/>
                </a:lnTo>
                <a:lnTo>
                  <a:pt x="250" y="194"/>
                </a:lnTo>
                <a:lnTo>
                  <a:pt x="237" y="194"/>
                </a:lnTo>
                <a:lnTo>
                  <a:pt x="237" y="220"/>
                </a:lnTo>
                <a:lnTo>
                  <a:pt x="223" y="220"/>
                </a:lnTo>
                <a:lnTo>
                  <a:pt x="223" y="246"/>
                </a:lnTo>
                <a:lnTo>
                  <a:pt x="209" y="246"/>
                </a:lnTo>
                <a:lnTo>
                  <a:pt x="209" y="182"/>
                </a:lnTo>
                <a:lnTo>
                  <a:pt x="196" y="182"/>
                </a:lnTo>
                <a:lnTo>
                  <a:pt x="196" y="220"/>
                </a:lnTo>
                <a:lnTo>
                  <a:pt x="182" y="220"/>
                </a:lnTo>
                <a:lnTo>
                  <a:pt x="182" y="208"/>
                </a:lnTo>
                <a:lnTo>
                  <a:pt x="167" y="208"/>
                </a:lnTo>
                <a:lnTo>
                  <a:pt x="167" y="194"/>
                </a:lnTo>
                <a:lnTo>
                  <a:pt x="154" y="194"/>
                </a:lnTo>
                <a:lnTo>
                  <a:pt x="154" y="182"/>
                </a:lnTo>
                <a:lnTo>
                  <a:pt x="139" y="182"/>
                </a:lnTo>
                <a:lnTo>
                  <a:pt x="139" y="169"/>
                </a:lnTo>
                <a:lnTo>
                  <a:pt x="125" y="169"/>
                </a:lnTo>
                <a:lnTo>
                  <a:pt x="125" y="155"/>
                </a:lnTo>
                <a:lnTo>
                  <a:pt x="110" y="155"/>
                </a:lnTo>
                <a:lnTo>
                  <a:pt x="110" y="143"/>
                </a:lnTo>
                <a:lnTo>
                  <a:pt x="97" y="143"/>
                </a:lnTo>
                <a:lnTo>
                  <a:pt x="97" y="116"/>
                </a:lnTo>
                <a:lnTo>
                  <a:pt x="83" y="116"/>
                </a:lnTo>
                <a:lnTo>
                  <a:pt x="83" y="103"/>
                </a:lnTo>
                <a:lnTo>
                  <a:pt x="68" y="103"/>
                </a:lnTo>
                <a:lnTo>
                  <a:pt x="68" y="90"/>
                </a:lnTo>
                <a:lnTo>
                  <a:pt x="55" y="90"/>
                </a:lnTo>
                <a:lnTo>
                  <a:pt x="55" y="77"/>
                </a:lnTo>
                <a:lnTo>
                  <a:pt x="41" y="77"/>
                </a:lnTo>
                <a:lnTo>
                  <a:pt x="41" y="64"/>
                </a:lnTo>
                <a:lnTo>
                  <a:pt x="26" y="64"/>
                </a:lnTo>
                <a:lnTo>
                  <a:pt x="26" y="39"/>
                </a:lnTo>
                <a:lnTo>
                  <a:pt x="14" y="39"/>
                </a:lnTo>
                <a:lnTo>
                  <a:pt x="14" y="13"/>
                </a:lnTo>
                <a:lnTo>
                  <a:pt x="0" y="13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6677025" y="4289425"/>
            <a:ext cx="422275" cy="349250"/>
          </a:xfrm>
          <a:custGeom>
            <a:rect b="b" l="l" r="r" t="t"/>
            <a:pathLst>
              <a:path extrusionOk="0" h="220" w="266">
                <a:moveTo>
                  <a:pt x="251" y="0"/>
                </a:moveTo>
                <a:lnTo>
                  <a:pt x="265" y="0"/>
                </a:lnTo>
                <a:lnTo>
                  <a:pt x="265" y="25"/>
                </a:lnTo>
                <a:lnTo>
                  <a:pt x="251" y="25"/>
                </a:lnTo>
                <a:lnTo>
                  <a:pt x="251" y="51"/>
                </a:lnTo>
                <a:lnTo>
                  <a:pt x="238" y="51"/>
                </a:lnTo>
                <a:lnTo>
                  <a:pt x="238" y="63"/>
                </a:lnTo>
                <a:lnTo>
                  <a:pt x="223" y="63"/>
                </a:lnTo>
                <a:lnTo>
                  <a:pt x="223" y="90"/>
                </a:lnTo>
                <a:lnTo>
                  <a:pt x="209" y="90"/>
                </a:lnTo>
                <a:lnTo>
                  <a:pt x="209" y="102"/>
                </a:lnTo>
                <a:lnTo>
                  <a:pt x="196" y="102"/>
                </a:lnTo>
                <a:lnTo>
                  <a:pt x="196" y="116"/>
                </a:lnTo>
                <a:lnTo>
                  <a:pt x="182" y="116"/>
                </a:lnTo>
                <a:lnTo>
                  <a:pt x="182" y="128"/>
                </a:lnTo>
                <a:lnTo>
                  <a:pt x="168" y="128"/>
                </a:lnTo>
                <a:lnTo>
                  <a:pt x="168" y="142"/>
                </a:lnTo>
                <a:lnTo>
                  <a:pt x="154" y="142"/>
                </a:lnTo>
                <a:lnTo>
                  <a:pt x="154" y="155"/>
                </a:lnTo>
                <a:lnTo>
                  <a:pt x="140" y="155"/>
                </a:lnTo>
                <a:lnTo>
                  <a:pt x="140" y="167"/>
                </a:lnTo>
                <a:lnTo>
                  <a:pt x="125" y="167"/>
                </a:lnTo>
                <a:lnTo>
                  <a:pt x="125" y="181"/>
                </a:lnTo>
                <a:lnTo>
                  <a:pt x="111" y="181"/>
                </a:lnTo>
                <a:lnTo>
                  <a:pt x="111" y="205"/>
                </a:lnTo>
                <a:lnTo>
                  <a:pt x="98" y="205"/>
                </a:lnTo>
                <a:lnTo>
                  <a:pt x="98" y="219"/>
                </a:lnTo>
                <a:lnTo>
                  <a:pt x="69" y="219"/>
                </a:lnTo>
                <a:lnTo>
                  <a:pt x="69" y="205"/>
                </a:lnTo>
                <a:lnTo>
                  <a:pt x="56" y="205"/>
                </a:lnTo>
                <a:lnTo>
                  <a:pt x="56" y="181"/>
                </a:lnTo>
                <a:lnTo>
                  <a:pt x="41" y="181"/>
                </a:lnTo>
                <a:lnTo>
                  <a:pt x="41" y="167"/>
                </a:lnTo>
                <a:lnTo>
                  <a:pt x="27" y="167"/>
                </a:lnTo>
                <a:lnTo>
                  <a:pt x="27" y="155"/>
                </a:lnTo>
                <a:lnTo>
                  <a:pt x="0" y="155"/>
                </a:lnTo>
                <a:lnTo>
                  <a:pt x="0" y="128"/>
                </a:lnTo>
                <a:lnTo>
                  <a:pt x="14" y="128"/>
                </a:lnTo>
                <a:lnTo>
                  <a:pt x="14" y="116"/>
                </a:lnTo>
                <a:lnTo>
                  <a:pt x="27" y="116"/>
                </a:lnTo>
                <a:lnTo>
                  <a:pt x="27" y="102"/>
                </a:lnTo>
                <a:lnTo>
                  <a:pt x="41" y="102"/>
                </a:lnTo>
                <a:lnTo>
                  <a:pt x="41" y="90"/>
                </a:lnTo>
                <a:lnTo>
                  <a:pt x="56" y="90"/>
                </a:lnTo>
                <a:lnTo>
                  <a:pt x="56" y="102"/>
                </a:lnTo>
                <a:lnTo>
                  <a:pt x="69" y="102"/>
                </a:lnTo>
                <a:lnTo>
                  <a:pt x="69" y="128"/>
                </a:lnTo>
                <a:lnTo>
                  <a:pt x="83" y="128"/>
                </a:lnTo>
                <a:lnTo>
                  <a:pt x="83" y="90"/>
                </a:lnTo>
                <a:lnTo>
                  <a:pt x="69" y="90"/>
                </a:lnTo>
                <a:lnTo>
                  <a:pt x="69" y="51"/>
                </a:lnTo>
                <a:lnTo>
                  <a:pt x="182" y="51"/>
                </a:lnTo>
                <a:lnTo>
                  <a:pt x="182" y="38"/>
                </a:lnTo>
                <a:lnTo>
                  <a:pt x="209" y="38"/>
                </a:lnTo>
                <a:lnTo>
                  <a:pt x="209" y="25"/>
                </a:lnTo>
                <a:lnTo>
                  <a:pt x="238" y="25"/>
                </a:lnTo>
                <a:lnTo>
                  <a:pt x="238" y="13"/>
                </a:lnTo>
                <a:lnTo>
                  <a:pt x="251" y="13"/>
                </a:lnTo>
                <a:lnTo>
                  <a:pt x="251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7505700" y="4392613"/>
            <a:ext cx="533400" cy="744537"/>
          </a:xfrm>
          <a:custGeom>
            <a:rect b="b" l="l" r="r" t="t"/>
            <a:pathLst>
              <a:path extrusionOk="0" h="469" w="336">
                <a:moveTo>
                  <a:pt x="167" y="0"/>
                </a:moveTo>
                <a:lnTo>
                  <a:pt x="182" y="0"/>
                </a:lnTo>
                <a:lnTo>
                  <a:pt x="182" y="13"/>
                </a:lnTo>
                <a:lnTo>
                  <a:pt x="167" y="13"/>
                </a:lnTo>
                <a:lnTo>
                  <a:pt x="167" y="26"/>
                </a:lnTo>
                <a:lnTo>
                  <a:pt x="153" y="26"/>
                </a:lnTo>
                <a:lnTo>
                  <a:pt x="153" y="39"/>
                </a:lnTo>
                <a:lnTo>
                  <a:pt x="140" y="39"/>
                </a:lnTo>
                <a:lnTo>
                  <a:pt x="140" y="91"/>
                </a:lnTo>
                <a:lnTo>
                  <a:pt x="153" y="91"/>
                </a:lnTo>
                <a:lnTo>
                  <a:pt x="153" y="130"/>
                </a:lnTo>
                <a:lnTo>
                  <a:pt x="167" y="130"/>
                </a:lnTo>
                <a:lnTo>
                  <a:pt x="167" y="156"/>
                </a:lnTo>
                <a:lnTo>
                  <a:pt x="182" y="156"/>
                </a:lnTo>
                <a:lnTo>
                  <a:pt x="182" y="183"/>
                </a:lnTo>
                <a:lnTo>
                  <a:pt x="195" y="183"/>
                </a:lnTo>
                <a:lnTo>
                  <a:pt x="195" y="208"/>
                </a:lnTo>
                <a:lnTo>
                  <a:pt x="209" y="208"/>
                </a:lnTo>
                <a:lnTo>
                  <a:pt x="209" y="235"/>
                </a:lnTo>
                <a:lnTo>
                  <a:pt x="223" y="235"/>
                </a:lnTo>
                <a:lnTo>
                  <a:pt x="223" y="260"/>
                </a:lnTo>
                <a:lnTo>
                  <a:pt x="238" y="260"/>
                </a:lnTo>
                <a:lnTo>
                  <a:pt x="238" y="286"/>
                </a:lnTo>
                <a:lnTo>
                  <a:pt x="251" y="286"/>
                </a:lnTo>
                <a:lnTo>
                  <a:pt x="251" y="298"/>
                </a:lnTo>
                <a:lnTo>
                  <a:pt x="265" y="298"/>
                </a:lnTo>
                <a:lnTo>
                  <a:pt x="265" y="312"/>
                </a:lnTo>
                <a:lnTo>
                  <a:pt x="307" y="312"/>
                </a:lnTo>
                <a:lnTo>
                  <a:pt x="307" y="325"/>
                </a:lnTo>
                <a:lnTo>
                  <a:pt x="280" y="325"/>
                </a:lnTo>
                <a:lnTo>
                  <a:pt x="280" y="338"/>
                </a:lnTo>
                <a:lnTo>
                  <a:pt x="238" y="338"/>
                </a:lnTo>
                <a:lnTo>
                  <a:pt x="238" y="351"/>
                </a:lnTo>
                <a:lnTo>
                  <a:pt x="209" y="351"/>
                </a:lnTo>
                <a:lnTo>
                  <a:pt x="209" y="363"/>
                </a:lnTo>
                <a:lnTo>
                  <a:pt x="182" y="363"/>
                </a:lnTo>
                <a:lnTo>
                  <a:pt x="182" y="377"/>
                </a:lnTo>
                <a:lnTo>
                  <a:pt x="223" y="377"/>
                </a:lnTo>
                <a:lnTo>
                  <a:pt x="223" y="390"/>
                </a:lnTo>
                <a:lnTo>
                  <a:pt x="251" y="390"/>
                </a:lnTo>
                <a:lnTo>
                  <a:pt x="251" y="403"/>
                </a:lnTo>
                <a:lnTo>
                  <a:pt x="265" y="403"/>
                </a:lnTo>
                <a:lnTo>
                  <a:pt x="265" y="417"/>
                </a:lnTo>
                <a:lnTo>
                  <a:pt x="280" y="417"/>
                </a:lnTo>
                <a:lnTo>
                  <a:pt x="280" y="429"/>
                </a:lnTo>
                <a:lnTo>
                  <a:pt x="307" y="429"/>
                </a:lnTo>
                <a:lnTo>
                  <a:pt x="307" y="442"/>
                </a:lnTo>
                <a:lnTo>
                  <a:pt x="321" y="442"/>
                </a:lnTo>
                <a:lnTo>
                  <a:pt x="321" y="455"/>
                </a:lnTo>
                <a:lnTo>
                  <a:pt x="335" y="455"/>
                </a:lnTo>
                <a:lnTo>
                  <a:pt x="335" y="468"/>
                </a:lnTo>
                <a:lnTo>
                  <a:pt x="321" y="468"/>
                </a:lnTo>
                <a:lnTo>
                  <a:pt x="321" y="455"/>
                </a:lnTo>
                <a:lnTo>
                  <a:pt x="307" y="455"/>
                </a:lnTo>
                <a:lnTo>
                  <a:pt x="307" y="442"/>
                </a:lnTo>
                <a:lnTo>
                  <a:pt x="280" y="442"/>
                </a:lnTo>
                <a:lnTo>
                  <a:pt x="280" y="429"/>
                </a:lnTo>
                <a:lnTo>
                  <a:pt x="265" y="429"/>
                </a:lnTo>
                <a:lnTo>
                  <a:pt x="265" y="417"/>
                </a:lnTo>
                <a:lnTo>
                  <a:pt x="251" y="417"/>
                </a:lnTo>
                <a:lnTo>
                  <a:pt x="251" y="403"/>
                </a:lnTo>
                <a:lnTo>
                  <a:pt x="223" y="403"/>
                </a:lnTo>
                <a:lnTo>
                  <a:pt x="223" y="390"/>
                </a:lnTo>
                <a:lnTo>
                  <a:pt x="182" y="390"/>
                </a:lnTo>
                <a:lnTo>
                  <a:pt x="182" y="377"/>
                </a:lnTo>
                <a:lnTo>
                  <a:pt x="167" y="377"/>
                </a:lnTo>
                <a:lnTo>
                  <a:pt x="167" y="363"/>
                </a:lnTo>
                <a:lnTo>
                  <a:pt x="126" y="363"/>
                </a:lnTo>
                <a:lnTo>
                  <a:pt x="126" y="377"/>
                </a:lnTo>
                <a:lnTo>
                  <a:pt x="97" y="377"/>
                </a:lnTo>
                <a:lnTo>
                  <a:pt x="97" y="390"/>
                </a:lnTo>
                <a:lnTo>
                  <a:pt x="84" y="390"/>
                </a:lnTo>
                <a:lnTo>
                  <a:pt x="84" y="403"/>
                </a:lnTo>
                <a:lnTo>
                  <a:pt x="70" y="403"/>
                </a:lnTo>
                <a:lnTo>
                  <a:pt x="70" y="417"/>
                </a:lnTo>
                <a:lnTo>
                  <a:pt x="41" y="417"/>
                </a:lnTo>
                <a:lnTo>
                  <a:pt x="41" y="429"/>
                </a:lnTo>
                <a:lnTo>
                  <a:pt x="0" y="429"/>
                </a:lnTo>
                <a:lnTo>
                  <a:pt x="0" y="417"/>
                </a:lnTo>
                <a:lnTo>
                  <a:pt x="41" y="417"/>
                </a:lnTo>
                <a:lnTo>
                  <a:pt x="41" y="403"/>
                </a:lnTo>
                <a:lnTo>
                  <a:pt x="70" y="403"/>
                </a:lnTo>
                <a:lnTo>
                  <a:pt x="70" y="390"/>
                </a:lnTo>
                <a:lnTo>
                  <a:pt x="84" y="390"/>
                </a:lnTo>
                <a:lnTo>
                  <a:pt x="84" y="377"/>
                </a:lnTo>
                <a:lnTo>
                  <a:pt x="97" y="377"/>
                </a:lnTo>
                <a:lnTo>
                  <a:pt x="97" y="363"/>
                </a:lnTo>
                <a:lnTo>
                  <a:pt x="126" y="363"/>
                </a:lnTo>
                <a:lnTo>
                  <a:pt x="126" y="351"/>
                </a:lnTo>
                <a:lnTo>
                  <a:pt x="209" y="351"/>
                </a:lnTo>
                <a:lnTo>
                  <a:pt x="209" y="338"/>
                </a:lnTo>
                <a:lnTo>
                  <a:pt x="238" y="338"/>
                </a:lnTo>
                <a:lnTo>
                  <a:pt x="238" y="325"/>
                </a:lnTo>
                <a:lnTo>
                  <a:pt x="265" y="325"/>
                </a:lnTo>
                <a:lnTo>
                  <a:pt x="265" y="312"/>
                </a:lnTo>
                <a:lnTo>
                  <a:pt x="251" y="312"/>
                </a:lnTo>
                <a:lnTo>
                  <a:pt x="251" y="298"/>
                </a:lnTo>
                <a:lnTo>
                  <a:pt x="238" y="298"/>
                </a:lnTo>
                <a:lnTo>
                  <a:pt x="238" y="286"/>
                </a:lnTo>
                <a:lnTo>
                  <a:pt x="223" y="286"/>
                </a:lnTo>
                <a:lnTo>
                  <a:pt x="223" y="260"/>
                </a:lnTo>
                <a:lnTo>
                  <a:pt x="209" y="260"/>
                </a:lnTo>
                <a:lnTo>
                  <a:pt x="209" y="235"/>
                </a:lnTo>
                <a:lnTo>
                  <a:pt x="195" y="235"/>
                </a:lnTo>
                <a:lnTo>
                  <a:pt x="195" y="208"/>
                </a:lnTo>
                <a:lnTo>
                  <a:pt x="182" y="208"/>
                </a:lnTo>
                <a:lnTo>
                  <a:pt x="182" y="183"/>
                </a:lnTo>
                <a:lnTo>
                  <a:pt x="167" y="183"/>
                </a:lnTo>
                <a:lnTo>
                  <a:pt x="167" y="156"/>
                </a:lnTo>
                <a:lnTo>
                  <a:pt x="153" y="156"/>
                </a:lnTo>
                <a:lnTo>
                  <a:pt x="153" y="130"/>
                </a:lnTo>
                <a:lnTo>
                  <a:pt x="140" y="130"/>
                </a:lnTo>
                <a:lnTo>
                  <a:pt x="140" y="91"/>
                </a:lnTo>
                <a:lnTo>
                  <a:pt x="126" y="91"/>
                </a:lnTo>
                <a:lnTo>
                  <a:pt x="126" y="39"/>
                </a:lnTo>
                <a:lnTo>
                  <a:pt x="140" y="39"/>
                </a:lnTo>
                <a:lnTo>
                  <a:pt x="140" y="26"/>
                </a:lnTo>
                <a:lnTo>
                  <a:pt x="153" y="26"/>
                </a:lnTo>
                <a:lnTo>
                  <a:pt x="153" y="13"/>
                </a:lnTo>
                <a:lnTo>
                  <a:pt x="167" y="13"/>
                </a:lnTo>
                <a:lnTo>
                  <a:pt x="167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6451600" y="4454525"/>
            <a:ext cx="20638" cy="80963"/>
          </a:xfrm>
          <a:custGeom>
            <a:rect b="b" l="l" r="r" t="t"/>
            <a:pathLst>
              <a:path extrusionOk="0" h="51" w="13">
                <a:moveTo>
                  <a:pt x="0" y="0"/>
                </a:moveTo>
                <a:lnTo>
                  <a:pt x="12" y="0"/>
                </a:lnTo>
                <a:lnTo>
                  <a:pt x="12" y="50"/>
                </a:lnTo>
                <a:lnTo>
                  <a:pt x="0" y="50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6810375" y="4497388"/>
            <a:ext cx="42863" cy="79375"/>
          </a:xfrm>
          <a:custGeom>
            <a:rect b="b" l="l" r="r" t="t"/>
            <a:pathLst>
              <a:path extrusionOk="0" h="50" w="27">
                <a:moveTo>
                  <a:pt x="0" y="0"/>
                </a:moveTo>
                <a:lnTo>
                  <a:pt x="13" y="0"/>
                </a:lnTo>
                <a:lnTo>
                  <a:pt x="13" y="25"/>
                </a:lnTo>
                <a:lnTo>
                  <a:pt x="26" y="25"/>
                </a:lnTo>
                <a:lnTo>
                  <a:pt x="26" y="49"/>
                </a:lnTo>
                <a:lnTo>
                  <a:pt x="13" y="49"/>
                </a:lnTo>
                <a:lnTo>
                  <a:pt x="13" y="25"/>
                </a:lnTo>
                <a:lnTo>
                  <a:pt x="0" y="25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7237413" y="4600575"/>
            <a:ext cx="444500" cy="454025"/>
          </a:xfrm>
          <a:custGeom>
            <a:rect b="b" l="l" r="r" t="t"/>
            <a:pathLst>
              <a:path extrusionOk="0" h="286" w="280">
                <a:moveTo>
                  <a:pt x="14" y="0"/>
                </a:moveTo>
                <a:lnTo>
                  <a:pt x="97" y="0"/>
                </a:lnTo>
                <a:lnTo>
                  <a:pt x="97" y="13"/>
                </a:lnTo>
                <a:lnTo>
                  <a:pt x="41" y="13"/>
                </a:lnTo>
                <a:lnTo>
                  <a:pt x="41" y="25"/>
                </a:lnTo>
                <a:lnTo>
                  <a:pt x="83" y="25"/>
                </a:lnTo>
                <a:lnTo>
                  <a:pt x="83" y="39"/>
                </a:lnTo>
                <a:lnTo>
                  <a:pt x="140" y="39"/>
                </a:lnTo>
                <a:lnTo>
                  <a:pt x="140" y="52"/>
                </a:lnTo>
                <a:lnTo>
                  <a:pt x="167" y="52"/>
                </a:lnTo>
                <a:lnTo>
                  <a:pt x="167" y="65"/>
                </a:lnTo>
                <a:lnTo>
                  <a:pt x="196" y="65"/>
                </a:lnTo>
                <a:lnTo>
                  <a:pt x="196" y="77"/>
                </a:lnTo>
                <a:lnTo>
                  <a:pt x="223" y="77"/>
                </a:lnTo>
                <a:lnTo>
                  <a:pt x="223" y="90"/>
                </a:lnTo>
                <a:lnTo>
                  <a:pt x="252" y="90"/>
                </a:lnTo>
                <a:lnTo>
                  <a:pt x="252" y="104"/>
                </a:lnTo>
                <a:lnTo>
                  <a:pt x="265" y="104"/>
                </a:lnTo>
                <a:lnTo>
                  <a:pt x="265" y="117"/>
                </a:lnTo>
                <a:lnTo>
                  <a:pt x="279" y="117"/>
                </a:lnTo>
                <a:lnTo>
                  <a:pt x="279" y="142"/>
                </a:lnTo>
                <a:lnTo>
                  <a:pt x="265" y="142"/>
                </a:lnTo>
                <a:lnTo>
                  <a:pt x="265" y="156"/>
                </a:lnTo>
                <a:lnTo>
                  <a:pt x="252" y="156"/>
                </a:lnTo>
                <a:lnTo>
                  <a:pt x="252" y="167"/>
                </a:lnTo>
                <a:lnTo>
                  <a:pt x="237" y="167"/>
                </a:lnTo>
                <a:lnTo>
                  <a:pt x="237" y="181"/>
                </a:lnTo>
                <a:lnTo>
                  <a:pt x="223" y="181"/>
                </a:lnTo>
                <a:lnTo>
                  <a:pt x="223" y="207"/>
                </a:lnTo>
                <a:lnTo>
                  <a:pt x="209" y="207"/>
                </a:lnTo>
                <a:lnTo>
                  <a:pt x="209" y="220"/>
                </a:lnTo>
                <a:lnTo>
                  <a:pt x="196" y="220"/>
                </a:lnTo>
                <a:lnTo>
                  <a:pt x="196" y="232"/>
                </a:lnTo>
                <a:lnTo>
                  <a:pt x="182" y="232"/>
                </a:lnTo>
                <a:lnTo>
                  <a:pt x="182" y="246"/>
                </a:lnTo>
                <a:lnTo>
                  <a:pt x="167" y="246"/>
                </a:lnTo>
                <a:lnTo>
                  <a:pt x="167" y="259"/>
                </a:lnTo>
                <a:lnTo>
                  <a:pt x="154" y="259"/>
                </a:lnTo>
                <a:lnTo>
                  <a:pt x="154" y="271"/>
                </a:lnTo>
                <a:lnTo>
                  <a:pt x="140" y="271"/>
                </a:lnTo>
                <a:lnTo>
                  <a:pt x="140" y="285"/>
                </a:lnTo>
                <a:lnTo>
                  <a:pt x="125" y="285"/>
                </a:lnTo>
                <a:lnTo>
                  <a:pt x="125" y="271"/>
                </a:lnTo>
                <a:lnTo>
                  <a:pt x="140" y="271"/>
                </a:lnTo>
                <a:lnTo>
                  <a:pt x="140" y="259"/>
                </a:lnTo>
                <a:lnTo>
                  <a:pt x="154" y="259"/>
                </a:lnTo>
                <a:lnTo>
                  <a:pt x="154" y="246"/>
                </a:lnTo>
                <a:lnTo>
                  <a:pt x="167" y="246"/>
                </a:lnTo>
                <a:lnTo>
                  <a:pt x="167" y="232"/>
                </a:lnTo>
                <a:lnTo>
                  <a:pt x="182" y="232"/>
                </a:lnTo>
                <a:lnTo>
                  <a:pt x="182" y="220"/>
                </a:lnTo>
                <a:lnTo>
                  <a:pt x="196" y="220"/>
                </a:lnTo>
                <a:lnTo>
                  <a:pt x="196" y="207"/>
                </a:lnTo>
                <a:lnTo>
                  <a:pt x="209" y="207"/>
                </a:lnTo>
                <a:lnTo>
                  <a:pt x="209" y="181"/>
                </a:lnTo>
                <a:lnTo>
                  <a:pt x="223" y="181"/>
                </a:lnTo>
                <a:lnTo>
                  <a:pt x="223" y="167"/>
                </a:lnTo>
                <a:lnTo>
                  <a:pt x="237" y="167"/>
                </a:lnTo>
                <a:lnTo>
                  <a:pt x="237" y="156"/>
                </a:lnTo>
                <a:lnTo>
                  <a:pt x="252" y="156"/>
                </a:lnTo>
                <a:lnTo>
                  <a:pt x="252" y="142"/>
                </a:lnTo>
                <a:lnTo>
                  <a:pt x="265" y="142"/>
                </a:lnTo>
                <a:lnTo>
                  <a:pt x="265" y="117"/>
                </a:lnTo>
                <a:lnTo>
                  <a:pt x="252" y="117"/>
                </a:lnTo>
                <a:lnTo>
                  <a:pt x="252" y="104"/>
                </a:lnTo>
                <a:lnTo>
                  <a:pt x="223" y="104"/>
                </a:lnTo>
                <a:lnTo>
                  <a:pt x="223" y="90"/>
                </a:lnTo>
                <a:lnTo>
                  <a:pt x="196" y="90"/>
                </a:lnTo>
                <a:lnTo>
                  <a:pt x="196" y="77"/>
                </a:lnTo>
                <a:lnTo>
                  <a:pt x="167" y="77"/>
                </a:lnTo>
                <a:lnTo>
                  <a:pt x="167" y="65"/>
                </a:lnTo>
                <a:lnTo>
                  <a:pt x="140" y="65"/>
                </a:lnTo>
                <a:lnTo>
                  <a:pt x="140" y="52"/>
                </a:lnTo>
                <a:lnTo>
                  <a:pt x="83" y="52"/>
                </a:lnTo>
                <a:lnTo>
                  <a:pt x="83" y="39"/>
                </a:lnTo>
                <a:lnTo>
                  <a:pt x="41" y="39"/>
                </a:lnTo>
                <a:lnTo>
                  <a:pt x="41" y="25"/>
                </a:lnTo>
                <a:lnTo>
                  <a:pt x="0" y="25"/>
                </a:lnTo>
                <a:lnTo>
                  <a:pt x="0" y="13"/>
                </a:lnTo>
                <a:lnTo>
                  <a:pt x="14" y="13"/>
                </a:lnTo>
                <a:lnTo>
                  <a:pt x="1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6564313" y="5099050"/>
            <a:ext cx="65087" cy="79375"/>
          </a:xfrm>
          <a:custGeom>
            <a:rect b="b" l="l" r="r" t="t"/>
            <a:pathLst>
              <a:path extrusionOk="0" h="50" w="41">
                <a:moveTo>
                  <a:pt x="13" y="0"/>
                </a:moveTo>
                <a:lnTo>
                  <a:pt x="26" y="0"/>
                </a:lnTo>
                <a:lnTo>
                  <a:pt x="26" y="12"/>
                </a:lnTo>
                <a:lnTo>
                  <a:pt x="40" y="12"/>
                </a:lnTo>
                <a:lnTo>
                  <a:pt x="40" y="37"/>
                </a:lnTo>
                <a:lnTo>
                  <a:pt x="26" y="37"/>
                </a:lnTo>
                <a:lnTo>
                  <a:pt x="26" y="49"/>
                </a:lnTo>
                <a:lnTo>
                  <a:pt x="13" y="49"/>
                </a:lnTo>
                <a:lnTo>
                  <a:pt x="13" y="37"/>
                </a:lnTo>
                <a:lnTo>
                  <a:pt x="0" y="37"/>
                </a:lnTo>
                <a:lnTo>
                  <a:pt x="0" y="12"/>
                </a:lnTo>
                <a:lnTo>
                  <a:pt x="13" y="12"/>
                </a:lnTo>
                <a:lnTo>
                  <a:pt x="13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6584950" y="5119688"/>
            <a:ext cx="20638" cy="39687"/>
          </a:xfrm>
          <a:custGeom>
            <a:rect b="b" l="l" r="r" t="t"/>
            <a:pathLst>
              <a:path extrusionOk="0" h="25" w="13">
                <a:moveTo>
                  <a:pt x="0" y="0"/>
                </a:moveTo>
                <a:lnTo>
                  <a:pt x="12" y="0"/>
                </a:lnTo>
                <a:lnTo>
                  <a:pt x="12" y="24"/>
                </a:lnTo>
                <a:lnTo>
                  <a:pt x="0" y="24"/>
                </a:lnTo>
                <a:lnTo>
                  <a:pt x="0" y="0"/>
                </a:lnTo>
              </a:path>
            </a:pathLst>
          </a:custGeom>
          <a:solidFill>
            <a:srgbClr val="FF00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6721475" y="5202238"/>
            <a:ext cx="938213" cy="558800"/>
          </a:xfrm>
          <a:custGeom>
            <a:rect b="b" l="l" r="r" t="t"/>
            <a:pathLst>
              <a:path extrusionOk="0" h="352" w="591">
                <a:moveTo>
                  <a:pt x="169" y="0"/>
                </a:moveTo>
                <a:lnTo>
                  <a:pt x="281" y="0"/>
                </a:lnTo>
                <a:lnTo>
                  <a:pt x="281" y="13"/>
                </a:lnTo>
                <a:lnTo>
                  <a:pt x="309" y="13"/>
                </a:lnTo>
                <a:lnTo>
                  <a:pt x="309" y="39"/>
                </a:lnTo>
                <a:lnTo>
                  <a:pt x="323" y="39"/>
                </a:lnTo>
                <a:lnTo>
                  <a:pt x="323" y="13"/>
                </a:lnTo>
                <a:lnTo>
                  <a:pt x="408" y="13"/>
                </a:lnTo>
                <a:lnTo>
                  <a:pt x="408" y="26"/>
                </a:lnTo>
                <a:lnTo>
                  <a:pt x="422" y="26"/>
                </a:lnTo>
                <a:lnTo>
                  <a:pt x="422" y="52"/>
                </a:lnTo>
                <a:lnTo>
                  <a:pt x="436" y="52"/>
                </a:lnTo>
                <a:lnTo>
                  <a:pt x="436" y="79"/>
                </a:lnTo>
                <a:lnTo>
                  <a:pt x="450" y="79"/>
                </a:lnTo>
                <a:lnTo>
                  <a:pt x="450" y="104"/>
                </a:lnTo>
                <a:lnTo>
                  <a:pt x="463" y="104"/>
                </a:lnTo>
                <a:lnTo>
                  <a:pt x="463" y="130"/>
                </a:lnTo>
                <a:lnTo>
                  <a:pt x="478" y="130"/>
                </a:lnTo>
                <a:lnTo>
                  <a:pt x="478" y="143"/>
                </a:lnTo>
                <a:lnTo>
                  <a:pt x="492" y="143"/>
                </a:lnTo>
                <a:lnTo>
                  <a:pt x="492" y="169"/>
                </a:lnTo>
                <a:lnTo>
                  <a:pt x="506" y="169"/>
                </a:lnTo>
                <a:lnTo>
                  <a:pt x="506" y="195"/>
                </a:lnTo>
                <a:lnTo>
                  <a:pt x="520" y="195"/>
                </a:lnTo>
                <a:lnTo>
                  <a:pt x="520" y="221"/>
                </a:lnTo>
                <a:lnTo>
                  <a:pt x="533" y="221"/>
                </a:lnTo>
                <a:lnTo>
                  <a:pt x="533" y="234"/>
                </a:lnTo>
                <a:lnTo>
                  <a:pt x="547" y="234"/>
                </a:lnTo>
                <a:lnTo>
                  <a:pt x="547" y="248"/>
                </a:lnTo>
                <a:lnTo>
                  <a:pt x="561" y="248"/>
                </a:lnTo>
                <a:lnTo>
                  <a:pt x="561" y="286"/>
                </a:lnTo>
                <a:lnTo>
                  <a:pt x="576" y="286"/>
                </a:lnTo>
                <a:lnTo>
                  <a:pt x="576" y="312"/>
                </a:lnTo>
                <a:lnTo>
                  <a:pt x="590" y="312"/>
                </a:lnTo>
                <a:lnTo>
                  <a:pt x="590" y="351"/>
                </a:lnTo>
                <a:lnTo>
                  <a:pt x="576" y="351"/>
                </a:lnTo>
                <a:lnTo>
                  <a:pt x="576" y="325"/>
                </a:lnTo>
                <a:lnTo>
                  <a:pt x="561" y="325"/>
                </a:lnTo>
                <a:lnTo>
                  <a:pt x="561" y="312"/>
                </a:lnTo>
                <a:lnTo>
                  <a:pt x="547" y="312"/>
                </a:lnTo>
                <a:lnTo>
                  <a:pt x="547" y="299"/>
                </a:lnTo>
                <a:lnTo>
                  <a:pt x="533" y="299"/>
                </a:lnTo>
                <a:lnTo>
                  <a:pt x="533" y="272"/>
                </a:lnTo>
                <a:lnTo>
                  <a:pt x="520" y="272"/>
                </a:lnTo>
                <a:lnTo>
                  <a:pt x="520" y="261"/>
                </a:lnTo>
                <a:lnTo>
                  <a:pt x="506" y="261"/>
                </a:lnTo>
                <a:lnTo>
                  <a:pt x="506" y="248"/>
                </a:lnTo>
                <a:lnTo>
                  <a:pt x="492" y="248"/>
                </a:lnTo>
                <a:lnTo>
                  <a:pt x="492" y="234"/>
                </a:lnTo>
                <a:lnTo>
                  <a:pt x="478" y="234"/>
                </a:lnTo>
                <a:lnTo>
                  <a:pt x="478" y="221"/>
                </a:lnTo>
                <a:lnTo>
                  <a:pt x="436" y="221"/>
                </a:lnTo>
                <a:lnTo>
                  <a:pt x="436" y="207"/>
                </a:lnTo>
                <a:lnTo>
                  <a:pt x="379" y="207"/>
                </a:lnTo>
                <a:lnTo>
                  <a:pt x="379" y="195"/>
                </a:lnTo>
                <a:lnTo>
                  <a:pt x="350" y="195"/>
                </a:lnTo>
                <a:lnTo>
                  <a:pt x="350" y="182"/>
                </a:lnTo>
                <a:lnTo>
                  <a:pt x="295" y="182"/>
                </a:lnTo>
                <a:lnTo>
                  <a:pt x="295" y="169"/>
                </a:lnTo>
                <a:lnTo>
                  <a:pt x="253" y="169"/>
                </a:lnTo>
                <a:lnTo>
                  <a:pt x="253" y="156"/>
                </a:lnTo>
                <a:lnTo>
                  <a:pt x="225" y="156"/>
                </a:lnTo>
                <a:lnTo>
                  <a:pt x="225" y="143"/>
                </a:lnTo>
                <a:lnTo>
                  <a:pt x="182" y="143"/>
                </a:lnTo>
                <a:lnTo>
                  <a:pt x="182" y="156"/>
                </a:lnTo>
                <a:lnTo>
                  <a:pt x="154" y="156"/>
                </a:lnTo>
                <a:lnTo>
                  <a:pt x="154" y="169"/>
                </a:lnTo>
                <a:lnTo>
                  <a:pt x="141" y="169"/>
                </a:lnTo>
                <a:lnTo>
                  <a:pt x="141" y="182"/>
                </a:lnTo>
                <a:lnTo>
                  <a:pt x="112" y="182"/>
                </a:lnTo>
                <a:lnTo>
                  <a:pt x="112" y="195"/>
                </a:lnTo>
                <a:lnTo>
                  <a:pt x="99" y="195"/>
                </a:lnTo>
                <a:lnTo>
                  <a:pt x="99" y="207"/>
                </a:lnTo>
                <a:lnTo>
                  <a:pt x="14" y="207"/>
                </a:lnTo>
                <a:lnTo>
                  <a:pt x="14" y="195"/>
                </a:lnTo>
                <a:lnTo>
                  <a:pt x="0" y="195"/>
                </a:lnTo>
                <a:lnTo>
                  <a:pt x="0" y="143"/>
                </a:lnTo>
                <a:lnTo>
                  <a:pt x="14" y="143"/>
                </a:lnTo>
                <a:lnTo>
                  <a:pt x="14" y="130"/>
                </a:lnTo>
                <a:lnTo>
                  <a:pt x="29" y="130"/>
                </a:lnTo>
                <a:lnTo>
                  <a:pt x="29" y="117"/>
                </a:lnTo>
                <a:lnTo>
                  <a:pt x="43" y="117"/>
                </a:lnTo>
                <a:lnTo>
                  <a:pt x="43" y="104"/>
                </a:lnTo>
                <a:lnTo>
                  <a:pt x="56" y="104"/>
                </a:lnTo>
                <a:lnTo>
                  <a:pt x="56" y="91"/>
                </a:lnTo>
                <a:lnTo>
                  <a:pt x="70" y="91"/>
                </a:lnTo>
                <a:lnTo>
                  <a:pt x="70" y="65"/>
                </a:lnTo>
                <a:lnTo>
                  <a:pt x="84" y="65"/>
                </a:lnTo>
                <a:lnTo>
                  <a:pt x="84" y="52"/>
                </a:lnTo>
                <a:lnTo>
                  <a:pt x="99" y="52"/>
                </a:lnTo>
                <a:lnTo>
                  <a:pt x="99" y="39"/>
                </a:lnTo>
                <a:lnTo>
                  <a:pt x="112" y="39"/>
                </a:lnTo>
                <a:lnTo>
                  <a:pt x="112" y="26"/>
                </a:lnTo>
                <a:lnTo>
                  <a:pt x="141" y="26"/>
                </a:lnTo>
                <a:lnTo>
                  <a:pt x="141" y="13"/>
                </a:lnTo>
                <a:lnTo>
                  <a:pt x="169" y="13"/>
                </a:lnTo>
                <a:lnTo>
                  <a:pt x="169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7213600" y="5202238"/>
            <a:ext cx="20638" cy="17462"/>
          </a:xfrm>
          <a:custGeom>
            <a:rect b="b" l="l" r="r" t="t"/>
            <a:pathLst>
              <a:path extrusionOk="0" h="11" w="13">
                <a:moveTo>
                  <a:pt x="0" y="0"/>
                </a:moveTo>
                <a:lnTo>
                  <a:pt x="12" y="0"/>
                </a:lnTo>
                <a:lnTo>
                  <a:pt x="12" y="10"/>
                </a:lnTo>
                <a:lnTo>
                  <a:pt x="0" y="10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6564313" y="5265738"/>
            <a:ext cx="65087" cy="79375"/>
          </a:xfrm>
          <a:custGeom>
            <a:rect b="b" l="l" r="r" t="t"/>
            <a:pathLst>
              <a:path extrusionOk="0" h="50" w="41">
                <a:moveTo>
                  <a:pt x="13" y="0"/>
                </a:moveTo>
                <a:lnTo>
                  <a:pt x="26" y="0"/>
                </a:lnTo>
                <a:lnTo>
                  <a:pt x="26" y="12"/>
                </a:lnTo>
                <a:lnTo>
                  <a:pt x="40" y="12"/>
                </a:lnTo>
                <a:lnTo>
                  <a:pt x="40" y="37"/>
                </a:lnTo>
                <a:lnTo>
                  <a:pt x="26" y="37"/>
                </a:lnTo>
                <a:lnTo>
                  <a:pt x="26" y="49"/>
                </a:lnTo>
                <a:lnTo>
                  <a:pt x="13" y="49"/>
                </a:lnTo>
                <a:lnTo>
                  <a:pt x="13" y="37"/>
                </a:lnTo>
                <a:lnTo>
                  <a:pt x="0" y="37"/>
                </a:lnTo>
                <a:lnTo>
                  <a:pt x="0" y="12"/>
                </a:lnTo>
                <a:lnTo>
                  <a:pt x="13" y="12"/>
                </a:lnTo>
                <a:lnTo>
                  <a:pt x="13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7237413" y="5265738"/>
            <a:ext cx="107950" cy="120650"/>
          </a:xfrm>
          <a:custGeom>
            <a:rect b="b" l="l" r="r" t="t"/>
            <a:pathLst>
              <a:path extrusionOk="0" h="76" w="68">
                <a:moveTo>
                  <a:pt x="0" y="0"/>
                </a:moveTo>
                <a:lnTo>
                  <a:pt x="14" y="0"/>
                </a:lnTo>
                <a:lnTo>
                  <a:pt x="14" y="12"/>
                </a:lnTo>
                <a:lnTo>
                  <a:pt x="26" y="12"/>
                </a:lnTo>
                <a:lnTo>
                  <a:pt x="26" y="25"/>
                </a:lnTo>
                <a:lnTo>
                  <a:pt x="40" y="25"/>
                </a:lnTo>
                <a:lnTo>
                  <a:pt x="40" y="38"/>
                </a:lnTo>
                <a:lnTo>
                  <a:pt x="53" y="38"/>
                </a:lnTo>
                <a:lnTo>
                  <a:pt x="53" y="51"/>
                </a:lnTo>
                <a:lnTo>
                  <a:pt x="67" y="51"/>
                </a:lnTo>
                <a:lnTo>
                  <a:pt x="67" y="75"/>
                </a:lnTo>
                <a:lnTo>
                  <a:pt x="53" y="75"/>
                </a:lnTo>
                <a:lnTo>
                  <a:pt x="53" y="51"/>
                </a:lnTo>
                <a:lnTo>
                  <a:pt x="40" y="51"/>
                </a:lnTo>
                <a:lnTo>
                  <a:pt x="40" y="38"/>
                </a:lnTo>
                <a:lnTo>
                  <a:pt x="26" y="38"/>
                </a:lnTo>
                <a:lnTo>
                  <a:pt x="26" y="25"/>
                </a:lnTo>
                <a:lnTo>
                  <a:pt x="14" y="25"/>
                </a:lnTo>
                <a:lnTo>
                  <a:pt x="14" y="12"/>
                </a:lnTo>
                <a:lnTo>
                  <a:pt x="0" y="12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6584950" y="5286375"/>
            <a:ext cx="20638" cy="38100"/>
          </a:xfrm>
          <a:custGeom>
            <a:rect b="b" l="l" r="r" t="t"/>
            <a:pathLst>
              <a:path extrusionOk="0" h="24" w="13">
                <a:moveTo>
                  <a:pt x="0" y="0"/>
                </a:moveTo>
                <a:lnTo>
                  <a:pt x="12" y="0"/>
                </a:lnTo>
                <a:lnTo>
                  <a:pt x="12" y="23"/>
                </a:lnTo>
                <a:lnTo>
                  <a:pt x="0" y="23"/>
                </a:lnTo>
                <a:lnTo>
                  <a:pt x="0" y="0"/>
                </a:lnTo>
              </a:path>
            </a:pathLst>
          </a:custGeom>
          <a:solidFill>
            <a:srgbClr val="FF00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6742113" y="5411788"/>
            <a:ext cx="111125" cy="100012"/>
          </a:xfrm>
          <a:custGeom>
            <a:rect b="b" l="l" r="r" t="t"/>
            <a:pathLst>
              <a:path extrusionOk="0" h="63" w="70">
                <a:moveTo>
                  <a:pt x="15" y="0"/>
                </a:moveTo>
                <a:lnTo>
                  <a:pt x="55" y="0"/>
                </a:lnTo>
                <a:lnTo>
                  <a:pt x="55" y="12"/>
                </a:lnTo>
                <a:lnTo>
                  <a:pt x="69" y="12"/>
                </a:lnTo>
                <a:lnTo>
                  <a:pt x="69" y="49"/>
                </a:lnTo>
                <a:lnTo>
                  <a:pt x="55" y="49"/>
                </a:lnTo>
                <a:lnTo>
                  <a:pt x="55" y="62"/>
                </a:lnTo>
                <a:lnTo>
                  <a:pt x="0" y="62"/>
                </a:lnTo>
                <a:lnTo>
                  <a:pt x="0" y="12"/>
                </a:lnTo>
                <a:lnTo>
                  <a:pt x="15" y="12"/>
                </a:lnTo>
                <a:lnTo>
                  <a:pt x="15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6765925" y="5432425"/>
            <a:ext cx="63500" cy="57150"/>
          </a:xfrm>
          <a:custGeom>
            <a:rect b="b" l="l" r="r" t="t"/>
            <a:pathLst>
              <a:path extrusionOk="0" h="36" w="40">
                <a:moveTo>
                  <a:pt x="0" y="0"/>
                </a:moveTo>
                <a:lnTo>
                  <a:pt x="39" y="0"/>
                </a:lnTo>
                <a:lnTo>
                  <a:pt x="39" y="35"/>
                </a:lnTo>
                <a:lnTo>
                  <a:pt x="0" y="35"/>
                </a:lnTo>
                <a:lnTo>
                  <a:pt x="0" y="0"/>
                </a:lnTo>
              </a:path>
            </a:pathLst>
          </a:custGeom>
          <a:solidFill>
            <a:srgbClr val="FFA5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6584950" y="5453063"/>
            <a:ext cx="66675" cy="79375"/>
          </a:xfrm>
          <a:custGeom>
            <a:rect b="b" l="l" r="r" t="t"/>
            <a:pathLst>
              <a:path extrusionOk="0" h="50" w="42">
                <a:moveTo>
                  <a:pt x="14" y="0"/>
                </a:moveTo>
                <a:lnTo>
                  <a:pt x="28" y="0"/>
                </a:lnTo>
                <a:lnTo>
                  <a:pt x="28" y="12"/>
                </a:lnTo>
                <a:lnTo>
                  <a:pt x="41" y="12"/>
                </a:lnTo>
                <a:lnTo>
                  <a:pt x="41" y="37"/>
                </a:lnTo>
                <a:lnTo>
                  <a:pt x="28" y="37"/>
                </a:lnTo>
                <a:lnTo>
                  <a:pt x="28" y="49"/>
                </a:lnTo>
                <a:lnTo>
                  <a:pt x="14" y="49"/>
                </a:lnTo>
                <a:lnTo>
                  <a:pt x="14" y="37"/>
                </a:lnTo>
                <a:lnTo>
                  <a:pt x="0" y="37"/>
                </a:lnTo>
                <a:lnTo>
                  <a:pt x="0" y="12"/>
                </a:lnTo>
                <a:lnTo>
                  <a:pt x="14" y="12"/>
                </a:lnTo>
                <a:lnTo>
                  <a:pt x="14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6608763" y="5473700"/>
            <a:ext cx="20637" cy="38100"/>
          </a:xfrm>
          <a:custGeom>
            <a:rect b="b" l="l" r="r" t="t"/>
            <a:pathLst>
              <a:path extrusionOk="0" h="24" w="13">
                <a:moveTo>
                  <a:pt x="0" y="0"/>
                </a:moveTo>
                <a:lnTo>
                  <a:pt x="12" y="0"/>
                </a:lnTo>
                <a:lnTo>
                  <a:pt x="12" y="23"/>
                </a:lnTo>
                <a:lnTo>
                  <a:pt x="0" y="23"/>
                </a:lnTo>
                <a:lnTo>
                  <a:pt x="0" y="0"/>
                </a:lnTo>
              </a:path>
            </a:pathLst>
          </a:custGeom>
          <a:solidFill>
            <a:srgbClr val="FF00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6451600" y="5535613"/>
            <a:ext cx="87313" cy="80962"/>
          </a:xfrm>
          <a:custGeom>
            <a:rect b="b" l="l" r="r" t="t"/>
            <a:pathLst>
              <a:path extrusionOk="0" h="51" w="55">
                <a:moveTo>
                  <a:pt x="0" y="0"/>
                </a:moveTo>
                <a:lnTo>
                  <a:pt x="14" y="0"/>
                </a:lnTo>
                <a:lnTo>
                  <a:pt x="14" y="13"/>
                </a:lnTo>
                <a:lnTo>
                  <a:pt x="27" y="13"/>
                </a:lnTo>
                <a:lnTo>
                  <a:pt x="27" y="25"/>
                </a:lnTo>
                <a:lnTo>
                  <a:pt x="41" y="25"/>
                </a:lnTo>
                <a:lnTo>
                  <a:pt x="41" y="38"/>
                </a:lnTo>
                <a:lnTo>
                  <a:pt x="54" y="38"/>
                </a:lnTo>
                <a:lnTo>
                  <a:pt x="54" y="50"/>
                </a:lnTo>
                <a:lnTo>
                  <a:pt x="41" y="50"/>
                </a:lnTo>
                <a:lnTo>
                  <a:pt x="41" y="38"/>
                </a:lnTo>
                <a:lnTo>
                  <a:pt x="27" y="38"/>
                </a:lnTo>
                <a:lnTo>
                  <a:pt x="27" y="25"/>
                </a:lnTo>
                <a:lnTo>
                  <a:pt x="14" y="25"/>
                </a:lnTo>
                <a:lnTo>
                  <a:pt x="14" y="13"/>
                </a:lnTo>
                <a:lnTo>
                  <a:pt x="0" y="1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7751763" y="5638800"/>
            <a:ext cx="377825" cy="122238"/>
          </a:xfrm>
          <a:custGeom>
            <a:rect b="b" l="l" r="r" t="t"/>
            <a:pathLst>
              <a:path extrusionOk="0" h="77" w="238">
                <a:moveTo>
                  <a:pt x="223" y="0"/>
                </a:moveTo>
                <a:lnTo>
                  <a:pt x="237" y="0"/>
                </a:lnTo>
                <a:lnTo>
                  <a:pt x="237" y="12"/>
                </a:lnTo>
                <a:lnTo>
                  <a:pt x="223" y="12"/>
                </a:lnTo>
                <a:lnTo>
                  <a:pt x="223" y="25"/>
                </a:lnTo>
                <a:lnTo>
                  <a:pt x="196" y="25"/>
                </a:lnTo>
                <a:lnTo>
                  <a:pt x="196" y="38"/>
                </a:lnTo>
                <a:lnTo>
                  <a:pt x="154" y="38"/>
                </a:lnTo>
                <a:lnTo>
                  <a:pt x="154" y="51"/>
                </a:lnTo>
                <a:lnTo>
                  <a:pt x="126" y="51"/>
                </a:lnTo>
                <a:lnTo>
                  <a:pt x="126" y="63"/>
                </a:lnTo>
                <a:lnTo>
                  <a:pt x="69" y="63"/>
                </a:lnTo>
                <a:lnTo>
                  <a:pt x="69" y="76"/>
                </a:lnTo>
                <a:lnTo>
                  <a:pt x="0" y="76"/>
                </a:lnTo>
                <a:lnTo>
                  <a:pt x="0" y="63"/>
                </a:lnTo>
                <a:lnTo>
                  <a:pt x="69" y="63"/>
                </a:lnTo>
                <a:lnTo>
                  <a:pt x="69" y="51"/>
                </a:lnTo>
                <a:lnTo>
                  <a:pt x="126" y="51"/>
                </a:lnTo>
                <a:lnTo>
                  <a:pt x="126" y="38"/>
                </a:lnTo>
                <a:lnTo>
                  <a:pt x="154" y="38"/>
                </a:lnTo>
                <a:lnTo>
                  <a:pt x="154" y="25"/>
                </a:lnTo>
                <a:lnTo>
                  <a:pt x="196" y="25"/>
                </a:lnTo>
                <a:lnTo>
                  <a:pt x="196" y="12"/>
                </a:lnTo>
                <a:lnTo>
                  <a:pt x="223" y="12"/>
                </a:lnTo>
                <a:lnTo>
                  <a:pt x="223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6630988" y="5659438"/>
            <a:ext cx="41275" cy="80962"/>
          </a:xfrm>
          <a:custGeom>
            <a:rect b="b" l="l" r="r" t="t"/>
            <a:pathLst>
              <a:path extrusionOk="0" h="51" w="26">
                <a:moveTo>
                  <a:pt x="0" y="0"/>
                </a:moveTo>
                <a:lnTo>
                  <a:pt x="13" y="0"/>
                </a:lnTo>
                <a:lnTo>
                  <a:pt x="13" y="13"/>
                </a:lnTo>
                <a:lnTo>
                  <a:pt x="25" y="13"/>
                </a:lnTo>
                <a:lnTo>
                  <a:pt x="25" y="38"/>
                </a:lnTo>
                <a:lnTo>
                  <a:pt x="13" y="38"/>
                </a:lnTo>
                <a:lnTo>
                  <a:pt x="13" y="50"/>
                </a:lnTo>
                <a:lnTo>
                  <a:pt x="0" y="50"/>
                </a:lnTo>
                <a:lnTo>
                  <a:pt x="0" y="38"/>
                </a:lnTo>
                <a:lnTo>
                  <a:pt x="13" y="38"/>
                </a:lnTo>
                <a:lnTo>
                  <a:pt x="13" y="13"/>
                </a:lnTo>
                <a:lnTo>
                  <a:pt x="0" y="13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6653213" y="5888038"/>
            <a:ext cx="19050" cy="39687"/>
          </a:xfrm>
          <a:custGeom>
            <a:rect b="b" l="l" r="r" t="t"/>
            <a:pathLst>
              <a:path extrusionOk="0" h="25" w="12">
                <a:moveTo>
                  <a:pt x="0" y="0"/>
                </a:moveTo>
                <a:lnTo>
                  <a:pt x="11" y="0"/>
                </a:lnTo>
                <a:lnTo>
                  <a:pt x="11" y="24"/>
                </a:lnTo>
                <a:lnTo>
                  <a:pt x="0" y="24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5927725" y="3270250"/>
            <a:ext cx="131763" cy="141288"/>
          </a:xfrm>
          <a:custGeom>
            <a:rect b="b" l="l" r="r" t="t"/>
            <a:pathLst>
              <a:path extrusionOk="0" h="89" w="83">
                <a:moveTo>
                  <a:pt x="82" y="0"/>
                </a:moveTo>
                <a:lnTo>
                  <a:pt x="27" y="0"/>
                </a:lnTo>
                <a:lnTo>
                  <a:pt x="27" y="12"/>
                </a:lnTo>
                <a:lnTo>
                  <a:pt x="13" y="12"/>
                </a:lnTo>
                <a:lnTo>
                  <a:pt x="13" y="25"/>
                </a:lnTo>
                <a:lnTo>
                  <a:pt x="0" y="25"/>
                </a:lnTo>
                <a:lnTo>
                  <a:pt x="0" y="63"/>
                </a:lnTo>
                <a:lnTo>
                  <a:pt x="13" y="63"/>
                </a:lnTo>
                <a:lnTo>
                  <a:pt x="13" y="51"/>
                </a:lnTo>
                <a:lnTo>
                  <a:pt x="27" y="51"/>
                </a:lnTo>
                <a:lnTo>
                  <a:pt x="27" y="25"/>
                </a:lnTo>
                <a:lnTo>
                  <a:pt x="41" y="25"/>
                </a:lnTo>
                <a:lnTo>
                  <a:pt x="41" y="88"/>
                </a:lnTo>
                <a:lnTo>
                  <a:pt x="69" y="88"/>
                </a:lnTo>
                <a:lnTo>
                  <a:pt x="69" y="12"/>
                </a:lnTo>
                <a:lnTo>
                  <a:pt x="82" y="12"/>
                </a:lnTo>
                <a:lnTo>
                  <a:pt x="82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5026025" y="4197350"/>
            <a:ext cx="769938" cy="331788"/>
          </a:xfrm>
          <a:custGeom>
            <a:rect b="b" l="l" r="r" t="t"/>
            <a:pathLst>
              <a:path extrusionOk="0" h="209" w="485">
                <a:moveTo>
                  <a:pt x="17" y="208"/>
                </a:moveTo>
                <a:lnTo>
                  <a:pt x="5" y="205"/>
                </a:lnTo>
                <a:lnTo>
                  <a:pt x="8" y="200"/>
                </a:lnTo>
                <a:lnTo>
                  <a:pt x="12" y="200"/>
                </a:lnTo>
                <a:lnTo>
                  <a:pt x="15" y="200"/>
                </a:lnTo>
                <a:lnTo>
                  <a:pt x="15" y="204"/>
                </a:lnTo>
                <a:lnTo>
                  <a:pt x="18" y="204"/>
                </a:lnTo>
                <a:lnTo>
                  <a:pt x="23" y="204"/>
                </a:lnTo>
                <a:lnTo>
                  <a:pt x="26" y="204"/>
                </a:lnTo>
                <a:lnTo>
                  <a:pt x="29" y="204"/>
                </a:lnTo>
                <a:lnTo>
                  <a:pt x="33" y="204"/>
                </a:lnTo>
                <a:lnTo>
                  <a:pt x="36" y="204"/>
                </a:lnTo>
                <a:lnTo>
                  <a:pt x="40" y="204"/>
                </a:lnTo>
                <a:lnTo>
                  <a:pt x="40" y="207"/>
                </a:lnTo>
                <a:lnTo>
                  <a:pt x="44" y="207"/>
                </a:lnTo>
                <a:lnTo>
                  <a:pt x="47" y="207"/>
                </a:lnTo>
                <a:lnTo>
                  <a:pt x="50" y="207"/>
                </a:lnTo>
                <a:lnTo>
                  <a:pt x="54" y="207"/>
                </a:lnTo>
                <a:lnTo>
                  <a:pt x="58" y="207"/>
                </a:lnTo>
                <a:lnTo>
                  <a:pt x="62" y="207"/>
                </a:lnTo>
                <a:lnTo>
                  <a:pt x="65" y="207"/>
                </a:lnTo>
                <a:lnTo>
                  <a:pt x="68" y="207"/>
                </a:lnTo>
                <a:lnTo>
                  <a:pt x="72" y="207"/>
                </a:lnTo>
                <a:lnTo>
                  <a:pt x="76" y="205"/>
                </a:lnTo>
                <a:lnTo>
                  <a:pt x="76" y="200"/>
                </a:lnTo>
                <a:lnTo>
                  <a:pt x="76" y="197"/>
                </a:lnTo>
                <a:lnTo>
                  <a:pt x="76" y="193"/>
                </a:lnTo>
                <a:lnTo>
                  <a:pt x="79" y="193"/>
                </a:lnTo>
                <a:lnTo>
                  <a:pt x="83" y="193"/>
                </a:lnTo>
                <a:lnTo>
                  <a:pt x="86" y="189"/>
                </a:lnTo>
                <a:lnTo>
                  <a:pt x="90" y="189"/>
                </a:lnTo>
                <a:lnTo>
                  <a:pt x="94" y="189"/>
                </a:lnTo>
                <a:lnTo>
                  <a:pt x="97" y="192"/>
                </a:lnTo>
                <a:lnTo>
                  <a:pt x="100" y="192"/>
                </a:lnTo>
                <a:lnTo>
                  <a:pt x="104" y="192"/>
                </a:lnTo>
                <a:lnTo>
                  <a:pt x="107" y="189"/>
                </a:lnTo>
                <a:lnTo>
                  <a:pt x="107" y="186"/>
                </a:lnTo>
                <a:lnTo>
                  <a:pt x="112" y="182"/>
                </a:lnTo>
                <a:lnTo>
                  <a:pt x="115" y="182"/>
                </a:lnTo>
                <a:lnTo>
                  <a:pt x="118" y="178"/>
                </a:lnTo>
                <a:lnTo>
                  <a:pt x="122" y="178"/>
                </a:lnTo>
                <a:lnTo>
                  <a:pt x="126" y="178"/>
                </a:lnTo>
                <a:lnTo>
                  <a:pt x="129" y="174"/>
                </a:lnTo>
                <a:lnTo>
                  <a:pt x="133" y="174"/>
                </a:lnTo>
                <a:lnTo>
                  <a:pt x="136" y="174"/>
                </a:lnTo>
                <a:lnTo>
                  <a:pt x="139" y="170"/>
                </a:lnTo>
                <a:lnTo>
                  <a:pt x="144" y="170"/>
                </a:lnTo>
                <a:lnTo>
                  <a:pt x="147" y="170"/>
                </a:lnTo>
                <a:lnTo>
                  <a:pt x="150" y="170"/>
                </a:lnTo>
                <a:lnTo>
                  <a:pt x="150" y="167"/>
                </a:lnTo>
                <a:lnTo>
                  <a:pt x="154" y="162"/>
                </a:lnTo>
                <a:lnTo>
                  <a:pt x="157" y="162"/>
                </a:lnTo>
                <a:lnTo>
                  <a:pt x="161" y="162"/>
                </a:lnTo>
                <a:lnTo>
                  <a:pt x="165" y="162"/>
                </a:lnTo>
                <a:lnTo>
                  <a:pt x="168" y="162"/>
                </a:lnTo>
                <a:lnTo>
                  <a:pt x="172" y="162"/>
                </a:lnTo>
                <a:lnTo>
                  <a:pt x="172" y="165"/>
                </a:lnTo>
                <a:lnTo>
                  <a:pt x="175" y="165"/>
                </a:lnTo>
                <a:lnTo>
                  <a:pt x="179" y="165"/>
                </a:lnTo>
                <a:lnTo>
                  <a:pt x="182" y="165"/>
                </a:lnTo>
                <a:lnTo>
                  <a:pt x="186" y="162"/>
                </a:lnTo>
                <a:lnTo>
                  <a:pt x="189" y="162"/>
                </a:lnTo>
                <a:lnTo>
                  <a:pt x="193" y="162"/>
                </a:lnTo>
                <a:lnTo>
                  <a:pt x="197" y="159"/>
                </a:lnTo>
                <a:lnTo>
                  <a:pt x="200" y="159"/>
                </a:lnTo>
                <a:lnTo>
                  <a:pt x="203" y="159"/>
                </a:lnTo>
                <a:lnTo>
                  <a:pt x="207" y="154"/>
                </a:lnTo>
                <a:lnTo>
                  <a:pt x="210" y="154"/>
                </a:lnTo>
                <a:lnTo>
                  <a:pt x="215" y="154"/>
                </a:lnTo>
                <a:lnTo>
                  <a:pt x="218" y="154"/>
                </a:lnTo>
                <a:lnTo>
                  <a:pt x="221" y="151"/>
                </a:lnTo>
                <a:lnTo>
                  <a:pt x="225" y="151"/>
                </a:lnTo>
                <a:lnTo>
                  <a:pt x="228" y="151"/>
                </a:lnTo>
                <a:lnTo>
                  <a:pt x="232" y="146"/>
                </a:lnTo>
                <a:lnTo>
                  <a:pt x="236" y="146"/>
                </a:lnTo>
                <a:lnTo>
                  <a:pt x="239" y="143"/>
                </a:lnTo>
                <a:lnTo>
                  <a:pt x="242" y="143"/>
                </a:lnTo>
                <a:lnTo>
                  <a:pt x="246" y="143"/>
                </a:lnTo>
                <a:lnTo>
                  <a:pt x="250" y="139"/>
                </a:lnTo>
                <a:lnTo>
                  <a:pt x="254" y="139"/>
                </a:lnTo>
                <a:lnTo>
                  <a:pt x="257" y="139"/>
                </a:lnTo>
                <a:lnTo>
                  <a:pt x="260" y="139"/>
                </a:lnTo>
                <a:lnTo>
                  <a:pt x="264" y="139"/>
                </a:lnTo>
                <a:lnTo>
                  <a:pt x="268" y="139"/>
                </a:lnTo>
                <a:lnTo>
                  <a:pt x="271" y="139"/>
                </a:lnTo>
                <a:lnTo>
                  <a:pt x="275" y="135"/>
                </a:lnTo>
                <a:lnTo>
                  <a:pt x="278" y="135"/>
                </a:lnTo>
                <a:lnTo>
                  <a:pt x="281" y="135"/>
                </a:lnTo>
                <a:lnTo>
                  <a:pt x="286" y="131"/>
                </a:lnTo>
                <a:lnTo>
                  <a:pt x="289" y="131"/>
                </a:lnTo>
                <a:lnTo>
                  <a:pt x="292" y="131"/>
                </a:lnTo>
                <a:lnTo>
                  <a:pt x="296" y="128"/>
                </a:lnTo>
                <a:lnTo>
                  <a:pt x="299" y="128"/>
                </a:lnTo>
                <a:lnTo>
                  <a:pt x="303" y="128"/>
                </a:lnTo>
                <a:lnTo>
                  <a:pt x="307" y="123"/>
                </a:lnTo>
                <a:lnTo>
                  <a:pt x="310" y="123"/>
                </a:lnTo>
                <a:lnTo>
                  <a:pt x="314" y="123"/>
                </a:lnTo>
                <a:lnTo>
                  <a:pt x="317" y="123"/>
                </a:lnTo>
                <a:lnTo>
                  <a:pt x="321" y="120"/>
                </a:lnTo>
                <a:lnTo>
                  <a:pt x="324" y="120"/>
                </a:lnTo>
                <a:lnTo>
                  <a:pt x="328" y="120"/>
                </a:lnTo>
                <a:lnTo>
                  <a:pt x="328" y="116"/>
                </a:lnTo>
                <a:lnTo>
                  <a:pt x="331" y="116"/>
                </a:lnTo>
                <a:lnTo>
                  <a:pt x="335" y="116"/>
                </a:lnTo>
                <a:lnTo>
                  <a:pt x="339" y="112"/>
                </a:lnTo>
                <a:lnTo>
                  <a:pt x="342" y="112"/>
                </a:lnTo>
                <a:lnTo>
                  <a:pt x="346" y="112"/>
                </a:lnTo>
                <a:lnTo>
                  <a:pt x="349" y="108"/>
                </a:lnTo>
                <a:lnTo>
                  <a:pt x="352" y="108"/>
                </a:lnTo>
                <a:lnTo>
                  <a:pt x="357" y="108"/>
                </a:lnTo>
                <a:lnTo>
                  <a:pt x="360" y="105"/>
                </a:lnTo>
                <a:lnTo>
                  <a:pt x="364" y="105"/>
                </a:lnTo>
                <a:lnTo>
                  <a:pt x="367" y="105"/>
                </a:lnTo>
                <a:lnTo>
                  <a:pt x="371" y="105"/>
                </a:lnTo>
                <a:lnTo>
                  <a:pt x="374" y="101"/>
                </a:lnTo>
                <a:lnTo>
                  <a:pt x="378" y="101"/>
                </a:lnTo>
                <a:lnTo>
                  <a:pt x="381" y="101"/>
                </a:lnTo>
                <a:lnTo>
                  <a:pt x="384" y="97"/>
                </a:lnTo>
                <a:lnTo>
                  <a:pt x="389" y="97"/>
                </a:lnTo>
                <a:lnTo>
                  <a:pt x="392" y="97"/>
                </a:lnTo>
                <a:lnTo>
                  <a:pt x="395" y="93"/>
                </a:lnTo>
                <a:lnTo>
                  <a:pt x="399" y="93"/>
                </a:lnTo>
                <a:lnTo>
                  <a:pt x="402" y="90"/>
                </a:lnTo>
                <a:lnTo>
                  <a:pt x="407" y="90"/>
                </a:lnTo>
                <a:lnTo>
                  <a:pt x="410" y="90"/>
                </a:lnTo>
                <a:lnTo>
                  <a:pt x="413" y="90"/>
                </a:lnTo>
                <a:lnTo>
                  <a:pt x="413" y="85"/>
                </a:lnTo>
                <a:lnTo>
                  <a:pt x="417" y="82"/>
                </a:lnTo>
                <a:lnTo>
                  <a:pt x="417" y="77"/>
                </a:lnTo>
                <a:lnTo>
                  <a:pt x="420" y="77"/>
                </a:lnTo>
                <a:lnTo>
                  <a:pt x="420" y="74"/>
                </a:lnTo>
                <a:lnTo>
                  <a:pt x="424" y="69"/>
                </a:lnTo>
                <a:lnTo>
                  <a:pt x="424" y="66"/>
                </a:lnTo>
                <a:lnTo>
                  <a:pt x="428" y="66"/>
                </a:lnTo>
                <a:lnTo>
                  <a:pt x="431" y="66"/>
                </a:lnTo>
                <a:lnTo>
                  <a:pt x="434" y="66"/>
                </a:lnTo>
                <a:lnTo>
                  <a:pt x="438" y="62"/>
                </a:lnTo>
                <a:lnTo>
                  <a:pt x="442" y="62"/>
                </a:lnTo>
                <a:lnTo>
                  <a:pt x="445" y="62"/>
                </a:lnTo>
                <a:lnTo>
                  <a:pt x="449" y="59"/>
                </a:lnTo>
                <a:lnTo>
                  <a:pt x="452" y="59"/>
                </a:lnTo>
                <a:lnTo>
                  <a:pt x="456" y="54"/>
                </a:lnTo>
                <a:lnTo>
                  <a:pt x="460" y="54"/>
                </a:lnTo>
                <a:lnTo>
                  <a:pt x="463" y="54"/>
                </a:lnTo>
                <a:lnTo>
                  <a:pt x="467" y="54"/>
                </a:lnTo>
                <a:lnTo>
                  <a:pt x="470" y="54"/>
                </a:lnTo>
                <a:lnTo>
                  <a:pt x="470" y="51"/>
                </a:lnTo>
                <a:lnTo>
                  <a:pt x="473" y="51"/>
                </a:lnTo>
                <a:lnTo>
                  <a:pt x="473" y="47"/>
                </a:lnTo>
                <a:lnTo>
                  <a:pt x="473" y="44"/>
                </a:lnTo>
                <a:lnTo>
                  <a:pt x="473" y="39"/>
                </a:lnTo>
                <a:lnTo>
                  <a:pt x="473" y="36"/>
                </a:lnTo>
                <a:lnTo>
                  <a:pt x="478" y="31"/>
                </a:lnTo>
                <a:lnTo>
                  <a:pt x="478" y="28"/>
                </a:lnTo>
                <a:lnTo>
                  <a:pt x="478" y="23"/>
                </a:lnTo>
                <a:lnTo>
                  <a:pt x="478" y="20"/>
                </a:lnTo>
                <a:lnTo>
                  <a:pt x="481" y="20"/>
                </a:lnTo>
                <a:lnTo>
                  <a:pt x="481" y="16"/>
                </a:lnTo>
                <a:lnTo>
                  <a:pt x="481" y="12"/>
                </a:lnTo>
                <a:lnTo>
                  <a:pt x="481" y="8"/>
                </a:lnTo>
                <a:lnTo>
                  <a:pt x="484" y="5"/>
                </a:lnTo>
                <a:lnTo>
                  <a:pt x="484" y="0"/>
                </a:lnTo>
                <a:lnTo>
                  <a:pt x="481" y="0"/>
                </a:lnTo>
                <a:lnTo>
                  <a:pt x="478" y="0"/>
                </a:lnTo>
                <a:lnTo>
                  <a:pt x="473" y="0"/>
                </a:lnTo>
                <a:lnTo>
                  <a:pt x="470" y="0"/>
                </a:lnTo>
                <a:lnTo>
                  <a:pt x="467" y="0"/>
                </a:lnTo>
                <a:lnTo>
                  <a:pt x="463" y="0"/>
                </a:lnTo>
                <a:lnTo>
                  <a:pt x="460" y="0"/>
                </a:lnTo>
                <a:lnTo>
                  <a:pt x="456" y="0"/>
                </a:lnTo>
                <a:lnTo>
                  <a:pt x="452" y="0"/>
                </a:lnTo>
                <a:lnTo>
                  <a:pt x="449" y="4"/>
                </a:lnTo>
                <a:lnTo>
                  <a:pt x="445" y="4"/>
                </a:lnTo>
                <a:lnTo>
                  <a:pt x="442" y="4"/>
                </a:lnTo>
                <a:lnTo>
                  <a:pt x="438" y="7"/>
                </a:lnTo>
                <a:lnTo>
                  <a:pt x="434" y="7"/>
                </a:lnTo>
                <a:lnTo>
                  <a:pt x="431" y="11"/>
                </a:lnTo>
                <a:lnTo>
                  <a:pt x="428" y="11"/>
                </a:lnTo>
                <a:lnTo>
                  <a:pt x="424" y="11"/>
                </a:lnTo>
                <a:lnTo>
                  <a:pt x="424" y="15"/>
                </a:lnTo>
                <a:lnTo>
                  <a:pt x="420" y="15"/>
                </a:lnTo>
                <a:lnTo>
                  <a:pt x="417" y="19"/>
                </a:lnTo>
                <a:lnTo>
                  <a:pt x="413" y="19"/>
                </a:lnTo>
                <a:lnTo>
                  <a:pt x="410" y="19"/>
                </a:lnTo>
                <a:lnTo>
                  <a:pt x="410" y="22"/>
                </a:lnTo>
                <a:lnTo>
                  <a:pt x="410" y="27"/>
                </a:lnTo>
                <a:lnTo>
                  <a:pt x="407" y="27"/>
                </a:lnTo>
                <a:lnTo>
                  <a:pt x="402" y="27"/>
                </a:lnTo>
                <a:lnTo>
                  <a:pt x="399" y="30"/>
                </a:lnTo>
                <a:lnTo>
                  <a:pt x="395" y="30"/>
                </a:lnTo>
                <a:lnTo>
                  <a:pt x="392" y="30"/>
                </a:lnTo>
                <a:lnTo>
                  <a:pt x="389" y="30"/>
                </a:lnTo>
                <a:lnTo>
                  <a:pt x="384" y="34"/>
                </a:lnTo>
                <a:lnTo>
                  <a:pt x="381" y="34"/>
                </a:lnTo>
                <a:lnTo>
                  <a:pt x="378" y="34"/>
                </a:lnTo>
                <a:lnTo>
                  <a:pt x="374" y="38"/>
                </a:lnTo>
                <a:lnTo>
                  <a:pt x="371" y="38"/>
                </a:lnTo>
                <a:lnTo>
                  <a:pt x="367" y="38"/>
                </a:lnTo>
                <a:lnTo>
                  <a:pt x="364" y="38"/>
                </a:lnTo>
                <a:lnTo>
                  <a:pt x="360" y="38"/>
                </a:lnTo>
                <a:lnTo>
                  <a:pt x="357" y="38"/>
                </a:lnTo>
                <a:lnTo>
                  <a:pt x="357" y="42"/>
                </a:lnTo>
                <a:lnTo>
                  <a:pt x="357" y="45"/>
                </a:lnTo>
                <a:lnTo>
                  <a:pt x="357" y="50"/>
                </a:lnTo>
                <a:lnTo>
                  <a:pt x="352" y="53"/>
                </a:lnTo>
                <a:lnTo>
                  <a:pt x="349" y="53"/>
                </a:lnTo>
                <a:lnTo>
                  <a:pt x="349" y="58"/>
                </a:lnTo>
                <a:lnTo>
                  <a:pt x="346" y="58"/>
                </a:lnTo>
                <a:lnTo>
                  <a:pt x="342" y="61"/>
                </a:lnTo>
                <a:lnTo>
                  <a:pt x="339" y="61"/>
                </a:lnTo>
                <a:lnTo>
                  <a:pt x="335" y="66"/>
                </a:lnTo>
                <a:lnTo>
                  <a:pt x="331" y="66"/>
                </a:lnTo>
                <a:lnTo>
                  <a:pt x="328" y="66"/>
                </a:lnTo>
                <a:lnTo>
                  <a:pt x="324" y="69"/>
                </a:lnTo>
                <a:lnTo>
                  <a:pt x="321" y="69"/>
                </a:lnTo>
                <a:lnTo>
                  <a:pt x="317" y="69"/>
                </a:lnTo>
                <a:lnTo>
                  <a:pt x="314" y="69"/>
                </a:lnTo>
                <a:lnTo>
                  <a:pt x="310" y="74"/>
                </a:lnTo>
                <a:lnTo>
                  <a:pt x="307" y="74"/>
                </a:lnTo>
                <a:lnTo>
                  <a:pt x="303" y="74"/>
                </a:lnTo>
                <a:lnTo>
                  <a:pt x="299" y="74"/>
                </a:lnTo>
                <a:lnTo>
                  <a:pt x="296" y="74"/>
                </a:lnTo>
                <a:lnTo>
                  <a:pt x="292" y="74"/>
                </a:lnTo>
                <a:lnTo>
                  <a:pt x="289" y="76"/>
                </a:lnTo>
                <a:lnTo>
                  <a:pt x="286" y="76"/>
                </a:lnTo>
                <a:lnTo>
                  <a:pt x="286" y="80"/>
                </a:lnTo>
                <a:lnTo>
                  <a:pt x="281" y="80"/>
                </a:lnTo>
                <a:lnTo>
                  <a:pt x="278" y="84"/>
                </a:lnTo>
                <a:lnTo>
                  <a:pt x="275" y="84"/>
                </a:lnTo>
                <a:lnTo>
                  <a:pt x="271" y="84"/>
                </a:lnTo>
                <a:lnTo>
                  <a:pt x="268" y="84"/>
                </a:lnTo>
                <a:lnTo>
                  <a:pt x="268" y="88"/>
                </a:lnTo>
                <a:lnTo>
                  <a:pt x="264" y="88"/>
                </a:lnTo>
                <a:lnTo>
                  <a:pt x="260" y="88"/>
                </a:lnTo>
                <a:lnTo>
                  <a:pt x="257" y="91"/>
                </a:lnTo>
                <a:lnTo>
                  <a:pt x="254" y="91"/>
                </a:lnTo>
                <a:lnTo>
                  <a:pt x="250" y="91"/>
                </a:lnTo>
                <a:lnTo>
                  <a:pt x="242" y="91"/>
                </a:lnTo>
                <a:lnTo>
                  <a:pt x="238" y="91"/>
                </a:lnTo>
                <a:lnTo>
                  <a:pt x="234" y="96"/>
                </a:lnTo>
                <a:lnTo>
                  <a:pt x="231" y="96"/>
                </a:lnTo>
                <a:lnTo>
                  <a:pt x="227" y="96"/>
                </a:lnTo>
                <a:lnTo>
                  <a:pt x="227" y="99"/>
                </a:lnTo>
                <a:lnTo>
                  <a:pt x="224" y="104"/>
                </a:lnTo>
                <a:lnTo>
                  <a:pt x="221" y="104"/>
                </a:lnTo>
                <a:lnTo>
                  <a:pt x="216" y="104"/>
                </a:lnTo>
                <a:lnTo>
                  <a:pt x="213" y="104"/>
                </a:lnTo>
                <a:lnTo>
                  <a:pt x="209" y="107"/>
                </a:lnTo>
                <a:lnTo>
                  <a:pt x="206" y="107"/>
                </a:lnTo>
                <a:lnTo>
                  <a:pt x="203" y="107"/>
                </a:lnTo>
                <a:lnTo>
                  <a:pt x="203" y="112"/>
                </a:lnTo>
                <a:lnTo>
                  <a:pt x="203" y="115"/>
                </a:lnTo>
                <a:lnTo>
                  <a:pt x="203" y="119"/>
                </a:lnTo>
                <a:lnTo>
                  <a:pt x="199" y="119"/>
                </a:lnTo>
                <a:lnTo>
                  <a:pt x="195" y="119"/>
                </a:lnTo>
                <a:lnTo>
                  <a:pt x="195" y="123"/>
                </a:lnTo>
                <a:lnTo>
                  <a:pt x="192" y="123"/>
                </a:lnTo>
                <a:lnTo>
                  <a:pt x="192" y="127"/>
                </a:lnTo>
                <a:lnTo>
                  <a:pt x="188" y="127"/>
                </a:lnTo>
                <a:lnTo>
                  <a:pt x="185" y="127"/>
                </a:lnTo>
                <a:lnTo>
                  <a:pt x="181" y="130"/>
                </a:lnTo>
                <a:lnTo>
                  <a:pt x="177" y="130"/>
                </a:lnTo>
                <a:lnTo>
                  <a:pt x="174" y="128"/>
                </a:lnTo>
                <a:lnTo>
                  <a:pt x="170" y="128"/>
                </a:lnTo>
                <a:lnTo>
                  <a:pt x="167" y="128"/>
                </a:lnTo>
                <a:lnTo>
                  <a:pt x="163" y="128"/>
                </a:lnTo>
                <a:lnTo>
                  <a:pt x="160" y="128"/>
                </a:lnTo>
                <a:lnTo>
                  <a:pt x="156" y="128"/>
                </a:lnTo>
                <a:lnTo>
                  <a:pt x="153" y="128"/>
                </a:lnTo>
                <a:lnTo>
                  <a:pt x="149" y="128"/>
                </a:lnTo>
                <a:lnTo>
                  <a:pt x="145" y="130"/>
                </a:lnTo>
                <a:lnTo>
                  <a:pt x="142" y="130"/>
                </a:lnTo>
                <a:lnTo>
                  <a:pt x="139" y="130"/>
                </a:lnTo>
                <a:lnTo>
                  <a:pt x="135" y="135"/>
                </a:lnTo>
                <a:lnTo>
                  <a:pt x="132" y="135"/>
                </a:lnTo>
                <a:lnTo>
                  <a:pt x="128" y="135"/>
                </a:lnTo>
                <a:lnTo>
                  <a:pt x="124" y="138"/>
                </a:lnTo>
                <a:lnTo>
                  <a:pt x="121" y="138"/>
                </a:lnTo>
                <a:lnTo>
                  <a:pt x="117" y="138"/>
                </a:lnTo>
                <a:lnTo>
                  <a:pt x="113" y="142"/>
                </a:lnTo>
                <a:lnTo>
                  <a:pt x="110" y="142"/>
                </a:lnTo>
                <a:lnTo>
                  <a:pt x="106" y="142"/>
                </a:lnTo>
                <a:lnTo>
                  <a:pt x="103" y="145"/>
                </a:lnTo>
                <a:lnTo>
                  <a:pt x="100" y="145"/>
                </a:lnTo>
                <a:lnTo>
                  <a:pt x="95" y="145"/>
                </a:lnTo>
                <a:lnTo>
                  <a:pt x="92" y="150"/>
                </a:lnTo>
                <a:lnTo>
                  <a:pt x="89" y="150"/>
                </a:lnTo>
                <a:lnTo>
                  <a:pt x="85" y="150"/>
                </a:lnTo>
                <a:lnTo>
                  <a:pt x="82" y="153"/>
                </a:lnTo>
                <a:lnTo>
                  <a:pt x="78" y="158"/>
                </a:lnTo>
                <a:lnTo>
                  <a:pt x="74" y="158"/>
                </a:lnTo>
                <a:lnTo>
                  <a:pt x="71" y="158"/>
                </a:lnTo>
                <a:lnTo>
                  <a:pt x="68" y="158"/>
                </a:lnTo>
                <a:lnTo>
                  <a:pt x="64" y="158"/>
                </a:lnTo>
                <a:lnTo>
                  <a:pt x="60" y="158"/>
                </a:lnTo>
                <a:lnTo>
                  <a:pt x="57" y="158"/>
                </a:lnTo>
                <a:lnTo>
                  <a:pt x="53" y="154"/>
                </a:lnTo>
                <a:lnTo>
                  <a:pt x="50" y="154"/>
                </a:lnTo>
                <a:lnTo>
                  <a:pt x="46" y="154"/>
                </a:lnTo>
                <a:lnTo>
                  <a:pt x="42" y="154"/>
                </a:lnTo>
                <a:lnTo>
                  <a:pt x="39" y="154"/>
                </a:lnTo>
                <a:lnTo>
                  <a:pt x="35" y="154"/>
                </a:lnTo>
                <a:lnTo>
                  <a:pt x="35" y="151"/>
                </a:lnTo>
                <a:lnTo>
                  <a:pt x="32" y="151"/>
                </a:lnTo>
                <a:lnTo>
                  <a:pt x="29" y="151"/>
                </a:lnTo>
                <a:lnTo>
                  <a:pt x="24" y="151"/>
                </a:lnTo>
                <a:lnTo>
                  <a:pt x="21" y="151"/>
                </a:lnTo>
                <a:lnTo>
                  <a:pt x="17" y="151"/>
                </a:lnTo>
                <a:lnTo>
                  <a:pt x="14" y="151"/>
                </a:lnTo>
                <a:lnTo>
                  <a:pt x="11" y="151"/>
                </a:lnTo>
                <a:lnTo>
                  <a:pt x="7" y="151"/>
                </a:lnTo>
                <a:lnTo>
                  <a:pt x="3" y="151"/>
                </a:lnTo>
                <a:lnTo>
                  <a:pt x="3" y="158"/>
                </a:lnTo>
                <a:lnTo>
                  <a:pt x="3" y="161"/>
                </a:lnTo>
                <a:lnTo>
                  <a:pt x="3" y="165"/>
                </a:lnTo>
                <a:lnTo>
                  <a:pt x="0" y="165"/>
                </a:lnTo>
                <a:lnTo>
                  <a:pt x="0" y="169"/>
                </a:lnTo>
                <a:lnTo>
                  <a:pt x="0" y="173"/>
                </a:lnTo>
                <a:lnTo>
                  <a:pt x="0" y="176"/>
                </a:lnTo>
                <a:lnTo>
                  <a:pt x="0" y="181"/>
                </a:lnTo>
                <a:lnTo>
                  <a:pt x="0" y="184"/>
                </a:lnTo>
                <a:lnTo>
                  <a:pt x="0" y="189"/>
                </a:lnTo>
                <a:lnTo>
                  <a:pt x="0" y="192"/>
                </a:lnTo>
                <a:lnTo>
                  <a:pt x="0" y="196"/>
                </a:lnTo>
                <a:lnTo>
                  <a:pt x="2" y="200"/>
                </a:lnTo>
                <a:lnTo>
                  <a:pt x="2" y="204"/>
                </a:lnTo>
                <a:lnTo>
                  <a:pt x="2" y="207"/>
                </a:lnTo>
                <a:lnTo>
                  <a:pt x="6" y="207"/>
                </a:lnTo>
                <a:lnTo>
                  <a:pt x="9" y="207"/>
                </a:lnTo>
                <a:lnTo>
                  <a:pt x="13" y="207"/>
                </a:lnTo>
                <a:lnTo>
                  <a:pt x="17" y="208"/>
                </a:lnTo>
              </a:path>
            </a:pathLst>
          </a:custGeom>
          <a:solidFill>
            <a:srgbClr val="FFFFFF"/>
          </a:solidFill>
          <a:ln cap="rnd" cmpd="sng" w="1270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Contoh:</a:t>
            </a:r>
            <a:endParaRPr/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539750" y="1773238"/>
            <a:ext cx="822960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Rata-rata tinggi wanita dewasa di indonesia adalah kurang dari 170 cm.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Persentase kepala rumah tangga yang berpendidikan tinggi adalah 14%.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Sedikitnya 5% mahasiswa ITS menghabiskan biaya lebih dari 2 juta/bulan.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Rata-rata jarak tempuh pekerja/profesional di Jakarta per hari adalah 45 km.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Sedikitnya 5% dari kepala rumah tangga di Kota Surabaya lebih dari 150 juta/tahun.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196" name="Google Shape;196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POPULASI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POPULASI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5" name="Google Shape;205;p1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Definisi Null Hipotesa, H</a:t>
            </a:r>
            <a:r>
              <a:rPr baseline="-25000" lang="en-US"/>
              <a:t>0</a:t>
            </a:r>
            <a:endParaRPr/>
          </a:p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Menyatakan asumsi klaim yang akan diuji dalam bentuk numerik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Misal rata-rata jumlah kepemilikan kendaraan bermotor setiap rumah tangga di Surabaya untuk ekonomi menengah minimal 3 (</a:t>
            </a:r>
            <a:r>
              <a:rPr i="1" lang="en-US" sz="24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i="1" lang="en-US" sz="2400">
                <a:latin typeface="Book Antiqua"/>
                <a:ea typeface="Book Antiqua"/>
                <a:cs typeface="Book Antiqua"/>
                <a:sym typeface="Book Antiqua"/>
              </a:rPr>
              <a:t>0</a:t>
            </a:r>
            <a:r>
              <a:rPr lang="en-US" sz="2400"/>
              <a:t> : </a:t>
            </a:r>
            <a:r>
              <a:rPr i="1" lang="en-US" sz="2400">
                <a:latin typeface="Book Antiqua"/>
                <a:ea typeface="Book Antiqua"/>
                <a:cs typeface="Book Antiqua"/>
                <a:sym typeface="Book Antiqua"/>
              </a:rPr>
              <a:t>μ</a:t>
            </a:r>
            <a:r>
              <a:rPr lang="en-US" sz="2400"/>
              <a:t> ≥ 3)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Null Hipotesa selalu mengenai Parameter Populasion (</a:t>
            </a:r>
            <a:r>
              <a:rPr i="1" lang="en-US" sz="28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i="1" lang="en-US" sz="2800">
                <a:latin typeface="Book Antiqua"/>
                <a:ea typeface="Book Antiqua"/>
                <a:cs typeface="Book Antiqua"/>
                <a:sym typeface="Book Antiqua"/>
              </a:rPr>
              <a:t>0</a:t>
            </a:r>
            <a:r>
              <a:rPr lang="en-US" sz="2800"/>
              <a:t> : </a:t>
            </a:r>
            <a:r>
              <a:rPr i="1" lang="en-US" sz="2800">
                <a:latin typeface="Book Antiqua"/>
                <a:ea typeface="Book Antiqua"/>
                <a:cs typeface="Book Antiqua"/>
                <a:sym typeface="Book Antiqua"/>
              </a:rPr>
              <a:t>μ</a:t>
            </a:r>
            <a:r>
              <a:rPr lang="en-US" sz="2800"/>
              <a:t> ≥ 3), bukan tentang statistik sampel (               ) </a:t>
            </a:r>
            <a:endParaRPr/>
          </a:p>
        </p:txBody>
      </p:sp>
      <p:pic>
        <p:nvPicPr>
          <p:cNvPr id="207" name="Google Shape;2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975" y="5013325"/>
            <a:ext cx="13684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5" name="Google Shape;215;p17"/>
          <p:cNvSpPr txBox="1"/>
          <p:nvPr>
            <p:ph type="title"/>
          </p:nvPr>
        </p:nvSpPr>
        <p:spPr>
          <a:xfrm>
            <a:off x="533400" y="228600"/>
            <a:ext cx="77930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Definisi Null Hipotesa, H</a:t>
            </a:r>
            <a:r>
              <a:rPr baseline="-25000" lang="en-US"/>
              <a:t>0</a:t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457200" y="1981200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Diawali dengan menerima bahwa asumsi pada Null Hipotesa adalah benar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analogi dengan bahwa terdakwa belum dinyatakan sebagai tahanan sampai hakim memutuskan bersalah</a:t>
            </a:r>
            <a:endParaRPr/>
          </a:p>
          <a:p>
            <a:pPr indent="-20955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Sama dengan Status Quo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Selalu terdapat simbol “=” (bisa juga ≤ atau ≥)</a:t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Null Hipotesa memiliki kemungkinan untuk ditolak</a:t>
            </a:r>
            <a:endParaRPr/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2950" y="3573463"/>
            <a:ext cx="1316038" cy="12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7593013" y="1268413"/>
            <a:ext cx="14747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i="1" lang="en-US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(continued)</a:t>
            </a:r>
            <a:endParaRPr/>
          </a:p>
        </p:txBody>
      </p:sp>
      <p:pic>
        <p:nvPicPr>
          <p:cNvPr id="219" name="Google Shape;2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6" name="Google Shape;226;p1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Definisi Alternatif Hipotesa, H</a:t>
            </a:r>
            <a:r>
              <a:rPr baseline="-25000" lang="en-US"/>
              <a:t>1</a:t>
            </a:r>
            <a:endParaRPr/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381000" y="2057400"/>
            <a:ext cx="8382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Kebalikan dari Null Hipotesa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Misal rata-rata jumlah kepemilikan kendaraan bermotor setiap rumah tangga di Surabaya untuk ekonomi menengah kurang dari 3  (</a:t>
            </a:r>
            <a:r>
              <a:rPr i="1" lang="en-US" sz="2400">
                <a:latin typeface="Book Antiqua"/>
                <a:ea typeface="Book Antiqua"/>
                <a:cs typeface="Book Antiqua"/>
                <a:sym typeface="Book Antiqua"/>
              </a:rPr>
              <a:t>H</a:t>
            </a:r>
            <a:r>
              <a:rPr baseline="-25000" i="1" lang="en-US" sz="2400">
                <a:latin typeface="Book Antiqua"/>
                <a:ea typeface="Book Antiqua"/>
                <a:cs typeface="Book Antiqua"/>
                <a:sym typeface="Book Antiqua"/>
              </a:rPr>
              <a:t>0</a:t>
            </a:r>
            <a:r>
              <a:rPr lang="en-US" sz="2400"/>
              <a:t> : </a:t>
            </a:r>
            <a:r>
              <a:rPr i="1" lang="en-US" sz="2400">
                <a:latin typeface="Book Antiqua"/>
                <a:ea typeface="Book Antiqua"/>
                <a:cs typeface="Book Antiqua"/>
                <a:sym typeface="Book Antiqua"/>
              </a:rPr>
              <a:t>μ</a:t>
            </a:r>
            <a:r>
              <a:rPr lang="en-US" sz="2400"/>
              <a:t> &lt; 3)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Berusaha menolak Status Quo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Tidak pernah ditemui simbol “=”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Null Hipotesa memiliki kemungkinan diterima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Pada umumnya jenis hipotesa yang akan diklaim team riset</a:t>
            </a:r>
            <a:endParaRPr/>
          </a:p>
        </p:txBody>
      </p:sp>
      <p:pic>
        <p:nvPicPr>
          <p:cNvPr id="228" name="Google Shape;2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234" name="Google Shape;234;p1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5" name="Google Shape;235;p19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Proses Uji Hipotesa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4800600" y="2895600"/>
            <a:ext cx="4237038" cy="51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Identifikasikan Populasi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09600" y="2016125"/>
            <a:ext cx="2971800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Asumsi populasi dengan rata-rata usia 50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606425" y="3025775"/>
            <a:ext cx="2289175" cy="51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                   )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8077200" y="3581400"/>
            <a:ext cx="677863" cy="704850"/>
          </a:xfrm>
          <a:custGeom>
            <a:rect b="b" l="l" r="r" t="t"/>
            <a:pathLst>
              <a:path extrusionOk="0" h="444" w="427">
                <a:moveTo>
                  <a:pt x="107" y="0"/>
                </a:moveTo>
                <a:lnTo>
                  <a:pt x="320" y="0"/>
                </a:lnTo>
                <a:lnTo>
                  <a:pt x="320" y="335"/>
                </a:lnTo>
                <a:lnTo>
                  <a:pt x="426" y="335"/>
                </a:lnTo>
                <a:lnTo>
                  <a:pt x="214" y="443"/>
                </a:lnTo>
                <a:lnTo>
                  <a:pt x="0" y="335"/>
                </a:lnTo>
                <a:lnTo>
                  <a:pt x="107" y="335"/>
                </a:lnTo>
                <a:lnTo>
                  <a:pt x="107" y="0"/>
                </a:lnTo>
              </a:path>
            </a:pathLst>
          </a:custGeom>
          <a:solidFill>
            <a:srgbClr val="FFFF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8064500" y="3581400"/>
            <a:ext cx="687388" cy="687388"/>
          </a:xfrm>
          <a:custGeom>
            <a:rect b="b" l="l" r="r" t="t"/>
            <a:pathLst>
              <a:path extrusionOk="0" h="433" w="433">
                <a:moveTo>
                  <a:pt x="324" y="0"/>
                </a:moveTo>
                <a:lnTo>
                  <a:pt x="324" y="323"/>
                </a:lnTo>
                <a:lnTo>
                  <a:pt x="432" y="323"/>
                </a:lnTo>
                <a:lnTo>
                  <a:pt x="217" y="432"/>
                </a:lnTo>
                <a:lnTo>
                  <a:pt x="0" y="323"/>
                </a:lnTo>
                <a:lnTo>
                  <a:pt x="109" y="323"/>
                </a:lnTo>
                <a:lnTo>
                  <a:pt x="109" y="0"/>
                </a:lnTo>
              </a:path>
            </a:pathLst>
          </a:cu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429000" y="5103813"/>
            <a:ext cx="914400" cy="687387"/>
          </a:xfrm>
          <a:custGeom>
            <a:rect b="b" l="l" r="r" t="t"/>
            <a:pathLst>
              <a:path extrusionOk="0" h="433" w="576">
                <a:moveTo>
                  <a:pt x="575" y="324"/>
                </a:moveTo>
                <a:lnTo>
                  <a:pt x="107" y="324"/>
                </a:lnTo>
                <a:lnTo>
                  <a:pt x="107" y="432"/>
                </a:lnTo>
                <a:lnTo>
                  <a:pt x="0" y="215"/>
                </a:lnTo>
                <a:lnTo>
                  <a:pt x="107" y="0"/>
                </a:lnTo>
                <a:lnTo>
                  <a:pt x="107" y="107"/>
                </a:lnTo>
                <a:lnTo>
                  <a:pt x="575" y="107"/>
                </a:lnTo>
              </a:path>
            </a:pathLst>
          </a:custGeom>
          <a:solidFill>
            <a:srgbClr val="FFFF99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915988" y="5257800"/>
            <a:ext cx="1500187" cy="723900"/>
          </a:xfrm>
          <a:custGeom>
            <a:rect b="b" l="l" r="r" t="t"/>
            <a:pathLst>
              <a:path extrusionOk="0" h="456" w="945">
                <a:moveTo>
                  <a:pt x="0" y="360"/>
                </a:moveTo>
                <a:lnTo>
                  <a:pt x="0" y="95"/>
                </a:lnTo>
                <a:lnTo>
                  <a:pt x="95" y="0"/>
                </a:lnTo>
                <a:lnTo>
                  <a:pt x="849" y="0"/>
                </a:lnTo>
                <a:lnTo>
                  <a:pt x="944" y="95"/>
                </a:lnTo>
                <a:lnTo>
                  <a:pt x="944" y="360"/>
                </a:lnTo>
                <a:lnTo>
                  <a:pt x="849" y="455"/>
                </a:lnTo>
                <a:lnTo>
                  <a:pt x="95" y="455"/>
                </a:lnTo>
                <a:lnTo>
                  <a:pt x="0" y="360"/>
                </a:lnTo>
                <a:lnTo>
                  <a:pt x="48" y="347"/>
                </a:lnTo>
                <a:lnTo>
                  <a:pt x="48" y="111"/>
                </a:lnTo>
                <a:lnTo>
                  <a:pt x="108" y="47"/>
                </a:lnTo>
                <a:lnTo>
                  <a:pt x="834" y="47"/>
                </a:lnTo>
                <a:lnTo>
                  <a:pt x="896" y="111"/>
                </a:lnTo>
                <a:lnTo>
                  <a:pt x="896" y="347"/>
                </a:lnTo>
                <a:lnTo>
                  <a:pt x="834" y="408"/>
                </a:lnTo>
                <a:lnTo>
                  <a:pt x="108" y="408"/>
                </a:lnTo>
                <a:lnTo>
                  <a:pt x="48" y="347"/>
                </a:lnTo>
                <a:lnTo>
                  <a:pt x="0" y="360"/>
                </a:lnTo>
              </a:path>
            </a:pathLst>
          </a:custGeom>
          <a:solidFill>
            <a:srgbClr val="FFCCCC"/>
          </a:solidFill>
          <a:ln cap="rnd" cmpd="sng" w="9525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971550" y="5413375"/>
            <a:ext cx="13843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6311900" y="5105400"/>
            <a:ext cx="533400" cy="611188"/>
          </a:xfrm>
          <a:custGeom>
            <a:rect b="b" l="l" r="r" t="t"/>
            <a:pathLst>
              <a:path extrusionOk="0" h="385" w="336">
                <a:moveTo>
                  <a:pt x="335" y="288"/>
                </a:moveTo>
                <a:lnTo>
                  <a:pt x="63" y="288"/>
                </a:lnTo>
                <a:lnTo>
                  <a:pt x="63" y="384"/>
                </a:lnTo>
                <a:lnTo>
                  <a:pt x="0" y="191"/>
                </a:lnTo>
                <a:lnTo>
                  <a:pt x="63" y="0"/>
                </a:lnTo>
                <a:lnTo>
                  <a:pt x="63" y="95"/>
                </a:lnTo>
                <a:lnTo>
                  <a:pt x="335" y="95"/>
                </a:lnTo>
              </a:path>
            </a:pathLst>
          </a:custGeom>
          <a:solidFill>
            <a:schemeClr val="folHlink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3265488" y="2324100"/>
            <a:ext cx="933450" cy="677863"/>
          </a:xfrm>
          <a:custGeom>
            <a:rect b="b" l="l" r="r" t="t"/>
            <a:pathLst>
              <a:path extrusionOk="0" h="427" w="588">
                <a:moveTo>
                  <a:pt x="0" y="320"/>
                </a:moveTo>
                <a:lnTo>
                  <a:pt x="0" y="106"/>
                </a:lnTo>
                <a:lnTo>
                  <a:pt x="479" y="106"/>
                </a:lnTo>
                <a:lnTo>
                  <a:pt x="479" y="0"/>
                </a:lnTo>
                <a:lnTo>
                  <a:pt x="587" y="214"/>
                </a:lnTo>
                <a:lnTo>
                  <a:pt x="479" y="426"/>
                </a:lnTo>
                <a:lnTo>
                  <a:pt x="479" y="320"/>
                </a:lnTo>
                <a:lnTo>
                  <a:pt x="0" y="320"/>
                </a:lnTo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292475" y="2324100"/>
            <a:ext cx="915988" cy="687388"/>
          </a:xfrm>
          <a:custGeom>
            <a:rect b="b" l="l" r="r" t="t"/>
            <a:pathLst>
              <a:path extrusionOk="0" h="433" w="577">
                <a:moveTo>
                  <a:pt x="0" y="107"/>
                </a:moveTo>
                <a:lnTo>
                  <a:pt x="467" y="107"/>
                </a:lnTo>
                <a:lnTo>
                  <a:pt x="467" y="0"/>
                </a:lnTo>
                <a:lnTo>
                  <a:pt x="576" y="217"/>
                </a:lnTo>
                <a:lnTo>
                  <a:pt x="467" y="432"/>
                </a:lnTo>
                <a:lnTo>
                  <a:pt x="467" y="324"/>
                </a:lnTo>
                <a:lnTo>
                  <a:pt x="0" y="324"/>
                </a:lnTo>
              </a:path>
            </a:pathLst>
          </a:custGeom>
          <a:solidFill>
            <a:schemeClr val="folHlink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19"/>
          <p:cNvGrpSpPr/>
          <p:nvPr/>
        </p:nvGrpSpPr>
        <p:grpSpPr>
          <a:xfrm>
            <a:off x="5105400" y="4243388"/>
            <a:ext cx="1027113" cy="1471612"/>
            <a:chOff x="2736" y="2832"/>
            <a:chExt cx="647" cy="927"/>
          </a:xfrm>
        </p:grpSpPr>
        <p:grpSp>
          <p:nvGrpSpPr>
            <p:cNvPr id="248" name="Google Shape;248;p19"/>
            <p:cNvGrpSpPr/>
            <p:nvPr/>
          </p:nvGrpSpPr>
          <p:grpSpPr>
            <a:xfrm>
              <a:off x="2736" y="2832"/>
              <a:ext cx="647" cy="927"/>
              <a:chOff x="2736" y="2832"/>
              <a:chExt cx="647" cy="927"/>
            </a:xfrm>
          </p:grpSpPr>
          <p:grpSp>
            <p:nvGrpSpPr>
              <p:cNvPr id="249" name="Google Shape;249;p19"/>
              <p:cNvGrpSpPr/>
              <p:nvPr/>
            </p:nvGrpSpPr>
            <p:grpSpPr>
              <a:xfrm>
                <a:off x="2736" y="2832"/>
                <a:ext cx="647" cy="927"/>
                <a:chOff x="2736" y="2832"/>
                <a:chExt cx="647" cy="927"/>
              </a:xfrm>
            </p:grpSpPr>
            <p:sp>
              <p:nvSpPr>
                <p:cNvPr id="250" name="Google Shape;250;p19"/>
                <p:cNvSpPr/>
                <p:nvPr/>
              </p:nvSpPr>
              <p:spPr>
                <a:xfrm>
                  <a:off x="2736" y="2832"/>
                  <a:ext cx="647" cy="5"/>
                </a:xfrm>
                <a:custGeom>
                  <a:rect b="b" l="l" r="r" t="t"/>
                  <a:pathLst>
                    <a:path extrusionOk="0" h="5" w="647">
                      <a:moveTo>
                        <a:pt x="0" y="0"/>
                      </a:moveTo>
                      <a:lnTo>
                        <a:pt x="646" y="0"/>
                      </a:lnTo>
                      <a:lnTo>
                        <a:pt x="604" y="4"/>
                      </a:lnTo>
                      <a:lnTo>
                        <a:pt x="40" y="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9"/>
                <p:cNvSpPr/>
                <p:nvPr/>
              </p:nvSpPr>
              <p:spPr>
                <a:xfrm>
                  <a:off x="2736" y="2832"/>
                  <a:ext cx="647" cy="927"/>
                </a:xfrm>
                <a:custGeom>
                  <a:rect b="b" l="l" r="r" t="t"/>
                  <a:pathLst>
                    <a:path extrusionOk="0" h="927" w="647">
                      <a:moveTo>
                        <a:pt x="0" y="0"/>
                      </a:moveTo>
                      <a:lnTo>
                        <a:pt x="43" y="11"/>
                      </a:lnTo>
                      <a:lnTo>
                        <a:pt x="602" y="11"/>
                      </a:lnTo>
                      <a:lnTo>
                        <a:pt x="646" y="0"/>
                      </a:lnTo>
                      <a:lnTo>
                        <a:pt x="646" y="854"/>
                      </a:lnTo>
                      <a:lnTo>
                        <a:pt x="641" y="872"/>
                      </a:lnTo>
                      <a:lnTo>
                        <a:pt x="633" y="890"/>
                      </a:lnTo>
                      <a:lnTo>
                        <a:pt x="624" y="905"/>
                      </a:lnTo>
                      <a:lnTo>
                        <a:pt x="611" y="915"/>
                      </a:lnTo>
                      <a:lnTo>
                        <a:pt x="598" y="922"/>
                      </a:lnTo>
                      <a:lnTo>
                        <a:pt x="580" y="926"/>
                      </a:lnTo>
                      <a:lnTo>
                        <a:pt x="65" y="926"/>
                      </a:lnTo>
                      <a:lnTo>
                        <a:pt x="42" y="923"/>
                      </a:lnTo>
                      <a:lnTo>
                        <a:pt x="27" y="914"/>
                      </a:lnTo>
                      <a:lnTo>
                        <a:pt x="16" y="901"/>
                      </a:lnTo>
                      <a:lnTo>
                        <a:pt x="7" y="889"/>
                      </a:lnTo>
                      <a:lnTo>
                        <a:pt x="2" y="872"/>
                      </a:lnTo>
                      <a:lnTo>
                        <a:pt x="0" y="8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B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" name="Google Shape;252;p19"/>
              <p:cNvGrpSpPr/>
              <p:nvPr/>
            </p:nvGrpSpPr>
            <p:grpSpPr>
              <a:xfrm>
                <a:off x="2777" y="2843"/>
                <a:ext cx="565" cy="872"/>
                <a:chOff x="2777" y="2843"/>
                <a:chExt cx="565" cy="872"/>
              </a:xfrm>
            </p:grpSpPr>
            <p:grpSp>
              <p:nvGrpSpPr>
                <p:cNvPr id="253" name="Google Shape;253;p19"/>
                <p:cNvGrpSpPr/>
                <p:nvPr/>
              </p:nvGrpSpPr>
              <p:grpSpPr>
                <a:xfrm>
                  <a:off x="2777" y="2843"/>
                  <a:ext cx="565" cy="872"/>
                  <a:chOff x="2777" y="2843"/>
                  <a:chExt cx="565" cy="872"/>
                </a:xfrm>
              </p:grpSpPr>
              <p:grpSp>
                <p:nvGrpSpPr>
                  <p:cNvPr id="254" name="Google Shape;254;p19"/>
                  <p:cNvGrpSpPr/>
                  <p:nvPr/>
                </p:nvGrpSpPr>
                <p:grpSpPr>
                  <a:xfrm>
                    <a:off x="2777" y="2843"/>
                    <a:ext cx="565" cy="872"/>
                    <a:chOff x="2777" y="2843"/>
                    <a:chExt cx="565" cy="872"/>
                  </a:xfrm>
                </p:grpSpPr>
                <p:sp>
                  <p:nvSpPr>
                    <p:cNvPr id="255" name="Google Shape;255;p19"/>
                    <p:cNvSpPr/>
                    <p:nvPr/>
                  </p:nvSpPr>
                  <p:spPr>
                    <a:xfrm>
                      <a:off x="2777" y="2844"/>
                      <a:ext cx="564" cy="864"/>
                    </a:xfrm>
                    <a:custGeom>
                      <a:rect b="b" l="l" r="r" t="t"/>
                      <a:pathLst>
                        <a:path extrusionOk="0" h="864" w="564">
                          <a:moveTo>
                            <a:pt x="0" y="0"/>
                          </a:moveTo>
                          <a:lnTo>
                            <a:pt x="563" y="0"/>
                          </a:lnTo>
                          <a:lnTo>
                            <a:pt x="558" y="801"/>
                          </a:lnTo>
                          <a:lnTo>
                            <a:pt x="554" y="817"/>
                          </a:lnTo>
                          <a:lnTo>
                            <a:pt x="547" y="832"/>
                          </a:lnTo>
                          <a:lnTo>
                            <a:pt x="539" y="845"/>
                          </a:lnTo>
                          <a:lnTo>
                            <a:pt x="528" y="854"/>
                          </a:lnTo>
                          <a:lnTo>
                            <a:pt x="516" y="860"/>
                          </a:lnTo>
                          <a:lnTo>
                            <a:pt x="500" y="863"/>
                          </a:lnTo>
                          <a:lnTo>
                            <a:pt x="57" y="863"/>
                          </a:lnTo>
                          <a:lnTo>
                            <a:pt x="37" y="863"/>
                          </a:lnTo>
                          <a:lnTo>
                            <a:pt x="25" y="856"/>
                          </a:lnTo>
                          <a:lnTo>
                            <a:pt x="15" y="848"/>
                          </a:lnTo>
                          <a:lnTo>
                            <a:pt x="7" y="833"/>
                          </a:lnTo>
                          <a:lnTo>
                            <a:pt x="2" y="816"/>
                          </a:lnTo>
                          <a:lnTo>
                            <a:pt x="0" y="801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EAEC5E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6" name="Google Shape;256;p19"/>
                    <p:cNvSpPr/>
                    <p:nvPr/>
                  </p:nvSpPr>
                  <p:spPr>
                    <a:xfrm>
                      <a:off x="2783" y="2843"/>
                      <a:ext cx="559" cy="872"/>
                    </a:xfrm>
                    <a:custGeom>
                      <a:rect b="b" l="l" r="r" t="t"/>
                      <a:pathLst>
                        <a:path extrusionOk="0" h="872" w="559">
                          <a:moveTo>
                            <a:pt x="0" y="10"/>
                          </a:moveTo>
                          <a:lnTo>
                            <a:pt x="551" y="6"/>
                          </a:lnTo>
                          <a:lnTo>
                            <a:pt x="558" y="0"/>
                          </a:lnTo>
                          <a:lnTo>
                            <a:pt x="558" y="809"/>
                          </a:lnTo>
                          <a:lnTo>
                            <a:pt x="555" y="825"/>
                          </a:lnTo>
                          <a:lnTo>
                            <a:pt x="547" y="840"/>
                          </a:lnTo>
                          <a:lnTo>
                            <a:pt x="540" y="853"/>
                          </a:lnTo>
                          <a:lnTo>
                            <a:pt x="528" y="862"/>
                          </a:lnTo>
                          <a:lnTo>
                            <a:pt x="517" y="868"/>
                          </a:lnTo>
                          <a:lnTo>
                            <a:pt x="501" y="871"/>
                          </a:lnTo>
                          <a:lnTo>
                            <a:pt x="57" y="871"/>
                          </a:lnTo>
                          <a:lnTo>
                            <a:pt x="37" y="868"/>
                          </a:lnTo>
                          <a:lnTo>
                            <a:pt x="25" y="864"/>
                          </a:lnTo>
                          <a:lnTo>
                            <a:pt x="15" y="856"/>
                          </a:lnTo>
                          <a:lnTo>
                            <a:pt x="7" y="841"/>
                          </a:lnTo>
                          <a:lnTo>
                            <a:pt x="3" y="824"/>
                          </a:lnTo>
                          <a:lnTo>
                            <a:pt x="0" y="809"/>
                          </a:lnTo>
                          <a:lnTo>
                            <a:pt x="0" y="10"/>
                          </a:lnTo>
                        </a:path>
                      </a:pathLst>
                    </a:custGeom>
                    <a:solidFill>
                      <a:srgbClr val="BFBF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57" name="Google Shape;257;p19"/>
                    <p:cNvSpPr/>
                    <p:nvPr/>
                  </p:nvSpPr>
                  <p:spPr>
                    <a:xfrm>
                      <a:off x="2780" y="2846"/>
                      <a:ext cx="559" cy="865"/>
                    </a:xfrm>
                    <a:custGeom>
                      <a:rect b="b" l="l" r="r" t="t"/>
                      <a:pathLst>
                        <a:path extrusionOk="0" h="865" w="559">
                          <a:moveTo>
                            <a:pt x="0" y="0"/>
                          </a:moveTo>
                          <a:lnTo>
                            <a:pt x="558" y="0"/>
                          </a:lnTo>
                          <a:lnTo>
                            <a:pt x="558" y="802"/>
                          </a:lnTo>
                          <a:lnTo>
                            <a:pt x="555" y="818"/>
                          </a:lnTo>
                          <a:lnTo>
                            <a:pt x="548" y="832"/>
                          </a:lnTo>
                          <a:lnTo>
                            <a:pt x="540" y="845"/>
                          </a:lnTo>
                          <a:lnTo>
                            <a:pt x="528" y="854"/>
                          </a:lnTo>
                          <a:lnTo>
                            <a:pt x="517" y="861"/>
                          </a:lnTo>
                          <a:lnTo>
                            <a:pt x="501" y="864"/>
                          </a:lnTo>
                          <a:lnTo>
                            <a:pt x="58" y="864"/>
                          </a:lnTo>
                          <a:lnTo>
                            <a:pt x="37" y="861"/>
                          </a:lnTo>
                          <a:lnTo>
                            <a:pt x="26" y="856"/>
                          </a:lnTo>
                          <a:lnTo>
                            <a:pt x="16" y="848"/>
                          </a:lnTo>
                          <a:lnTo>
                            <a:pt x="8" y="834"/>
                          </a:lnTo>
                          <a:lnTo>
                            <a:pt x="3" y="816"/>
                          </a:lnTo>
                          <a:lnTo>
                            <a:pt x="0" y="802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FFFF9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58" name="Google Shape;258;p19"/>
                  <p:cNvGrpSpPr/>
                  <p:nvPr/>
                </p:nvGrpSpPr>
                <p:grpSpPr>
                  <a:xfrm>
                    <a:off x="2801" y="2899"/>
                    <a:ext cx="519" cy="162"/>
                    <a:chOff x="2801" y="2899"/>
                    <a:chExt cx="519" cy="162"/>
                  </a:xfrm>
                </p:grpSpPr>
                <p:grpSp>
                  <p:nvGrpSpPr>
                    <p:cNvPr id="259" name="Google Shape;259;p19"/>
                    <p:cNvGrpSpPr/>
                    <p:nvPr/>
                  </p:nvGrpSpPr>
                  <p:grpSpPr>
                    <a:xfrm>
                      <a:off x="2801" y="2899"/>
                      <a:ext cx="519" cy="162"/>
                      <a:chOff x="2801" y="2899"/>
                      <a:chExt cx="519" cy="162"/>
                    </a:xfrm>
                  </p:grpSpPr>
                  <p:grpSp>
                    <p:nvGrpSpPr>
                      <p:cNvPr id="260" name="Google Shape;260;p19"/>
                      <p:cNvGrpSpPr/>
                      <p:nvPr/>
                    </p:nvGrpSpPr>
                    <p:grpSpPr>
                      <a:xfrm>
                        <a:off x="2801" y="3017"/>
                        <a:ext cx="517" cy="44"/>
                        <a:chOff x="2801" y="3017"/>
                        <a:chExt cx="517" cy="44"/>
                      </a:xfrm>
                    </p:grpSpPr>
                    <p:grpSp>
                      <p:nvGrpSpPr>
                        <p:cNvPr id="261" name="Google Shape;261;p19"/>
                        <p:cNvGrpSpPr/>
                        <p:nvPr/>
                      </p:nvGrpSpPr>
                      <p:grpSpPr>
                        <a:xfrm>
                          <a:off x="2801" y="3017"/>
                          <a:ext cx="517" cy="44"/>
                          <a:chOff x="2801" y="3017"/>
                          <a:chExt cx="517" cy="44"/>
                        </a:xfrm>
                      </p:grpSpPr>
                      <p:sp>
                        <p:nvSpPr>
                          <p:cNvPr id="262" name="Google Shape;262;p19"/>
                          <p:cNvSpPr/>
                          <p:nvPr/>
                        </p:nvSpPr>
                        <p:spPr>
                          <a:xfrm>
                            <a:off x="2801" y="3017"/>
                            <a:ext cx="517" cy="44"/>
                          </a:xfrm>
                          <a:prstGeom prst="roundRect">
                            <a:avLst>
                              <a:gd fmla="val 21051" name="adj"/>
                            </a:avLst>
                          </a:prstGeom>
                          <a:solidFill>
                            <a:srgbClr val="80000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Noto Sans Symbols"/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263" name="Google Shape;263;p19"/>
                          <p:cNvSpPr/>
                          <p:nvPr/>
                        </p:nvSpPr>
                        <p:spPr>
                          <a:xfrm>
                            <a:off x="3002" y="3017"/>
                            <a:ext cx="316" cy="44"/>
                          </a:xfrm>
                          <a:prstGeom prst="roundRect">
                            <a:avLst>
                              <a:gd fmla="val 15269" name="adj"/>
                            </a:avLst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Noto Sans Symbols"/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264" name="Google Shape;264;p19"/>
                          <p:cNvSpPr/>
                          <p:nvPr/>
                        </p:nvSpPr>
                        <p:spPr>
                          <a:xfrm>
                            <a:off x="2997" y="3027"/>
                            <a:ext cx="13" cy="34"/>
                          </a:xfrm>
                          <a:prstGeom prst="rect">
                            <a:avLst/>
                          </a:prstGeom>
                          <a:solidFill>
                            <a:srgbClr val="80000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Noto Sans Symbols"/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</p:grpSp>
                    <p:sp>
                      <p:nvSpPr>
                        <p:cNvPr id="265" name="Google Shape;265;p19"/>
                        <p:cNvSpPr/>
                        <p:nvPr/>
                      </p:nvSpPr>
                      <p:spPr>
                        <a:xfrm>
                          <a:off x="2819" y="3035"/>
                          <a:ext cx="172" cy="16"/>
                        </a:xfrm>
                        <a:prstGeom prst="rect">
                          <a:avLst/>
                        </a:prstGeom>
                        <a:solidFill>
                          <a:srgbClr val="C0C0C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Noto Sans Symbols"/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  <p:grpSp>
                    <p:nvGrpSpPr>
                      <p:cNvPr id="266" name="Google Shape;266;p19"/>
                      <p:cNvGrpSpPr/>
                      <p:nvPr/>
                    </p:nvGrpSpPr>
                    <p:grpSpPr>
                      <a:xfrm>
                        <a:off x="2801" y="2899"/>
                        <a:ext cx="519" cy="122"/>
                        <a:chOff x="2801" y="2899"/>
                        <a:chExt cx="519" cy="122"/>
                      </a:xfrm>
                    </p:grpSpPr>
                    <p:grpSp>
                      <p:nvGrpSpPr>
                        <p:cNvPr id="267" name="Google Shape;267;p19"/>
                        <p:cNvGrpSpPr/>
                        <p:nvPr/>
                      </p:nvGrpSpPr>
                      <p:grpSpPr>
                        <a:xfrm>
                          <a:off x="2801" y="2899"/>
                          <a:ext cx="519" cy="122"/>
                          <a:chOff x="2801" y="2899"/>
                          <a:chExt cx="519" cy="122"/>
                        </a:xfrm>
                      </p:grpSpPr>
                      <p:sp>
                        <p:nvSpPr>
                          <p:cNvPr id="268" name="Google Shape;268;p19"/>
                          <p:cNvSpPr/>
                          <p:nvPr/>
                        </p:nvSpPr>
                        <p:spPr>
                          <a:xfrm>
                            <a:off x="2801" y="3003"/>
                            <a:ext cx="519" cy="17"/>
                          </a:xfrm>
                          <a:custGeom>
                            <a:rect b="b" l="l" r="r" t="t"/>
                            <a:pathLst>
                              <a:path extrusionOk="0" h="17" w="519">
                                <a:moveTo>
                                  <a:pt x="0" y="16"/>
                                </a:moveTo>
                                <a:lnTo>
                                  <a:pt x="24" y="0"/>
                                </a:lnTo>
                                <a:lnTo>
                                  <a:pt x="491" y="0"/>
                                </a:lnTo>
                                <a:lnTo>
                                  <a:pt x="518" y="16"/>
                                </a:lnTo>
                                <a:lnTo>
                                  <a:pt x="0" y="16"/>
                                </a:lnTo>
                              </a:path>
                            </a:pathLst>
                          </a:custGeom>
                          <a:solidFill>
                            <a:srgbClr val="FFFF9F"/>
                          </a:solid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269" name="Google Shape;269;p19"/>
                          <p:cNvSpPr/>
                          <p:nvPr/>
                        </p:nvSpPr>
                        <p:spPr>
                          <a:xfrm>
                            <a:off x="3296" y="2899"/>
                            <a:ext cx="24" cy="122"/>
                          </a:xfrm>
                          <a:custGeom>
                            <a:rect b="b" l="l" r="r" t="t"/>
                            <a:pathLst>
                              <a:path extrusionOk="0" h="122" w="24">
                                <a:moveTo>
                                  <a:pt x="0" y="95"/>
                                </a:moveTo>
                                <a:lnTo>
                                  <a:pt x="23" y="121"/>
                                </a:lnTo>
                                <a:lnTo>
                                  <a:pt x="23" y="0"/>
                                </a:lnTo>
                                <a:lnTo>
                                  <a:pt x="0" y="25"/>
                                </a:lnTo>
                                <a:lnTo>
                                  <a:pt x="0" y="95"/>
                                </a:lnTo>
                              </a:path>
                            </a:pathLst>
                          </a:custGeom>
                          <a:solidFill>
                            <a:srgbClr val="FFFFDF"/>
                          </a:solid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270" name="Google Shape;270;p19"/>
                          <p:cNvSpPr/>
                          <p:nvPr/>
                        </p:nvSpPr>
                        <p:spPr>
                          <a:xfrm>
                            <a:off x="2801" y="2899"/>
                            <a:ext cx="519" cy="20"/>
                          </a:xfrm>
                          <a:custGeom>
                            <a:rect b="b" l="l" r="r" t="t"/>
                            <a:pathLst>
                              <a:path extrusionOk="0" h="20" w="519">
                                <a:moveTo>
                                  <a:pt x="0" y="0"/>
                                </a:moveTo>
                                <a:lnTo>
                                  <a:pt x="30" y="19"/>
                                </a:lnTo>
                                <a:lnTo>
                                  <a:pt x="491" y="18"/>
                                </a:lnTo>
                                <a:lnTo>
                                  <a:pt x="518" y="0"/>
                                </a:lnTo>
                                <a:lnTo>
                                  <a:pt x="0" y="0"/>
                                </a:lnTo>
                              </a:path>
                            </a:pathLst>
                          </a:custGeom>
                          <a:solidFill>
                            <a:srgbClr val="F3F376"/>
                          </a:solid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sp>
                        <p:nvSpPr>
                          <p:cNvPr id="271" name="Google Shape;271;p19"/>
                          <p:cNvSpPr/>
                          <p:nvPr/>
                        </p:nvSpPr>
                        <p:spPr>
                          <a:xfrm>
                            <a:off x="2801" y="2899"/>
                            <a:ext cx="24" cy="121"/>
                          </a:xfrm>
                          <a:custGeom>
                            <a:rect b="b" l="l" r="r" t="t"/>
                            <a:pathLst>
                              <a:path extrusionOk="0" h="121" w="24">
                                <a:moveTo>
                                  <a:pt x="23" y="94"/>
                                </a:moveTo>
                                <a:lnTo>
                                  <a:pt x="0" y="120"/>
                                </a:lnTo>
                                <a:lnTo>
                                  <a:pt x="0" y="0"/>
                                </a:lnTo>
                                <a:lnTo>
                                  <a:pt x="23" y="26"/>
                                </a:lnTo>
                                <a:lnTo>
                                  <a:pt x="23" y="94"/>
                                </a:lnTo>
                              </a:path>
                            </a:pathLst>
                          </a:custGeom>
                          <a:solidFill>
                            <a:srgbClr val="BFBF0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endParaRPr>
                          </a:p>
                        </p:txBody>
                      </p:sp>
                      <p:grpSp>
                        <p:nvGrpSpPr>
                          <p:cNvPr id="272" name="Google Shape;272;p19"/>
                          <p:cNvGrpSpPr/>
                          <p:nvPr/>
                        </p:nvGrpSpPr>
                        <p:grpSpPr>
                          <a:xfrm>
                            <a:off x="2825" y="2920"/>
                            <a:ext cx="468" cy="77"/>
                            <a:chOff x="2825" y="2920"/>
                            <a:chExt cx="468" cy="77"/>
                          </a:xfrm>
                        </p:grpSpPr>
                        <p:sp>
                          <p:nvSpPr>
                            <p:cNvPr id="273" name="Google Shape;273;p19"/>
                            <p:cNvSpPr/>
                            <p:nvPr/>
                          </p:nvSpPr>
                          <p:spPr>
                            <a:xfrm>
                              <a:off x="2825" y="2923"/>
                              <a:ext cx="467" cy="74"/>
                            </a:xfrm>
                            <a:prstGeom prst="roundRect">
                              <a:avLst>
                                <a:gd fmla="val 13329" name="adj"/>
                              </a:avLst>
                            </a:pr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l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00"/>
                                <a:buFont typeface="Noto Sans Symbols"/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274" name="Google Shape;274;p19"/>
                            <p:cNvSpPr/>
                            <p:nvPr/>
                          </p:nvSpPr>
                          <p:spPr>
                            <a:xfrm>
                              <a:off x="2827" y="2920"/>
                              <a:ext cx="466" cy="75"/>
                            </a:xfrm>
                            <a:prstGeom prst="roundRect">
                              <a:avLst>
                                <a:gd fmla="val 13139" name="adj"/>
                              </a:avLst>
                            </a:prstGeom>
                            <a:solidFill>
                              <a:srgbClr val="EAEC5E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l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00"/>
                                <a:buFont typeface="Noto Sans Symbols"/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  <p:sp>
                          <p:nvSpPr>
                            <p:cNvPr id="275" name="Google Shape;275;p19"/>
                            <p:cNvSpPr/>
                            <p:nvPr/>
                          </p:nvSpPr>
                          <p:spPr>
                            <a:xfrm>
                              <a:off x="2827" y="2922"/>
                              <a:ext cx="466" cy="74"/>
                            </a:xfrm>
                            <a:prstGeom prst="roundRect">
                              <a:avLst>
                                <a:gd fmla="val 13329" name="adj"/>
                              </a:avLst>
                            </a:prstGeom>
                            <a:solidFill>
                              <a:srgbClr val="C0C0C0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l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00"/>
                                <a:buFont typeface="Noto Sans Symbols"/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276" name="Google Shape;276;p19"/>
                        <p:cNvSpPr/>
                        <p:nvPr/>
                      </p:nvSpPr>
                      <p:spPr>
                        <a:xfrm>
                          <a:off x="2843" y="2927"/>
                          <a:ext cx="430" cy="63"/>
                        </a:xfrm>
                        <a:prstGeom prst="roundRect">
                          <a:avLst>
                            <a:gd fmla="val 15380" name="adj"/>
                          </a:avLst>
                        </a:prstGeom>
                        <a:solidFill>
                          <a:srgbClr val="3F3F3F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Noto Sans Symbols"/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sp>
                      <p:nvSpPr>
                        <p:cNvPr id="277" name="Google Shape;277;p19"/>
                        <p:cNvSpPr/>
                        <p:nvPr/>
                      </p:nvSpPr>
                      <p:spPr>
                        <a:xfrm>
                          <a:off x="2847" y="2927"/>
                          <a:ext cx="426" cy="60"/>
                        </a:xfrm>
                        <a:prstGeom prst="roundRect">
                          <a:avLst>
                            <a:gd fmla="val 16060" name="adj"/>
                          </a:avLst>
                        </a:prstGeom>
                        <a:solidFill>
                          <a:srgbClr val="80808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Noto Sans Symbols"/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278" name="Google Shape;278;p19"/>
                    <p:cNvSpPr/>
                    <p:nvPr/>
                  </p:nvSpPr>
                  <p:spPr>
                    <a:xfrm>
                      <a:off x="3278" y="3034"/>
                      <a:ext cx="24" cy="17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79" name="Google Shape;279;p19"/>
                    <p:cNvSpPr/>
                    <p:nvPr/>
                  </p:nvSpPr>
                  <p:spPr>
                    <a:xfrm>
                      <a:off x="3284" y="3039"/>
                      <a:ext cx="13" cy="7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0" name="Google Shape;280;p19"/>
                    <p:cNvSpPr/>
                    <p:nvPr/>
                  </p:nvSpPr>
                  <p:spPr>
                    <a:xfrm>
                      <a:off x="3206" y="3038"/>
                      <a:ext cx="56" cy="4"/>
                    </a:xfrm>
                    <a:prstGeom prst="rect">
                      <a:avLst/>
                    </a:prstGeom>
                    <a:solidFill>
                      <a:srgbClr val="EAEC5E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281" name="Google Shape;281;p19"/>
                <p:cNvGrpSpPr/>
                <p:nvPr/>
              </p:nvGrpSpPr>
              <p:grpSpPr>
                <a:xfrm>
                  <a:off x="3099" y="3084"/>
                  <a:ext cx="217" cy="62"/>
                  <a:chOff x="3099" y="3084"/>
                  <a:chExt cx="217" cy="62"/>
                </a:xfrm>
              </p:grpSpPr>
              <p:sp>
                <p:nvSpPr>
                  <p:cNvPr id="282" name="Google Shape;282;p19"/>
                  <p:cNvSpPr/>
                  <p:nvPr/>
                </p:nvSpPr>
                <p:spPr>
                  <a:xfrm>
                    <a:off x="3099" y="3086"/>
                    <a:ext cx="215" cy="60"/>
                  </a:xfrm>
                  <a:prstGeom prst="roundRect">
                    <a:avLst>
                      <a:gd fmla="val 20486" name="adj"/>
                    </a:avLst>
                  </a:prstGeom>
                  <a:solidFill>
                    <a:srgbClr val="808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3" name="Google Shape;283;p19"/>
                  <p:cNvSpPr/>
                  <p:nvPr/>
                </p:nvSpPr>
                <p:spPr>
                  <a:xfrm>
                    <a:off x="3101" y="3084"/>
                    <a:ext cx="215" cy="60"/>
                  </a:xfrm>
                  <a:prstGeom prst="roundRect">
                    <a:avLst>
                      <a:gd fmla="val 20486" name="adj"/>
                    </a:avLst>
                  </a:prstGeom>
                  <a:solidFill>
                    <a:srgbClr val="BFBF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4" name="Google Shape;284;p19"/>
                  <p:cNvSpPr/>
                  <p:nvPr/>
                </p:nvSpPr>
                <p:spPr>
                  <a:xfrm>
                    <a:off x="3115" y="3091"/>
                    <a:ext cx="185" cy="46"/>
                  </a:xfrm>
                  <a:prstGeom prst="roundRect">
                    <a:avLst>
                      <a:gd fmla="val 25838" name="adj"/>
                    </a:avLst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85" name="Google Shape;285;p19"/>
                  <p:cNvGrpSpPr/>
                  <p:nvPr/>
                </p:nvGrpSpPr>
                <p:grpSpPr>
                  <a:xfrm>
                    <a:off x="3152" y="3091"/>
                    <a:ext cx="5" cy="46"/>
                    <a:chOff x="3152" y="3091"/>
                    <a:chExt cx="5" cy="46"/>
                  </a:xfrm>
                </p:grpSpPr>
                <p:sp>
                  <p:nvSpPr>
                    <p:cNvPr id="286" name="Google Shape;286;p19"/>
                    <p:cNvSpPr/>
                    <p:nvPr/>
                  </p:nvSpPr>
                  <p:spPr>
                    <a:xfrm>
                      <a:off x="3154" y="3091"/>
                      <a:ext cx="3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87" name="Google Shape;287;p19"/>
                    <p:cNvSpPr/>
                    <p:nvPr/>
                  </p:nvSpPr>
                  <p:spPr>
                    <a:xfrm>
                      <a:off x="3152" y="3091"/>
                      <a:ext cx="4" cy="46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88" name="Google Shape;288;p19"/>
                  <p:cNvGrpSpPr/>
                  <p:nvPr/>
                </p:nvGrpSpPr>
                <p:grpSpPr>
                  <a:xfrm>
                    <a:off x="3203" y="3091"/>
                    <a:ext cx="5" cy="46"/>
                    <a:chOff x="3203" y="3091"/>
                    <a:chExt cx="5" cy="46"/>
                  </a:xfrm>
                </p:grpSpPr>
                <p:sp>
                  <p:nvSpPr>
                    <p:cNvPr id="289" name="Google Shape;289;p19"/>
                    <p:cNvSpPr/>
                    <p:nvPr/>
                  </p:nvSpPr>
                  <p:spPr>
                    <a:xfrm>
                      <a:off x="3204" y="3091"/>
                      <a:ext cx="4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0" name="Google Shape;290;p19"/>
                    <p:cNvSpPr/>
                    <p:nvPr/>
                  </p:nvSpPr>
                  <p:spPr>
                    <a:xfrm>
                      <a:off x="3203" y="3091"/>
                      <a:ext cx="3" cy="46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91" name="Google Shape;291;p19"/>
                  <p:cNvGrpSpPr/>
                  <p:nvPr/>
                </p:nvGrpSpPr>
                <p:grpSpPr>
                  <a:xfrm>
                    <a:off x="3256" y="3091"/>
                    <a:ext cx="4" cy="46"/>
                    <a:chOff x="3256" y="3091"/>
                    <a:chExt cx="4" cy="46"/>
                  </a:xfrm>
                </p:grpSpPr>
                <p:sp>
                  <p:nvSpPr>
                    <p:cNvPr id="292" name="Google Shape;292;p19"/>
                    <p:cNvSpPr/>
                    <p:nvPr/>
                  </p:nvSpPr>
                  <p:spPr>
                    <a:xfrm>
                      <a:off x="3257" y="3091"/>
                      <a:ext cx="3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93" name="Google Shape;293;p19"/>
                    <p:cNvSpPr/>
                    <p:nvPr/>
                  </p:nvSpPr>
                  <p:spPr>
                    <a:xfrm>
                      <a:off x="3256" y="3091"/>
                      <a:ext cx="4" cy="46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94" name="Google Shape;294;p19"/>
              <p:cNvGrpSpPr/>
              <p:nvPr/>
            </p:nvGrpSpPr>
            <p:grpSpPr>
              <a:xfrm>
                <a:off x="2800" y="3216"/>
                <a:ext cx="512" cy="411"/>
                <a:chOff x="2800" y="3216"/>
                <a:chExt cx="512" cy="411"/>
              </a:xfrm>
            </p:grpSpPr>
            <p:grpSp>
              <p:nvGrpSpPr>
                <p:cNvPr id="295" name="Google Shape;295;p19"/>
                <p:cNvGrpSpPr/>
                <p:nvPr/>
              </p:nvGrpSpPr>
              <p:grpSpPr>
                <a:xfrm>
                  <a:off x="2800" y="3217"/>
                  <a:ext cx="508" cy="405"/>
                  <a:chOff x="2800" y="3217"/>
                  <a:chExt cx="508" cy="405"/>
                </a:xfrm>
              </p:grpSpPr>
              <p:sp>
                <p:nvSpPr>
                  <p:cNvPr id="296" name="Google Shape;296;p19"/>
                  <p:cNvSpPr/>
                  <p:nvPr/>
                </p:nvSpPr>
                <p:spPr>
                  <a:xfrm>
                    <a:off x="3239" y="3217"/>
                    <a:ext cx="69" cy="46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7" name="Google Shape;297;p19"/>
                  <p:cNvSpPr/>
                  <p:nvPr/>
                </p:nvSpPr>
                <p:spPr>
                  <a:xfrm>
                    <a:off x="3128" y="3217"/>
                    <a:ext cx="70" cy="46"/>
                  </a:xfrm>
                  <a:prstGeom prst="rect">
                    <a:avLst/>
                  </a:prstGeom>
                  <a:solidFill>
                    <a:srgbClr val="0000FF"/>
                  </a:solidFill>
                  <a:ln cap="flat" cmpd="sng" w="12700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8" name="Google Shape;298;p19"/>
                  <p:cNvSpPr/>
                  <p:nvPr/>
                </p:nvSpPr>
                <p:spPr>
                  <a:xfrm>
                    <a:off x="3019" y="3217"/>
                    <a:ext cx="70" cy="46"/>
                  </a:xfrm>
                  <a:prstGeom prst="rect">
                    <a:avLst/>
                  </a:prstGeom>
                  <a:solidFill>
                    <a:srgbClr val="0000FF"/>
                  </a:solidFill>
                  <a:ln cap="flat" cmpd="sng" w="12700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9" name="Google Shape;299;p19"/>
                  <p:cNvSpPr/>
                  <p:nvPr/>
                </p:nvSpPr>
                <p:spPr>
                  <a:xfrm>
                    <a:off x="2910" y="3217"/>
                    <a:ext cx="69" cy="46"/>
                  </a:xfrm>
                  <a:prstGeom prst="rect">
                    <a:avLst/>
                  </a:prstGeom>
                  <a:solidFill>
                    <a:srgbClr val="0000FF"/>
                  </a:solidFill>
                  <a:ln cap="flat" cmpd="sng" w="12700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00" name="Google Shape;300;p19"/>
                  <p:cNvSpPr/>
                  <p:nvPr/>
                </p:nvSpPr>
                <p:spPr>
                  <a:xfrm>
                    <a:off x="2800" y="3217"/>
                    <a:ext cx="69" cy="46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01" name="Google Shape;301;p19"/>
                  <p:cNvGrpSpPr/>
                  <p:nvPr/>
                </p:nvGrpSpPr>
                <p:grpSpPr>
                  <a:xfrm>
                    <a:off x="2800" y="3306"/>
                    <a:ext cx="508" cy="47"/>
                    <a:chOff x="2800" y="3306"/>
                    <a:chExt cx="508" cy="47"/>
                  </a:xfrm>
                </p:grpSpPr>
                <p:sp>
                  <p:nvSpPr>
                    <p:cNvPr id="302" name="Google Shape;302;p19"/>
                    <p:cNvSpPr/>
                    <p:nvPr/>
                  </p:nvSpPr>
                  <p:spPr>
                    <a:xfrm>
                      <a:off x="3239" y="3306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3" name="Google Shape;303;p19"/>
                    <p:cNvSpPr/>
                    <p:nvPr/>
                  </p:nvSpPr>
                  <p:spPr>
                    <a:xfrm>
                      <a:off x="3128" y="3306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4" name="Google Shape;304;p19"/>
                    <p:cNvSpPr/>
                    <p:nvPr/>
                  </p:nvSpPr>
                  <p:spPr>
                    <a:xfrm>
                      <a:off x="3019" y="3306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5" name="Google Shape;305;p19"/>
                    <p:cNvSpPr/>
                    <p:nvPr/>
                  </p:nvSpPr>
                  <p:spPr>
                    <a:xfrm>
                      <a:off x="2910" y="3306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6" name="Google Shape;306;p19"/>
                    <p:cNvSpPr/>
                    <p:nvPr/>
                  </p:nvSpPr>
                  <p:spPr>
                    <a:xfrm>
                      <a:off x="2800" y="3306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07" name="Google Shape;307;p19"/>
                  <p:cNvGrpSpPr/>
                  <p:nvPr/>
                </p:nvGrpSpPr>
                <p:grpSpPr>
                  <a:xfrm>
                    <a:off x="2800" y="3395"/>
                    <a:ext cx="508" cy="47"/>
                    <a:chOff x="2800" y="3395"/>
                    <a:chExt cx="508" cy="47"/>
                  </a:xfrm>
                </p:grpSpPr>
                <p:sp>
                  <p:nvSpPr>
                    <p:cNvPr id="308" name="Google Shape;308;p19"/>
                    <p:cNvSpPr/>
                    <p:nvPr/>
                  </p:nvSpPr>
                  <p:spPr>
                    <a:xfrm>
                      <a:off x="3239" y="3395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09" name="Google Shape;309;p19"/>
                    <p:cNvSpPr/>
                    <p:nvPr/>
                  </p:nvSpPr>
                  <p:spPr>
                    <a:xfrm>
                      <a:off x="3128" y="3395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0" name="Google Shape;310;p19"/>
                    <p:cNvSpPr/>
                    <p:nvPr/>
                  </p:nvSpPr>
                  <p:spPr>
                    <a:xfrm>
                      <a:off x="3019" y="3395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1" name="Google Shape;311;p19"/>
                    <p:cNvSpPr/>
                    <p:nvPr/>
                  </p:nvSpPr>
                  <p:spPr>
                    <a:xfrm>
                      <a:off x="2910" y="3395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12" name="Google Shape;312;p19"/>
                    <p:cNvSpPr/>
                    <p:nvPr/>
                  </p:nvSpPr>
                  <p:spPr>
                    <a:xfrm>
                      <a:off x="2800" y="3395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13" name="Google Shape;313;p19"/>
                  <p:cNvSpPr/>
                  <p:nvPr/>
                </p:nvSpPr>
                <p:spPr>
                  <a:xfrm>
                    <a:off x="3239" y="3484"/>
                    <a:ext cx="69" cy="13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4" name="Google Shape;314;p19"/>
                  <p:cNvSpPr/>
                  <p:nvPr/>
                </p:nvSpPr>
                <p:spPr>
                  <a:xfrm>
                    <a:off x="3128" y="348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5" name="Google Shape;315;p19"/>
                  <p:cNvSpPr/>
                  <p:nvPr/>
                </p:nvSpPr>
                <p:spPr>
                  <a:xfrm>
                    <a:off x="3019" y="348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6" name="Google Shape;316;p19"/>
                  <p:cNvSpPr/>
                  <p:nvPr/>
                </p:nvSpPr>
                <p:spPr>
                  <a:xfrm>
                    <a:off x="2910" y="3484"/>
                    <a:ext cx="69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7" name="Google Shape;317;p19"/>
                  <p:cNvSpPr/>
                  <p:nvPr/>
                </p:nvSpPr>
                <p:spPr>
                  <a:xfrm>
                    <a:off x="2800" y="3484"/>
                    <a:ext cx="69" cy="48"/>
                  </a:xfrm>
                  <a:prstGeom prst="rect">
                    <a:avLst/>
                  </a:prstGeom>
                  <a:solidFill>
                    <a:srgbClr val="800000"/>
                  </a:solidFill>
                  <a:ln cap="flat" cmpd="sng" w="12700">
                    <a:solidFill>
                      <a:srgbClr val="8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" name="Google Shape;318;p19"/>
                  <p:cNvSpPr/>
                  <p:nvPr/>
                </p:nvSpPr>
                <p:spPr>
                  <a:xfrm>
                    <a:off x="3128" y="357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" name="Google Shape;319;p19"/>
                  <p:cNvSpPr/>
                  <p:nvPr/>
                </p:nvSpPr>
                <p:spPr>
                  <a:xfrm>
                    <a:off x="3019" y="357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" name="Google Shape;320;p19"/>
                  <p:cNvSpPr/>
                  <p:nvPr/>
                </p:nvSpPr>
                <p:spPr>
                  <a:xfrm>
                    <a:off x="2910" y="3574"/>
                    <a:ext cx="69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" name="Google Shape;321;p19"/>
                  <p:cNvSpPr/>
                  <p:nvPr/>
                </p:nvSpPr>
                <p:spPr>
                  <a:xfrm>
                    <a:off x="2800" y="3574"/>
                    <a:ext cx="69" cy="48"/>
                  </a:xfrm>
                  <a:prstGeom prst="rect">
                    <a:avLst/>
                  </a:prstGeom>
                  <a:solidFill>
                    <a:srgbClr val="800000"/>
                  </a:solidFill>
                  <a:ln cap="flat" cmpd="sng" w="12700">
                    <a:solidFill>
                      <a:srgbClr val="8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22" name="Google Shape;322;p19"/>
                <p:cNvGrpSpPr/>
                <p:nvPr/>
              </p:nvGrpSpPr>
              <p:grpSpPr>
                <a:xfrm>
                  <a:off x="2804" y="3221"/>
                  <a:ext cx="508" cy="406"/>
                  <a:chOff x="2804" y="3221"/>
                  <a:chExt cx="508" cy="406"/>
                </a:xfrm>
              </p:grpSpPr>
              <p:sp>
                <p:nvSpPr>
                  <p:cNvPr id="323" name="Google Shape;323;p19"/>
                  <p:cNvSpPr/>
                  <p:nvPr/>
                </p:nvSpPr>
                <p:spPr>
                  <a:xfrm>
                    <a:off x="3242" y="3221"/>
                    <a:ext cx="70" cy="47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4" name="Google Shape;324;p19"/>
                  <p:cNvSpPr/>
                  <p:nvPr/>
                </p:nvSpPr>
                <p:spPr>
                  <a:xfrm>
                    <a:off x="3132" y="3221"/>
                    <a:ext cx="70" cy="47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9FB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5" name="Google Shape;325;p19"/>
                  <p:cNvSpPr/>
                  <p:nvPr/>
                </p:nvSpPr>
                <p:spPr>
                  <a:xfrm>
                    <a:off x="3023" y="3221"/>
                    <a:ext cx="70" cy="47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9FB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6" name="Google Shape;326;p19"/>
                  <p:cNvSpPr/>
                  <p:nvPr/>
                </p:nvSpPr>
                <p:spPr>
                  <a:xfrm>
                    <a:off x="2914" y="3221"/>
                    <a:ext cx="69" cy="47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9FB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7" name="Google Shape;327;p19"/>
                  <p:cNvSpPr/>
                  <p:nvPr/>
                </p:nvSpPr>
                <p:spPr>
                  <a:xfrm>
                    <a:off x="2804" y="3221"/>
                    <a:ext cx="69" cy="47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28" name="Google Shape;328;p19"/>
                  <p:cNvGrpSpPr/>
                  <p:nvPr/>
                </p:nvGrpSpPr>
                <p:grpSpPr>
                  <a:xfrm>
                    <a:off x="2804" y="3311"/>
                    <a:ext cx="508" cy="46"/>
                    <a:chOff x="2804" y="3311"/>
                    <a:chExt cx="508" cy="46"/>
                  </a:xfrm>
                </p:grpSpPr>
                <p:sp>
                  <p:nvSpPr>
                    <p:cNvPr id="329" name="Google Shape;329;p19"/>
                    <p:cNvSpPr/>
                    <p:nvPr/>
                  </p:nvSpPr>
                  <p:spPr>
                    <a:xfrm>
                      <a:off x="3242" y="331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0" name="Google Shape;330;p19"/>
                    <p:cNvSpPr/>
                    <p:nvPr/>
                  </p:nvSpPr>
                  <p:spPr>
                    <a:xfrm>
                      <a:off x="3132" y="331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1" name="Google Shape;331;p19"/>
                    <p:cNvSpPr/>
                    <p:nvPr/>
                  </p:nvSpPr>
                  <p:spPr>
                    <a:xfrm>
                      <a:off x="3023" y="331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2" name="Google Shape;332;p19"/>
                    <p:cNvSpPr/>
                    <p:nvPr/>
                  </p:nvSpPr>
                  <p:spPr>
                    <a:xfrm>
                      <a:off x="2914" y="331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3" name="Google Shape;333;p19"/>
                    <p:cNvSpPr/>
                    <p:nvPr/>
                  </p:nvSpPr>
                  <p:spPr>
                    <a:xfrm>
                      <a:off x="2804" y="331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34" name="Google Shape;334;p19"/>
                  <p:cNvGrpSpPr/>
                  <p:nvPr/>
                </p:nvGrpSpPr>
                <p:grpSpPr>
                  <a:xfrm>
                    <a:off x="2804" y="3401"/>
                    <a:ext cx="508" cy="46"/>
                    <a:chOff x="2804" y="3401"/>
                    <a:chExt cx="508" cy="46"/>
                  </a:xfrm>
                </p:grpSpPr>
                <p:sp>
                  <p:nvSpPr>
                    <p:cNvPr id="335" name="Google Shape;335;p19"/>
                    <p:cNvSpPr/>
                    <p:nvPr/>
                  </p:nvSpPr>
                  <p:spPr>
                    <a:xfrm>
                      <a:off x="3242" y="340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6" name="Google Shape;336;p19"/>
                    <p:cNvSpPr/>
                    <p:nvPr/>
                  </p:nvSpPr>
                  <p:spPr>
                    <a:xfrm>
                      <a:off x="3132" y="340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7" name="Google Shape;337;p19"/>
                    <p:cNvSpPr/>
                    <p:nvPr/>
                  </p:nvSpPr>
                  <p:spPr>
                    <a:xfrm>
                      <a:off x="3023" y="340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8" name="Google Shape;338;p19"/>
                    <p:cNvSpPr/>
                    <p:nvPr/>
                  </p:nvSpPr>
                  <p:spPr>
                    <a:xfrm>
                      <a:off x="2914" y="340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9" name="Google Shape;339;p19"/>
                    <p:cNvSpPr/>
                    <p:nvPr/>
                  </p:nvSpPr>
                  <p:spPr>
                    <a:xfrm>
                      <a:off x="2804" y="340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40" name="Google Shape;340;p19"/>
                  <p:cNvSpPr/>
                  <p:nvPr/>
                </p:nvSpPr>
                <p:spPr>
                  <a:xfrm>
                    <a:off x="3242" y="3489"/>
                    <a:ext cx="70" cy="13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9"/>
                  <p:cNvSpPr/>
                  <p:nvPr/>
                </p:nvSpPr>
                <p:spPr>
                  <a:xfrm>
                    <a:off x="3132" y="348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9"/>
                  <p:cNvSpPr/>
                  <p:nvPr/>
                </p:nvSpPr>
                <p:spPr>
                  <a:xfrm>
                    <a:off x="3023" y="348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3" name="Google Shape;343;p19"/>
                  <p:cNvSpPr/>
                  <p:nvPr/>
                </p:nvSpPr>
                <p:spPr>
                  <a:xfrm>
                    <a:off x="2914" y="3489"/>
                    <a:ext cx="69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4" name="Google Shape;344;p19"/>
                  <p:cNvSpPr/>
                  <p:nvPr/>
                </p:nvSpPr>
                <p:spPr>
                  <a:xfrm>
                    <a:off x="2804" y="3489"/>
                    <a:ext cx="69" cy="48"/>
                  </a:xfrm>
                  <a:prstGeom prst="rect">
                    <a:avLst/>
                  </a:prstGeom>
                  <a:solidFill>
                    <a:srgbClr val="FF5F7F"/>
                  </a:solidFill>
                  <a:ln cap="flat" cmpd="sng" w="12700">
                    <a:solidFill>
                      <a:srgbClr val="FF5F7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" name="Google Shape;345;p19"/>
                  <p:cNvSpPr/>
                  <p:nvPr/>
                </p:nvSpPr>
                <p:spPr>
                  <a:xfrm>
                    <a:off x="3132" y="357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" name="Google Shape;346;p19"/>
                  <p:cNvSpPr/>
                  <p:nvPr/>
                </p:nvSpPr>
                <p:spPr>
                  <a:xfrm>
                    <a:off x="3023" y="357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7" name="Google Shape;347;p19"/>
                  <p:cNvSpPr/>
                  <p:nvPr/>
                </p:nvSpPr>
                <p:spPr>
                  <a:xfrm>
                    <a:off x="2914" y="3579"/>
                    <a:ext cx="69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" name="Google Shape;348;p19"/>
                  <p:cNvSpPr/>
                  <p:nvPr/>
                </p:nvSpPr>
                <p:spPr>
                  <a:xfrm>
                    <a:off x="2804" y="3579"/>
                    <a:ext cx="69" cy="48"/>
                  </a:xfrm>
                  <a:prstGeom prst="rect">
                    <a:avLst/>
                  </a:prstGeom>
                  <a:solidFill>
                    <a:srgbClr val="FF5F7F"/>
                  </a:solidFill>
                  <a:ln cap="flat" cmpd="sng" w="12700">
                    <a:solidFill>
                      <a:srgbClr val="FF5F7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49" name="Google Shape;349;p19"/>
                <p:cNvGrpSpPr/>
                <p:nvPr/>
              </p:nvGrpSpPr>
              <p:grpSpPr>
                <a:xfrm>
                  <a:off x="2800" y="3221"/>
                  <a:ext cx="508" cy="406"/>
                  <a:chOff x="2800" y="3221"/>
                  <a:chExt cx="508" cy="406"/>
                </a:xfrm>
              </p:grpSpPr>
              <p:sp>
                <p:nvSpPr>
                  <p:cNvPr id="350" name="Google Shape;350;p19"/>
                  <p:cNvSpPr/>
                  <p:nvPr/>
                </p:nvSpPr>
                <p:spPr>
                  <a:xfrm>
                    <a:off x="3239" y="3221"/>
                    <a:ext cx="69" cy="47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9"/>
                  <p:cNvSpPr/>
                  <p:nvPr/>
                </p:nvSpPr>
                <p:spPr>
                  <a:xfrm>
                    <a:off x="3128" y="3221"/>
                    <a:ext cx="70" cy="47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9FB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9"/>
                  <p:cNvSpPr/>
                  <p:nvPr/>
                </p:nvSpPr>
                <p:spPr>
                  <a:xfrm>
                    <a:off x="3019" y="3221"/>
                    <a:ext cx="70" cy="47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9FB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19"/>
                  <p:cNvSpPr/>
                  <p:nvPr/>
                </p:nvSpPr>
                <p:spPr>
                  <a:xfrm>
                    <a:off x="2910" y="3221"/>
                    <a:ext cx="69" cy="47"/>
                  </a:xfrm>
                  <a:prstGeom prst="rect">
                    <a:avLst/>
                  </a:prstGeom>
                  <a:solidFill>
                    <a:srgbClr val="9FBFFF"/>
                  </a:solidFill>
                  <a:ln cap="flat" cmpd="sng" w="12700">
                    <a:solidFill>
                      <a:srgbClr val="9FB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4" name="Google Shape;354;p19"/>
                  <p:cNvSpPr/>
                  <p:nvPr/>
                </p:nvSpPr>
                <p:spPr>
                  <a:xfrm>
                    <a:off x="2800" y="3221"/>
                    <a:ext cx="69" cy="47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55" name="Google Shape;355;p19"/>
                  <p:cNvGrpSpPr/>
                  <p:nvPr/>
                </p:nvGrpSpPr>
                <p:grpSpPr>
                  <a:xfrm>
                    <a:off x="2800" y="3311"/>
                    <a:ext cx="508" cy="46"/>
                    <a:chOff x="2800" y="3311"/>
                    <a:chExt cx="508" cy="46"/>
                  </a:xfrm>
                </p:grpSpPr>
                <p:sp>
                  <p:nvSpPr>
                    <p:cNvPr id="356" name="Google Shape;356;p19"/>
                    <p:cNvSpPr/>
                    <p:nvPr/>
                  </p:nvSpPr>
                  <p:spPr>
                    <a:xfrm>
                      <a:off x="3239" y="331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7" name="Google Shape;357;p19"/>
                    <p:cNvSpPr/>
                    <p:nvPr/>
                  </p:nvSpPr>
                  <p:spPr>
                    <a:xfrm>
                      <a:off x="3128" y="331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8" name="Google Shape;358;p19"/>
                    <p:cNvSpPr/>
                    <p:nvPr/>
                  </p:nvSpPr>
                  <p:spPr>
                    <a:xfrm>
                      <a:off x="3019" y="331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9" name="Google Shape;359;p19"/>
                    <p:cNvSpPr/>
                    <p:nvPr/>
                  </p:nvSpPr>
                  <p:spPr>
                    <a:xfrm>
                      <a:off x="2910" y="331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0" name="Google Shape;360;p19"/>
                    <p:cNvSpPr/>
                    <p:nvPr/>
                  </p:nvSpPr>
                  <p:spPr>
                    <a:xfrm>
                      <a:off x="2800" y="331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61" name="Google Shape;361;p19"/>
                  <p:cNvGrpSpPr/>
                  <p:nvPr/>
                </p:nvGrpSpPr>
                <p:grpSpPr>
                  <a:xfrm>
                    <a:off x="2800" y="3401"/>
                    <a:ext cx="508" cy="46"/>
                    <a:chOff x="2800" y="3401"/>
                    <a:chExt cx="508" cy="46"/>
                  </a:xfrm>
                </p:grpSpPr>
                <p:sp>
                  <p:nvSpPr>
                    <p:cNvPr id="362" name="Google Shape;362;p19"/>
                    <p:cNvSpPr/>
                    <p:nvPr/>
                  </p:nvSpPr>
                  <p:spPr>
                    <a:xfrm>
                      <a:off x="3239" y="340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3" name="Google Shape;363;p19"/>
                    <p:cNvSpPr/>
                    <p:nvPr/>
                  </p:nvSpPr>
                  <p:spPr>
                    <a:xfrm>
                      <a:off x="3128" y="340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4" name="Google Shape;364;p19"/>
                    <p:cNvSpPr/>
                    <p:nvPr/>
                  </p:nvSpPr>
                  <p:spPr>
                    <a:xfrm>
                      <a:off x="3019" y="3401"/>
                      <a:ext cx="70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5" name="Google Shape;365;p19"/>
                    <p:cNvSpPr/>
                    <p:nvPr/>
                  </p:nvSpPr>
                  <p:spPr>
                    <a:xfrm>
                      <a:off x="2910" y="340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6" name="Google Shape;366;p19"/>
                    <p:cNvSpPr/>
                    <p:nvPr/>
                  </p:nvSpPr>
                  <p:spPr>
                    <a:xfrm>
                      <a:off x="2800" y="3401"/>
                      <a:ext cx="69" cy="46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cap="flat" cmpd="sng" w="12700">
                      <a:solidFill>
                        <a:srgbClr val="C0C0C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67" name="Google Shape;367;p19"/>
                  <p:cNvSpPr/>
                  <p:nvPr/>
                </p:nvSpPr>
                <p:spPr>
                  <a:xfrm>
                    <a:off x="3239" y="3489"/>
                    <a:ext cx="69" cy="13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8" name="Google Shape;368;p19"/>
                  <p:cNvSpPr/>
                  <p:nvPr/>
                </p:nvSpPr>
                <p:spPr>
                  <a:xfrm>
                    <a:off x="3128" y="348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19"/>
                  <p:cNvSpPr/>
                  <p:nvPr/>
                </p:nvSpPr>
                <p:spPr>
                  <a:xfrm>
                    <a:off x="3019" y="348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0" name="Google Shape;370;p19"/>
                  <p:cNvSpPr/>
                  <p:nvPr/>
                </p:nvSpPr>
                <p:spPr>
                  <a:xfrm>
                    <a:off x="2910" y="3489"/>
                    <a:ext cx="69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1" name="Google Shape;371;p19"/>
                  <p:cNvSpPr/>
                  <p:nvPr/>
                </p:nvSpPr>
                <p:spPr>
                  <a:xfrm>
                    <a:off x="2800" y="3489"/>
                    <a:ext cx="69" cy="48"/>
                  </a:xfrm>
                  <a:prstGeom prst="rect">
                    <a:avLst/>
                  </a:prstGeom>
                  <a:solidFill>
                    <a:srgbClr val="FF5F7F"/>
                  </a:solidFill>
                  <a:ln cap="flat" cmpd="sng" w="12700">
                    <a:solidFill>
                      <a:srgbClr val="FF5F7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2" name="Google Shape;372;p19"/>
                  <p:cNvSpPr/>
                  <p:nvPr/>
                </p:nvSpPr>
                <p:spPr>
                  <a:xfrm>
                    <a:off x="3128" y="357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3" name="Google Shape;373;p19"/>
                  <p:cNvSpPr/>
                  <p:nvPr/>
                </p:nvSpPr>
                <p:spPr>
                  <a:xfrm>
                    <a:off x="3019" y="3579"/>
                    <a:ext cx="70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4" name="Google Shape;374;p19"/>
                  <p:cNvSpPr/>
                  <p:nvPr/>
                </p:nvSpPr>
                <p:spPr>
                  <a:xfrm>
                    <a:off x="2910" y="3579"/>
                    <a:ext cx="69" cy="48"/>
                  </a:xfrm>
                  <a:prstGeom prst="rect">
                    <a:avLst/>
                  </a:prstGeom>
                  <a:solidFill>
                    <a:srgbClr val="C0C0C0"/>
                  </a:solidFill>
                  <a:ln cap="flat" cmpd="sng" w="12700">
                    <a:solidFill>
                      <a:srgbClr val="C0C0C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5" name="Google Shape;375;p19"/>
                  <p:cNvSpPr/>
                  <p:nvPr/>
                </p:nvSpPr>
                <p:spPr>
                  <a:xfrm>
                    <a:off x="2800" y="3579"/>
                    <a:ext cx="69" cy="48"/>
                  </a:xfrm>
                  <a:prstGeom prst="rect">
                    <a:avLst/>
                  </a:prstGeom>
                  <a:solidFill>
                    <a:srgbClr val="FF5F7F"/>
                  </a:solidFill>
                  <a:ln cap="flat" cmpd="sng" w="12700">
                    <a:solidFill>
                      <a:srgbClr val="FF5F7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76" name="Google Shape;376;p19"/>
                <p:cNvGrpSpPr/>
                <p:nvPr/>
              </p:nvGrpSpPr>
              <p:grpSpPr>
                <a:xfrm>
                  <a:off x="2804" y="3217"/>
                  <a:ext cx="508" cy="405"/>
                  <a:chOff x="2804" y="3217"/>
                  <a:chExt cx="508" cy="405"/>
                </a:xfrm>
              </p:grpSpPr>
              <p:sp>
                <p:nvSpPr>
                  <p:cNvPr id="377" name="Google Shape;377;p19"/>
                  <p:cNvSpPr/>
                  <p:nvPr/>
                </p:nvSpPr>
                <p:spPr>
                  <a:xfrm>
                    <a:off x="3242" y="3217"/>
                    <a:ext cx="70" cy="46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19"/>
                  <p:cNvSpPr/>
                  <p:nvPr/>
                </p:nvSpPr>
                <p:spPr>
                  <a:xfrm>
                    <a:off x="3132" y="3217"/>
                    <a:ext cx="70" cy="46"/>
                  </a:xfrm>
                  <a:prstGeom prst="rect">
                    <a:avLst/>
                  </a:prstGeom>
                  <a:solidFill>
                    <a:srgbClr val="0000FF"/>
                  </a:solidFill>
                  <a:ln cap="flat" cmpd="sng" w="12700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9"/>
                  <p:cNvSpPr/>
                  <p:nvPr/>
                </p:nvSpPr>
                <p:spPr>
                  <a:xfrm>
                    <a:off x="3023" y="3217"/>
                    <a:ext cx="70" cy="46"/>
                  </a:xfrm>
                  <a:prstGeom prst="rect">
                    <a:avLst/>
                  </a:prstGeom>
                  <a:solidFill>
                    <a:srgbClr val="0000FF"/>
                  </a:solidFill>
                  <a:ln cap="flat" cmpd="sng" w="12700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9"/>
                  <p:cNvSpPr/>
                  <p:nvPr/>
                </p:nvSpPr>
                <p:spPr>
                  <a:xfrm>
                    <a:off x="2914" y="3217"/>
                    <a:ext cx="69" cy="46"/>
                  </a:xfrm>
                  <a:prstGeom prst="rect">
                    <a:avLst/>
                  </a:prstGeom>
                  <a:solidFill>
                    <a:srgbClr val="0000FF"/>
                  </a:solidFill>
                  <a:ln cap="flat" cmpd="sng" w="12700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9"/>
                  <p:cNvSpPr/>
                  <p:nvPr/>
                </p:nvSpPr>
                <p:spPr>
                  <a:xfrm>
                    <a:off x="2804" y="3217"/>
                    <a:ext cx="69" cy="46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82" name="Google Shape;382;p19"/>
                  <p:cNvGrpSpPr/>
                  <p:nvPr/>
                </p:nvGrpSpPr>
                <p:grpSpPr>
                  <a:xfrm>
                    <a:off x="2804" y="3306"/>
                    <a:ext cx="508" cy="47"/>
                    <a:chOff x="2804" y="3306"/>
                    <a:chExt cx="508" cy="47"/>
                  </a:xfrm>
                </p:grpSpPr>
                <p:sp>
                  <p:nvSpPr>
                    <p:cNvPr id="383" name="Google Shape;383;p19"/>
                    <p:cNvSpPr/>
                    <p:nvPr/>
                  </p:nvSpPr>
                  <p:spPr>
                    <a:xfrm>
                      <a:off x="3242" y="3306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4" name="Google Shape;384;p19"/>
                    <p:cNvSpPr/>
                    <p:nvPr/>
                  </p:nvSpPr>
                  <p:spPr>
                    <a:xfrm>
                      <a:off x="3132" y="3306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5" name="Google Shape;385;p19"/>
                    <p:cNvSpPr/>
                    <p:nvPr/>
                  </p:nvSpPr>
                  <p:spPr>
                    <a:xfrm>
                      <a:off x="3023" y="3306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6" name="Google Shape;386;p19"/>
                    <p:cNvSpPr/>
                    <p:nvPr/>
                  </p:nvSpPr>
                  <p:spPr>
                    <a:xfrm>
                      <a:off x="2914" y="3306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7" name="Google Shape;387;p19"/>
                    <p:cNvSpPr/>
                    <p:nvPr/>
                  </p:nvSpPr>
                  <p:spPr>
                    <a:xfrm>
                      <a:off x="2804" y="3306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88" name="Google Shape;388;p19"/>
                  <p:cNvGrpSpPr/>
                  <p:nvPr/>
                </p:nvGrpSpPr>
                <p:grpSpPr>
                  <a:xfrm>
                    <a:off x="2804" y="3395"/>
                    <a:ext cx="508" cy="47"/>
                    <a:chOff x="2804" y="3395"/>
                    <a:chExt cx="508" cy="47"/>
                  </a:xfrm>
                </p:grpSpPr>
                <p:sp>
                  <p:nvSpPr>
                    <p:cNvPr id="389" name="Google Shape;389;p19"/>
                    <p:cNvSpPr/>
                    <p:nvPr/>
                  </p:nvSpPr>
                  <p:spPr>
                    <a:xfrm>
                      <a:off x="3242" y="3395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0" name="Google Shape;390;p19"/>
                    <p:cNvSpPr/>
                    <p:nvPr/>
                  </p:nvSpPr>
                  <p:spPr>
                    <a:xfrm>
                      <a:off x="3132" y="3395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1" name="Google Shape;391;p19"/>
                    <p:cNvSpPr/>
                    <p:nvPr/>
                  </p:nvSpPr>
                  <p:spPr>
                    <a:xfrm>
                      <a:off x="3023" y="3395"/>
                      <a:ext cx="70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2" name="Google Shape;392;p19"/>
                    <p:cNvSpPr/>
                    <p:nvPr/>
                  </p:nvSpPr>
                  <p:spPr>
                    <a:xfrm>
                      <a:off x="2914" y="3395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3" name="Google Shape;393;p19"/>
                    <p:cNvSpPr/>
                    <p:nvPr/>
                  </p:nvSpPr>
                  <p:spPr>
                    <a:xfrm>
                      <a:off x="2804" y="3395"/>
                      <a:ext cx="69" cy="47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rgbClr val="3F3F3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94" name="Google Shape;394;p19"/>
                  <p:cNvSpPr/>
                  <p:nvPr/>
                </p:nvSpPr>
                <p:spPr>
                  <a:xfrm>
                    <a:off x="3242" y="3484"/>
                    <a:ext cx="70" cy="13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5" name="Google Shape;395;p19"/>
                  <p:cNvSpPr/>
                  <p:nvPr/>
                </p:nvSpPr>
                <p:spPr>
                  <a:xfrm>
                    <a:off x="3132" y="348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6" name="Google Shape;396;p19"/>
                  <p:cNvSpPr/>
                  <p:nvPr/>
                </p:nvSpPr>
                <p:spPr>
                  <a:xfrm>
                    <a:off x="3023" y="348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7" name="Google Shape;397;p19"/>
                  <p:cNvSpPr/>
                  <p:nvPr/>
                </p:nvSpPr>
                <p:spPr>
                  <a:xfrm>
                    <a:off x="2914" y="3484"/>
                    <a:ext cx="69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8" name="Google Shape;398;p19"/>
                  <p:cNvSpPr/>
                  <p:nvPr/>
                </p:nvSpPr>
                <p:spPr>
                  <a:xfrm>
                    <a:off x="2804" y="3484"/>
                    <a:ext cx="69" cy="48"/>
                  </a:xfrm>
                  <a:prstGeom prst="rect">
                    <a:avLst/>
                  </a:prstGeom>
                  <a:solidFill>
                    <a:srgbClr val="800000"/>
                  </a:solidFill>
                  <a:ln cap="flat" cmpd="sng" w="12700">
                    <a:solidFill>
                      <a:srgbClr val="8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9"/>
                  <p:cNvSpPr/>
                  <p:nvPr/>
                </p:nvSpPr>
                <p:spPr>
                  <a:xfrm>
                    <a:off x="3132" y="357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9"/>
                  <p:cNvSpPr/>
                  <p:nvPr/>
                </p:nvSpPr>
                <p:spPr>
                  <a:xfrm>
                    <a:off x="3023" y="3574"/>
                    <a:ext cx="70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9"/>
                  <p:cNvSpPr/>
                  <p:nvPr/>
                </p:nvSpPr>
                <p:spPr>
                  <a:xfrm>
                    <a:off x="2914" y="3574"/>
                    <a:ext cx="69" cy="48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9"/>
                  <p:cNvSpPr/>
                  <p:nvPr/>
                </p:nvSpPr>
                <p:spPr>
                  <a:xfrm>
                    <a:off x="2804" y="3574"/>
                    <a:ext cx="69" cy="48"/>
                  </a:xfrm>
                  <a:prstGeom prst="rect">
                    <a:avLst/>
                  </a:prstGeom>
                  <a:solidFill>
                    <a:srgbClr val="800000"/>
                  </a:solidFill>
                  <a:ln cap="flat" cmpd="sng" w="12700">
                    <a:solidFill>
                      <a:srgbClr val="8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03" name="Google Shape;403;p19"/>
                <p:cNvGrpSpPr/>
                <p:nvPr/>
              </p:nvGrpSpPr>
              <p:grpSpPr>
                <a:xfrm>
                  <a:off x="2800" y="3216"/>
                  <a:ext cx="512" cy="410"/>
                  <a:chOff x="2800" y="3216"/>
                  <a:chExt cx="512" cy="410"/>
                </a:xfrm>
              </p:grpSpPr>
              <p:sp>
                <p:nvSpPr>
                  <p:cNvPr id="404" name="Google Shape;404;p19"/>
                  <p:cNvSpPr/>
                  <p:nvPr/>
                </p:nvSpPr>
                <p:spPr>
                  <a:xfrm>
                    <a:off x="3238" y="3216"/>
                    <a:ext cx="74" cy="52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5" name="Google Shape;405;p19"/>
                  <p:cNvSpPr/>
                  <p:nvPr/>
                </p:nvSpPr>
                <p:spPr>
                  <a:xfrm>
                    <a:off x="3128" y="3216"/>
                    <a:ext cx="74" cy="52"/>
                  </a:xfrm>
                  <a:prstGeom prst="rect">
                    <a:avLst/>
                  </a:prstGeom>
                  <a:solidFill>
                    <a:srgbClr val="3F7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6" name="Google Shape;406;p19"/>
                  <p:cNvSpPr/>
                  <p:nvPr/>
                </p:nvSpPr>
                <p:spPr>
                  <a:xfrm>
                    <a:off x="3019" y="3216"/>
                    <a:ext cx="74" cy="52"/>
                  </a:xfrm>
                  <a:prstGeom prst="rect">
                    <a:avLst/>
                  </a:prstGeom>
                  <a:solidFill>
                    <a:srgbClr val="3F7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7" name="Google Shape;407;p19"/>
                  <p:cNvSpPr/>
                  <p:nvPr/>
                </p:nvSpPr>
                <p:spPr>
                  <a:xfrm>
                    <a:off x="2910" y="3216"/>
                    <a:ext cx="74" cy="52"/>
                  </a:xfrm>
                  <a:prstGeom prst="rect">
                    <a:avLst/>
                  </a:prstGeom>
                  <a:solidFill>
                    <a:srgbClr val="3F7F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8" name="Google Shape;408;p19"/>
                  <p:cNvSpPr/>
                  <p:nvPr/>
                </p:nvSpPr>
                <p:spPr>
                  <a:xfrm>
                    <a:off x="2800" y="3216"/>
                    <a:ext cx="74" cy="52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09" name="Google Shape;409;p19"/>
                  <p:cNvGrpSpPr/>
                  <p:nvPr/>
                </p:nvGrpSpPr>
                <p:grpSpPr>
                  <a:xfrm>
                    <a:off x="2800" y="3305"/>
                    <a:ext cx="512" cy="52"/>
                    <a:chOff x="2800" y="3305"/>
                    <a:chExt cx="512" cy="52"/>
                  </a:xfrm>
                </p:grpSpPr>
                <p:sp>
                  <p:nvSpPr>
                    <p:cNvPr id="410" name="Google Shape;410;p19"/>
                    <p:cNvSpPr/>
                    <p:nvPr/>
                  </p:nvSpPr>
                  <p:spPr>
                    <a:xfrm>
                      <a:off x="3238" y="330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1" name="Google Shape;411;p19"/>
                    <p:cNvSpPr/>
                    <p:nvPr/>
                  </p:nvSpPr>
                  <p:spPr>
                    <a:xfrm>
                      <a:off x="3128" y="330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2" name="Google Shape;412;p19"/>
                    <p:cNvSpPr/>
                    <p:nvPr/>
                  </p:nvSpPr>
                  <p:spPr>
                    <a:xfrm>
                      <a:off x="3019" y="330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3" name="Google Shape;413;p19"/>
                    <p:cNvSpPr/>
                    <p:nvPr/>
                  </p:nvSpPr>
                  <p:spPr>
                    <a:xfrm>
                      <a:off x="2910" y="330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4" name="Google Shape;414;p19"/>
                    <p:cNvSpPr/>
                    <p:nvPr/>
                  </p:nvSpPr>
                  <p:spPr>
                    <a:xfrm>
                      <a:off x="2800" y="330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415" name="Google Shape;415;p19"/>
                  <p:cNvGrpSpPr/>
                  <p:nvPr/>
                </p:nvGrpSpPr>
                <p:grpSpPr>
                  <a:xfrm>
                    <a:off x="2800" y="3395"/>
                    <a:ext cx="512" cy="52"/>
                    <a:chOff x="2800" y="3395"/>
                    <a:chExt cx="512" cy="52"/>
                  </a:xfrm>
                </p:grpSpPr>
                <p:sp>
                  <p:nvSpPr>
                    <p:cNvPr id="416" name="Google Shape;416;p19"/>
                    <p:cNvSpPr/>
                    <p:nvPr/>
                  </p:nvSpPr>
                  <p:spPr>
                    <a:xfrm>
                      <a:off x="3238" y="339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7" name="Google Shape;417;p19"/>
                    <p:cNvSpPr/>
                    <p:nvPr/>
                  </p:nvSpPr>
                  <p:spPr>
                    <a:xfrm>
                      <a:off x="3128" y="339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8" name="Google Shape;418;p19"/>
                    <p:cNvSpPr/>
                    <p:nvPr/>
                  </p:nvSpPr>
                  <p:spPr>
                    <a:xfrm>
                      <a:off x="3019" y="339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19" name="Google Shape;419;p19"/>
                    <p:cNvSpPr/>
                    <p:nvPr/>
                  </p:nvSpPr>
                  <p:spPr>
                    <a:xfrm>
                      <a:off x="2910" y="339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0" name="Google Shape;420;p19"/>
                    <p:cNvSpPr/>
                    <p:nvPr/>
                  </p:nvSpPr>
                  <p:spPr>
                    <a:xfrm>
                      <a:off x="2800" y="3395"/>
                      <a:ext cx="74" cy="52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421" name="Google Shape;421;p19"/>
                  <p:cNvSpPr/>
                  <p:nvPr/>
                </p:nvSpPr>
                <p:spPr>
                  <a:xfrm>
                    <a:off x="3238" y="3485"/>
                    <a:ext cx="74" cy="14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2" name="Google Shape;422;p19"/>
                  <p:cNvSpPr/>
                  <p:nvPr/>
                </p:nvSpPr>
                <p:spPr>
                  <a:xfrm>
                    <a:off x="3128" y="3485"/>
                    <a:ext cx="74" cy="5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3" name="Google Shape;423;p19"/>
                  <p:cNvSpPr/>
                  <p:nvPr/>
                </p:nvSpPr>
                <p:spPr>
                  <a:xfrm>
                    <a:off x="3019" y="3485"/>
                    <a:ext cx="74" cy="5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4" name="Google Shape;424;p19"/>
                  <p:cNvSpPr/>
                  <p:nvPr/>
                </p:nvSpPr>
                <p:spPr>
                  <a:xfrm>
                    <a:off x="2910" y="3485"/>
                    <a:ext cx="74" cy="5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5" name="Google Shape;425;p19"/>
                  <p:cNvSpPr/>
                  <p:nvPr/>
                </p:nvSpPr>
                <p:spPr>
                  <a:xfrm>
                    <a:off x="2800" y="3485"/>
                    <a:ext cx="74" cy="5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6" name="Google Shape;426;p19"/>
                  <p:cNvSpPr/>
                  <p:nvPr/>
                </p:nvSpPr>
                <p:spPr>
                  <a:xfrm>
                    <a:off x="3128" y="3575"/>
                    <a:ext cx="74" cy="5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7" name="Google Shape;427;p19"/>
                  <p:cNvSpPr/>
                  <p:nvPr/>
                </p:nvSpPr>
                <p:spPr>
                  <a:xfrm>
                    <a:off x="3019" y="3575"/>
                    <a:ext cx="74" cy="5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" name="Google Shape;428;p19"/>
                  <p:cNvSpPr/>
                  <p:nvPr/>
                </p:nvSpPr>
                <p:spPr>
                  <a:xfrm>
                    <a:off x="2910" y="3575"/>
                    <a:ext cx="74" cy="51"/>
                  </a:xfrm>
                  <a:prstGeom prst="rect">
                    <a:avLst/>
                  </a:prstGeom>
                  <a:solidFill>
                    <a:srgbClr val="5F5F5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" name="Google Shape;429;p19"/>
                  <p:cNvSpPr/>
                  <p:nvPr/>
                </p:nvSpPr>
                <p:spPr>
                  <a:xfrm>
                    <a:off x="2800" y="3575"/>
                    <a:ext cx="74" cy="5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30" name="Google Shape;430;p19"/>
            <p:cNvGrpSpPr/>
            <p:nvPr/>
          </p:nvGrpSpPr>
          <p:grpSpPr>
            <a:xfrm>
              <a:off x="2954" y="2936"/>
              <a:ext cx="306" cy="47"/>
              <a:chOff x="2954" y="2936"/>
              <a:chExt cx="306" cy="47"/>
            </a:xfrm>
          </p:grpSpPr>
          <p:grpSp>
            <p:nvGrpSpPr>
              <p:cNvPr id="431" name="Google Shape;431;p19"/>
              <p:cNvGrpSpPr/>
              <p:nvPr/>
            </p:nvGrpSpPr>
            <p:grpSpPr>
              <a:xfrm>
                <a:off x="3225" y="2936"/>
                <a:ext cx="35" cy="46"/>
                <a:chOff x="3225" y="2936"/>
                <a:chExt cx="35" cy="46"/>
              </a:xfrm>
            </p:grpSpPr>
            <p:sp>
              <p:nvSpPr>
                <p:cNvPr id="432" name="Google Shape;432;p19"/>
                <p:cNvSpPr/>
                <p:nvPr/>
              </p:nvSpPr>
              <p:spPr>
                <a:xfrm>
                  <a:off x="3239" y="2936"/>
                  <a:ext cx="20" cy="4"/>
                </a:xfrm>
                <a:custGeom>
                  <a:rect b="b" l="l" r="r" t="t"/>
                  <a:pathLst>
                    <a:path extrusionOk="0" h="4" w="20">
                      <a:moveTo>
                        <a:pt x="0" y="3"/>
                      </a:moveTo>
                      <a:lnTo>
                        <a:pt x="2" y="0"/>
                      </a:lnTo>
                      <a:lnTo>
                        <a:pt x="15" y="0"/>
                      </a:lnTo>
                      <a:lnTo>
                        <a:pt x="19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19"/>
                <p:cNvSpPr/>
                <p:nvPr/>
              </p:nvSpPr>
              <p:spPr>
                <a:xfrm>
                  <a:off x="3226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8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" name="Google Shape;434;p19"/>
                <p:cNvSpPr/>
                <p:nvPr/>
              </p:nvSpPr>
              <p:spPr>
                <a:xfrm>
                  <a:off x="3232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" name="Google Shape;435;p19"/>
                <p:cNvSpPr/>
                <p:nvPr/>
              </p:nvSpPr>
              <p:spPr>
                <a:xfrm>
                  <a:off x="3225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19"/>
                <p:cNvSpPr/>
                <p:nvPr/>
              </p:nvSpPr>
              <p:spPr>
                <a:xfrm>
                  <a:off x="3252" y="2964"/>
                  <a:ext cx="2" cy="14"/>
                </a:xfrm>
                <a:custGeom>
                  <a:rect b="b" l="l" r="r" t="t"/>
                  <a:pathLst>
                    <a:path extrusionOk="0" h="14" w="2">
                      <a:moveTo>
                        <a:pt x="0" y="10"/>
                      </a:move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19"/>
                <p:cNvSpPr/>
                <p:nvPr/>
              </p:nvSpPr>
              <p:spPr>
                <a:xfrm>
                  <a:off x="3258" y="2939"/>
                  <a:ext cx="2" cy="16"/>
                </a:xfrm>
                <a:custGeom>
                  <a:rect b="b" l="l" r="r" t="t"/>
                  <a:pathLst>
                    <a:path extrusionOk="0" h="16" w="2">
                      <a:moveTo>
                        <a:pt x="0" y="4"/>
                      </a:moveTo>
                      <a:lnTo>
                        <a:pt x="1" y="0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19"/>
                <p:cNvSpPr/>
                <p:nvPr/>
              </p:nvSpPr>
              <p:spPr>
                <a:xfrm>
                  <a:off x="3232" y="2958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20" y="1"/>
                      </a:lnTo>
                      <a:lnTo>
                        <a:pt x="17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9" name="Google Shape;439;p19"/>
              <p:cNvSpPr/>
              <p:nvPr/>
            </p:nvSpPr>
            <p:spPr>
              <a:xfrm>
                <a:off x="3176" y="2979"/>
                <a:ext cx="3" cy="4"/>
              </a:xfrm>
              <a:custGeom>
                <a:rect b="b" l="l" r="r" t="t"/>
                <a:pathLst>
                  <a:path extrusionOk="0" h="4" w="3">
                    <a:moveTo>
                      <a:pt x="1" y="3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3"/>
                    </a:lnTo>
                    <a:lnTo>
                      <a:pt x="1" y="3"/>
                    </a:lnTo>
                  </a:path>
                </a:pathLst>
              </a:custGeom>
              <a:solidFill>
                <a:srgbClr val="00FF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0" name="Google Shape;440;p19"/>
              <p:cNvGrpSpPr/>
              <p:nvPr/>
            </p:nvGrpSpPr>
            <p:grpSpPr>
              <a:xfrm>
                <a:off x="3187" y="2936"/>
                <a:ext cx="36" cy="46"/>
                <a:chOff x="3187" y="2936"/>
                <a:chExt cx="36" cy="46"/>
              </a:xfrm>
            </p:grpSpPr>
            <p:sp>
              <p:nvSpPr>
                <p:cNvPr id="441" name="Google Shape;441;p19"/>
                <p:cNvSpPr/>
                <p:nvPr/>
              </p:nvSpPr>
              <p:spPr>
                <a:xfrm>
                  <a:off x="3200" y="2936"/>
                  <a:ext cx="21" cy="4"/>
                </a:xfrm>
                <a:custGeom>
                  <a:rect b="b" l="l" r="r" t="t"/>
                  <a:pathLst>
                    <a:path extrusionOk="0" h="4" w="21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6" y="0"/>
                      </a:lnTo>
                      <a:lnTo>
                        <a:pt x="20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" name="Google Shape;442;p19"/>
                <p:cNvSpPr/>
                <p:nvPr/>
              </p:nvSpPr>
              <p:spPr>
                <a:xfrm>
                  <a:off x="3188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19"/>
                <p:cNvSpPr/>
                <p:nvPr/>
              </p:nvSpPr>
              <p:spPr>
                <a:xfrm>
                  <a:off x="3193" y="2939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1" y="0"/>
                      </a:moveTo>
                      <a:lnTo>
                        <a:pt x="2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9"/>
                <p:cNvSpPr/>
                <p:nvPr/>
              </p:nvSpPr>
              <p:spPr>
                <a:xfrm>
                  <a:off x="3187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19"/>
                <p:cNvSpPr/>
                <p:nvPr/>
              </p:nvSpPr>
              <p:spPr>
                <a:xfrm>
                  <a:off x="3214" y="2964"/>
                  <a:ext cx="2" cy="14"/>
                </a:xfrm>
                <a:custGeom>
                  <a:rect b="b" l="l" r="r" t="t"/>
                  <a:pathLst>
                    <a:path extrusionOk="0" h="14" w="2">
                      <a:moveTo>
                        <a:pt x="0" y="10"/>
                      </a:move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19"/>
                <p:cNvSpPr/>
                <p:nvPr/>
              </p:nvSpPr>
              <p:spPr>
                <a:xfrm>
                  <a:off x="3219" y="2939"/>
                  <a:ext cx="4" cy="16"/>
                </a:xfrm>
                <a:custGeom>
                  <a:rect b="b" l="l" r="r" t="t"/>
                  <a:pathLst>
                    <a:path extrusionOk="0" h="16" w="4">
                      <a:moveTo>
                        <a:pt x="1" y="4"/>
                      </a:moveTo>
                      <a:lnTo>
                        <a:pt x="3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19"/>
                <p:cNvSpPr/>
                <p:nvPr/>
              </p:nvSpPr>
              <p:spPr>
                <a:xfrm>
                  <a:off x="3194" y="2958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20" y="1"/>
                      </a:lnTo>
                      <a:lnTo>
                        <a:pt x="17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8" name="Google Shape;448;p19"/>
              <p:cNvGrpSpPr/>
              <p:nvPr/>
            </p:nvGrpSpPr>
            <p:grpSpPr>
              <a:xfrm>
                <a:off x="3068" y="2936"/>
                <a:ext cx="35" cy="46"/>
                <a:chOff x="3068" y="2936"/>
                <a:chExt cx="35" cy="46"/>
              </a:xfrm>
            </p:grpSpPr>
            <p:sp>
              <p:nvSpPr>
                <p:cNvPr id="449" name="Google Shape;449;p19"/>
                <p:cNvSpPr/>
                <p:nvPr/>
              </p:nvSpPr>
              <p:spPr>
                <a:xfrm>
                  <a:off x="3081" y="2936"/>
                  <a:ext cx="21" cy="4"/>
                </a:xfrm>
                <a:custGeom>
                  <a:rect b="b" l="l" r="r" t="t"/>
                  <a:pathLst>
                    <a:path extrusionOk="0" h="4" w="21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6" y="0"/>
                      </a:lnTo>
                      <a:lnTo>
                        <a:pt x="20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3069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3074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3068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3094" y="2964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10"/>
                      </a:moveTo>
                      <a:lnTo>
                        <a:pt x="1" y="13"/>
                      </a:ln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3100" y="2939"/>
                  <a:ext cx="3" cy="16"/>
                </a:xfrm>
                <a:custGeom>
                  <a:rect b="b" l="l" r="r" t="t"/>
                  <a:pathLst>
                    <a:path extrusionOk="0" h="16" w="3">
                      <a:moveTo>
                        <a:pt x="1" y="4"/>
                      </a:moveTo>
                      <a:lnTo>
                        <a:pt x="2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3075" y="2958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20" y="1"/>
                      </a:lnTo>
                      <a:lnTo>
                        <a:pt x="17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" name="Google Shape;456;p19"/>
              <p:cNvGrpSpPr/>
              <p:nvPr/>
            </p:nvGrpSpPr>
            <p:grpSpPr>
              <a:xfrm>
                <a:off x="3106" y="2936"/>
                <a:ext cx="35" cy="46"/>
                <a:chOff x="3106" y="2936"/>
                <a:chExt cx="35" cy="46"/>
              </a:xfrm>
            </p:grpSpPr>
            <p:sp>
              <p:nvSpPr>
                <p:cNvPr id="457" name="Google Shape;457;p19"/>
                <p:cNvSpPr/>
                <p:nvPr/>
              </p:nvSpPr>
              <p:spPr>
                <a:xfrm>
                  <a:off x="3119" y="2936"/>
                  <a:ext cx="21" cy="4"/>
                </a:xfrm>
                <a:custGeom>
                  <a:rect b="b" l="l" r="r" t="t"/>
                  <a:pathLst>
                    <a:path extrusionOk="0" h="4" w="21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5" y="0"/>
                      </a:lnTo>
                      <a:lnTo>
                        <a:pt x="20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19"/>
                <p:cNvSpPr/>
                <p:nvPr/>
              </p:nvSpPr>
              <p:spPr>
                <a:xfrm>
                  <a:off x="3107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19"/>
                <p:cNvSpPr/>
                <p:nvPr/>
              </p:nvSpPr>
              <p:spPr>
                <a:xfrm>
                  <a:off x="3112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19"/>
                <p:cNvSpPr/>
                <p:nvPr/>
              </p:nvSpPr>
              <p:spPr>
                <a:xfrm>
                  <a:off x="3106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19"/>
                <p:cNvSpPr/>
                <p:nvPr/>
              </p:nvSpPr>
              <p:spPr>
                <a:xfrm>
                  <a:off x="3132" y="2964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10"/>
                      </a:moveTo>
                      <a:lnTo>
                        <a:pt x="1" y="13"/>
                      </a:ln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19"/>
                <p:cNvSpPr/>
                <p:nvPr/>
              </p:nvSpPr>
              <p:spPr>
                <a:xfrm>
                  <a:off x="3138" y="2939"/>
                  <a:ext cx="3" cy="16"/>
                </a:xfrm>
                <a:custGeom>
                  <a:rect b="b" l="l" r="r" t="t"/>
                  <a:pathLst>
                    <a:path extrusionOk="0" h="16" w="3">
                      <a:moveTo>
                        <a:pt x="1" y="4"/>
                      </a:moveTo>
                      <a:lnTo>
                        <a:pt x="2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19"/>
                <p:cNvSpPr/>
                <p:nvPr/>
              </p:nvSpPr>
              <p:spPr>
                <a:xfrm>
                  <a:off x="3113" y="2958"/>
                  <a:ext cx="20" cy="3"/>
                </a:xfrm>
                <a:custGeom>
                  <a:rect b="b" l="l" r="r" t="t"/>
                  <a:pathLst>
                    <a:path extrusionOk="0" h="3" w="20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19" y="1"/>
                      </a:lnTo>
                      <a:lnTo>
                        <a:pt x="16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4" name="Google Shape;464;p19"/>
              <p:cNvGrpSpPr/>
              <p:nvPr/>
            </p:nvGrpSpPr>
            <p:grpSpPr>
              <a:xfrm>
                <a:off x="3144" y="2936"/>
                <a:ext cx="35" cy="46"/>
                <a:chOff x="3144" y="2936"/>
                <a:chExt cx="35" cy="46"/>
              </a:xfrm>
            </p:grpSpPr>
            <p:sp>
              <p:nvSpPr>
                <p:cNvPr id="465" name="Google Shape;465;p19"/>
                <p:cNvSpPr/>
                <p:nvPr/>
              </p:nvSpPr>
              <p:spPr>
                <a:xfrm>
                  <a:off x="3157" y="2936"/>
                  <a:ext cx="20" cy="4"/>
                </a:xfrm>
                <a:custGeom>
                  <a:rect b="b" l="l" r="r" t="t"/>
                  <a:pathLst>
                    <a:path extrusionOk="0" h="4" w="20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5" y="0"/>
                      </a:lnTo>
                      <a:lnTo>
                        <a:pt x="19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19"/>
                <p:cNvSpPr/>
                <p:nvPr/>
              </p:nvSpPr>
              <p:spPr>
                <a:xfrm>
                  <a:off x="3145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19"/>
                <p:cNvSpPr/>
                <p:nvPr/>
              </p:nvSpPr>
              <p:spPr>
                <a:xfrm>
                  <a:off x="3150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" name="Google Shape;468;p19"/>
                <p:cNvSpPr/>
                <p:nvPr/>
              </p:nvSpPr>
              <p:spPr>
                <a:xfrm>
                  <a:off x="3144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19"/>
                <p:cNvSpPr/>
                <p:nvPr/>
              </p:nvSpPr>
              <p:spPr>
                <a:xfrm>
                  <a:off x="3170" y="2964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10"/>
                      </a:moveTo>
                      <a:lnTo>
                        <a:pt x="1" y="13"/>
                      </a:ln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19"/>
                <p:cNvSpPr/>
                <p:nvPr/>
              </p:nvSpPr>
              <p:spPr>
                <a:xfrm>
                  <a:off x="3176" y="2939"/>
                  <a:ext cx="3" cy="16"/>
                </a:xfrm>
                <a:custGeom>
                  <a:rect b="b" l="l" r="r" t="t"/>
                  <a:pathLst>
                    <a:path extrusionOk="0" h="16" w="3">
                      <a:moveTo>
                        <a:pt x="1" y="4"/>
                      </a:moveTo>
                      <a:lnTo>
                        <a:pt x="2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9"/>
                <p:cNvSpPr/>
                <p:nvPr/>
              </p:nvSpPr>
              <p:spPr>
                <a:xfrm>
                  <a:off x="3150" y="2958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8" y="2"/>
                      </a:lnTo>
                      <a:lnTo>
                        <a:pt x="20" y="1"/>
                      </a:lnTo>
                      <a:lnTo>
                        <a:pt x="17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2" name="Google Shape;472;p19"/>
              <p:cNvGrpSpPr/>
              <p:nvPr/>
            </p:nvGrpSpPr>
            <p:grpSpPr>
              <a:xfrm>
                <a:off x="2954" y="2936"/>
                <a:ext cx="35" cy="46"/>
                <a:chOff x="2954" y="2936"/>
                <a:chExt cx="35" cy="46"/>
              </a:xfrm>
            </p:grpSpPr>
            <p:sp>
              <p:nvSpPr>
                <p:cNvPr id="473" name="Google Shape;473;p19"/>
                <p:cNvSpPr/>
                <p:nvPr/>
              </p:nvSpPr>
              <p:spPr>
                <a:xfrm>
                  <a:off x="2968" y="2936"/>
                  <a:ext cx="20" cy="4"/>
                </a:xfrm>
                <a:custGeom>
                  <a:rect b="b" l="l" r="r" t="t"/>
                  <a:pathLst>
                    <a:path extrusionOk="0" h="4" w="20">
                      <a:moveTo>
                        <a:pt x="0" y="3"/>
                      </a:moveTo>
                      <a:lnTo>
                        <a:pt x="2" y="0"/>
                      </a:lnTo>
                      <a:lnTo>
                        <a:pt x="15" y="0"/>
                      </a:lnTo>
                      <a:lnTo>
                        <a:pt x="19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19"/>
                <p:cNvSpPr/>
                <p:nvPr/>
              </p:nvSpPr>
              <p:spPr>
                <a:xfrm>
                  <a:off x="2955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19"/>
                <p:cNvSpPr/>
                <p:nvPr/>
              </p:nvSpPr>
              <p:spPr>
                <a:xfrm>
                  <a:off x="2961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19"/>
                <p:cNvSpPr/>
                <p:nvPr/>
              </p:nvSpPr>
              <p:spPr>
                <a:xfrm>
                  <a:off x="2954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19"/>
                <p:cNvSpPr/>
                <p:nvPr/>
              </p:nvSpPr>
              <p:spPr>
                <a:xfrm>
                  <a:off x="2981" y="2964"/>
                  <a:ext cx="2" cy="14"/>
                </a:xfrm>
                <a:custGeom>
                  <a:rect b="b" l="l" r="r" t="t"/>
                  <a:pathLst>
                    <a:path extrusionOk="0" h="14" w="2">
                      <a:moveTo>
                        <a:pt x="0" y="10"/>
                      </a:move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19"/>
                <p:cNvSpPr/>
                <p:nvPr/>
              </p:nvSpPr>
              <p:spPr>
                <a:xfrm>
                  <a:off x="2986" y="2939"/>
                  <a:ext cx="3" cy="16"/>
                </a:xfrm>
                <a:custGeom>
                  <a:rect b="b" l="l" r="r" t="t"/>
                  <a:pathLst>
                    <a:path extrusionOk="0" h="16" w="3">
                      <a:moveTo>
                        <a:pt x="1" y="4"/>
                      </a:moveTo>
                      <a:lnTo>
                        <a:pt x="2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19"/>
                <p:cNvSpPr/>
                <p:nvPr/>
              </p:nvSpPr>
              <p:spPr>
                <a:xfrm>
                  <a:off x="2961" y="2958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20" y="1"/>
                      </a:lnTo>
                      <a:lnTo>
                        <a:pt x="17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0" name="Google Shape;480;p19"/>
              <p:cNvGrpSpPr/>
              <p:nvPr/>
            </p:nvGrpSpPr>
            <p:grpSpPr>
              <a:xfrm>
                <a:off x="2992" y="2936"/>
                <a:ext cx="35" cy="46"/>
                <a:chOff x="2992" y="2936"/>
                <a:chExt cx="35" cy="46"/>
              </a:xfrm>
            </p:grpSpPr>
            <p:sp>
              <p:nvSpPr>
                <p:cNvPr id="481" name="Google Shape;481;p19"/>
                <p:cNvSpPr/>
                <p:nvPr/>
              </p:nvSpPr>
              <p:spPr>
                <a:xfrm>
                  <a:off x="3005" y="2936"/>
                  <a:ext cx="21" cy="4"/>
                </a:xfrm>
                <a:custGeom>
                  <a:rect b="b" l="l" r="r" t="t"/>
                  <a:pathLst>
                    <a:path extrusionOk="0" h="4" w="21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6" y="0"/>
                      </a:lnTo>
                      <a:lnTo>
                        <a:pt x="20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19"/>
                <p:cNvSpPr/>
                <p:nvPr/>
              </p:nvSpPr>
              <p:spPr>
                <a:xfrm>
                  <a:off x="2993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19"/>
                <p:cNvSpPr/>
                <p:nvPr/>
              </p:nvSpPr>
              <p:spPr>
                <a:xfrm>
                  <a:off x="2998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19"/>
                <p:cNvSpPr/>
                <p:nvPr/>
              </p:nvSpPr>
              <p:spPr>
                <a:xfrm>
                  <a:off x="2992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19"/>
                <p:cNvSpPr/>
                <p:nvPr/>
              </p:nvSpPr>
              <p:spPr>
                <a:xfrm>
                  <a:off x="3018" y="2964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10"/>
                      </a:moveTo>
                      <a:lnTo>
                        <a:pt x="1" y="13"/>
                      </a:ln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19"/>
                <p:cNvSpPr/>
                <p:nvPr/>
              </p:nvSpPr>
              <p:spPr>
                <a:xfrm>
                  <a:off x="3024" y="2939"/>
                  <a:ext cx="3" cy="16"/>
                </a:xfrm>
                <a:custGeom>
                  <a:rect b="b" l="l" r="r" t="t"/>
                  <a:pathLst>
                    <a:path extrusionOk="0" h="16" w="3">
                      <a:moveTo>
                        <a:pt x="1" y="4"/>
                      </a:moveTo>
                      <a:lnTo>
                        <a:pt x="2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19"/>
                <p:cNvSpPr/>
                <p:nvPr/>
              </p:nvSpPr>
              <p:spPr>
                <a:xfrm>
                  <a:off x="2999" y="2958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20" y="1"/>
                      </a:lnTo>
                      <a:lnTo>
                        <a:pt x="17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8" name="Google Shape;488;p19"/>
              <p:cNvGrpSpPr/>
              <p:nvPr/>
            </p:nvGrpSpPr>
            <p:grpSpPr>
              <a:xfrm>
                <a:off x="3030" y="2936"/>
                <a:ext cx="35" cy="46"/>
                <a:chOff x="3030" y="2936"/>
                <a:chExt cx="35" cy="46"/>
              </a:xfrm>
            </p:grpSpPr>
            <p:sp>
              <p:nvSpPr>
                <p:cNvPr id="489" name="Google Shape;489;p19"/>
                <p:cNvSpPr/>
                <p:nvPr/>
              </p:nvSpPr>
              <p:spPr>
                <a:xfrm>
                  <a:off x="3043" y="2936"/>
                  <a:ext cx="21" cy="4"/>
                </a:xfrm>
                <a:custGeom>
                  <a:rect b="b" l="l" r="r" t="t"/>
                  <a:pathLst>
                    <a:path extrusionOk="0" h="4" w="21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15" y="0"/>
                      </a:lnTo>
                      <a:lnTo>
                        <a:pt x="20" y="3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" name="Google Shape;490;p19"/>
                <p:cNvSpPr/>
                <p:nvPr/>
              </p:nvSpPr>
              <p:spPr>
                <a:xfrm>
                  <a:off x="3031" y="2979"/>
                  <a:ext cx="21" cy="3"/>
                </a:xfrm>
                <a:custGeom>
                  <a:rect b="b" l="l" r="r" t="t"/>
                  <a:pathLst>
                    <a:path extrusionOk="0" h="3" w="21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17" y="2"/>
                      </a:lnTo>
                      <a:lnTo>
                        <a:pt x="2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9"/>
                <p:cNvSpPr/>
                <p:nvPr/>
              </p:nvSpPr>
              <p:spPr>
                <a:xfrm>
                  <a:off x="3036" y="2939"/>
                  <a:ext cx="2" cy="15"/>
                </a:xfrm>
                <a:custGeom>
                  <a:rect b="b" l="l" r="r" t="t"/>
                  <a:pathLst>
                    <a:path extrusionOk="0" h="15" w="2">
                      <a:moveTo>
                        <a:pt x="1" y="0"/>
                      </a:moveTo>
                      <a:lnTo>
                        <a:pt x="1" y="4"/>
                      </a:lnTo>
                      <a:lnTo>
                        <a:pt x="1" y="13"/>
                      </a:lnTo>
                      <a:lnTo>
                        <a:pt x="0" y="14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9"/>
                <p:cNvSpPr/>
                <p:nvPr/>
              </p:nvSpPr>
              <p:spPr>
                <a:xfrm>
                  <a:off x="3030" y="2964"/>
                  <a:ext cx="3" cy="15"/>
                </a:xfrm>
                <a:custGeom>
                  <a:rect b="b" l="l" r="r" t="t"/>
                  <a:pathLst>
                    <a:path extrusionOk="0" h="15" w="3">
                      <a:moveTo>
                        <a:pt x="0" y="14"/>
                      </a:moveTo>
                      <a:lnTo>
                        <a:pt x="1" y="10"/>
                      </a:lnTo>
                      <a:lnTo>
                        <a:pt x="2" y="1"/>
                      </a:lnTo>
                      <a:lnTo>
                        <a:pt x="1" y="0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19"/>
                <p:cNvSpPr/>
                <p:nvPr/>
              </p:nvSpPr>
              <p:spPr>
                <a:xfrm>
                  <a:off x="3056" y="2964"/>
                  <a:ext cx="3" cy="14"/>
                </a:xfrm>
                <a:custGeom>
                  <a:rect b="b" l="l" r="r" t="t"/>
                  <a:pathLst>
                    <a:path extrusionOk="0" h="14" w="3">
                      <a:moveTo>
                        <a:pt x="0" y="10"/>
                      </a:moveTo>
                      <a:lnTo>
                        <a:pt x="1" y="13"/>
                      </a:ln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4" name="Google Shape;494;p19"/>
                <p:cNvSpPr/>
                <p:nvPr/>
              </p:nvSpPr>
              <p:spPr>
                <a:xfrm>
                  <a:off x="3062" y="2939"/>
                  <a:ext cx="3" cy="16"/>
                </a:xfrm>
                <a:custGeom>
                  <a:rect b="b" l="l" r="r" t="t"/>
                  <a:pathLst>
                    <a:path extrusionOk="0" h="16" w="3">
                      <a:moveTo>
                        <a:pt x="1" y="4"/>
                      </a:moveTo>
                      <a:lnTo>
                        <a:pt x="2" y="0"/>
                      </a:lnTo>
                      <a:lnTo>
                        <a:pt x="1" y="15"/>
                      </a:lnTo>
                      <a:lnTo>
                        <a:pt x="0" y="13"/>
                      </a:lnTo>
                      <a:lnTo>
                        <a:pt x="1" y="4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" name="Google Shape;495;p19"/>
                <p:cNvSpPr/>
                <p:nvPr/>
              </p:nvSpPr>
              <p:spPr>
                <a:xfrm>
                  <a:off x="3037" y="2958"/>
                  <a:ext cx="20" cy="3"/>
                </a:xfrm>
                <a:custGeom>
                  <a:rect b="b" l="l" r="r" t="t"/>
                  <a:pathLst>
                    <a:path extrusionOk="0" h="3" w="20">
                      <a:moveTo>
                        <a:pt x="0" y="1"/>
                      </a:moveTo>
                      <a:lnTo>
                        <a:pt x="4" y="2"/>
                      </a:lnTo>
                      <a:lnTo>
                        <a:pt x="17" y="2"/>
                      </a:lnTo>
                      <a:lnTo>
                        <a:pt x="19" y="1"/>
                      </a:lnTo>
                      <a:lnTo>
                        <a:pt x="16" y="0"/>
                      </a:lnTo>
                      <a:lnTo>
                        <a:pt x="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00FF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96" name="Google Shape;496;p19"/>
          <p:cNvSpPr/>
          <p:nvPr/>
        </p:nvSpPr>
        <p:spPr>
          <a:xfrm>
            <a:off x="6265863" y="18399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6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9" y="320"/>
                </a:lnTo>
                <a:lnTo>
                  <a:pt x="229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7" y="34"/>
                </a:lnTo>
                <a:lnTo>
                  <a:pt x="76" y="19"/>
                </a:lnTo>
                <a:lnTo>
                  <a:pt x="90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90" y="100"/>
                </a:lnTo>
                <a:lnTo>
                  <a:pt x="76" y="89"/>
                </a:lnTo>
                <a:lnTo>
                  <a:pt x="67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6265863" y="2033588"/>
            <a:ext cx="365125" cy="709612"/>
          </a:xfrm>
          <a:custGeom>
            <a:rect b="b" l="l" r="r" t="t"/>
            <a:pathLst>
              <a:path extrusionOk="0" h="447" w="230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6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63706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3" y="31"/>
                </a:lnTo>
                <a:lnTo>
                  <a:pt x="12" y="18"/>
                </a:lnTo>
                <a:lnTo>
                  <a:pt x="25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5" y="93"/>
                </a:lnTo>
                <a:lnTo>
                  <a:pt x="12" y="83"/>
                </a:lnTo>
                <a:lnTo>
                  <a:pt x="3" y="68"/>
                </a:lnTo>
                <a:lnTo>
                  <a:pt x="0" y="49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5351463" y="18399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6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9" y="320"/>
                </a:lnTo>
                <a:lnTo>
                  <a:pt x="229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8" y="34"/>
                </a:lnTo>
                <a:lnTo>
                  <a:pt x="76" y="19"/>
                </a:lnTo>
                <a:lnTo>
                  <a:pt x="90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90" y="100"/>
                </a:lnTo>
                <a:lnTo>
                  <a:pt x="76" y="89"/>
                </a:lnTo>
                <a:lnTo>
                  <a:pt x="68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5351463" y="2033588"/>
            <a:ext cx="365125" cy="709612"/>
          </a:xfrm>
          <a:custGeom>
            <a:rect b="b" l="l" r="r" t="t"/>
            <a:pathLst>
              <a:path extrusionOk="0" h="447" w="230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6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54562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4" y="31"/>
                </a:lnTo>
                <a:lnTo>
                  <a:pt x="12" y="18"/>
                </a:lnTo>
                <a:lnTo>
                  <a:pt x="25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5" y="93"/>
                </a:lnTo>
                <a:lnTo>
                  <a:pt x="12" y="83"/>
                </a:lnTo>
                <a:lnTo>
                  <a:pt x="4" y="68"/>
                </a:lnTo>
                <a:lnTo>
                  <a:pt x="0" y="49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7180263" y="1839913"/>
            <a:ext cx="363537" cy="903287"/>
          </a:xfrm>
          <a:custGeom>
            <a:rect b="b" l="l" r="r" t="t"/>
            <a:pathLst>
              <a:path extrusionOk="0" h="569" w="229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5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8" y="320"/>
                </a:lnTo>
                <a:lnTo>
                  <a:pt x="228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7" y="34"/>
                </a:lnTo>
                <a:lnTo>
                  <a:pt x="76" y="19"/>
                </a:lnTo>
                <a:lnTo>
                  <a:pt x="89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89" y="100"/>
                </a:lnTo>
                <a:lnTo>
                  <a:pt x="76" y="89"/>
                </a:lnTo>
                <a:lnTo>
                  <a:pt x="67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7180263" y="2033588"/>
            <a:ext cx="363537" cy="709612"/>
          </a:xfrm>
          <a:custGeom>
            <a:rect b="b" l="l" r="r" t="t"/>
            <a:pathLst>
              <a:path extrusionOk="0" h="447" w="229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5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8" y="198"/>
                </a:lnTo>
                <a:lnTo>
                  <a:pt x="228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72850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3" y="31"/>
                </a:lnTo>
                <a:lnTo>
                  <a:pt x="12" y="18"/>
                </a:lnTo>
                <a:lnTo>
                  <a:pt x="24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4" y="93"/>
                </a:lnTo>
                <a:lnTo>
                  <a:pt x="12" y="83"/>
                </a:lnTo>
                <a:lnTo>
                  <a:pt x="3" y="68"/>
                </a:lnTo>
                <a:lnTo>
                  <a:pt x="0" y="49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4894263" y="18399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6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9" y="320"/>
                </a:lnTo>
                <a:lnTo>
                  <a:pt x="229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8" y="34"/>
                </a:lnTo>
                <a:lnTo>
                  <a:pt x="76" y="19"/>
                </a:lnTo>
                <a:lnTo>
                  <a:pt x="90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90" y="100"/>
                </a:lnTo>
                <a:lnTo>
                  <a:pt x="76" y="89"/>
                </a:lnTo>
                <a:lnTo>
                  <a:pt x="68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4894263" y="2033588"/>
            <a:ext cx="365125" cy="709612"/>
          </a:xfrm>
          <a:custGeom>
            <a:rect b="b" l="l" r="r" t="t"/>
            <a:pathLst>
              <a:path extrusionOk="0" h="447" w="230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6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49990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4" y="31"/>
                </a:lnTo>
                <a:lnTo>
                  <a:pt x="12" y="18"/>
                </a:lnTo>
                <a:lnTo>
                  <a:pt x="25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5" y="93"/>
                </a:lnTo>
                <a:lnTo>
                  <a:pt x="12" y="83"/>
                </a:lnTo>
                <a:lnTo>
                  <a:pt x="4" y="68"/>
                </a:lnTo>
                <a:lnTo>
                  <a:pt x="0" y="49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808663" y="18399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6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9" y="320"/>
                </a:lnTo>
                <a:lnTo>
                  <a:pt x="229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8" y="34"/>
                </a:lnTo>
                <a:lnTo>
                  <a:pt x="76" y="19"/>
                </a:lnTo>
                <a:lnTo>
                  <a:pt x="90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90" y="100"/>
                </a:lnTo>
                <a:lnTo>
                  <a:pt x="76" y="89"/>
                </a:lnTo>
                <a:lnTo>
                  <a:pt x="68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5808663" y="2033588"/>
            <a:ext cx="365125" cy="709612"/>
          </a:xfrm>
          <a:custGeom>
            <a:rect b="b" l="l" r="r" t="t"/>
            <a:pathLst>
              <a:path extrusionOk="0" h="447" w="230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6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59134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4" y="31"/>
                </a:lnTo>
                <a:lnTo>
                  <a:pt x="12" y="18"/>
                </a:lnTo>
                <a:lnTo>
                  <a:pt x="25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5" y="93"/>
                </a:lnTo>
                <a:lnTo>
                  <a:pt x="12" y="83"/>
                </a:lnTo>
                <a:lnTo>
                  <a:pt x="4" y="68"/>
                </a:lnTo>
                <a:lnTo>
                  <a:pt x="0" y="49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6723063" y="1839913"/>
            <a:ext cx="363537" cy="903287"/>
          </a:xfrm>
          <a:custGeom>
            <a:rect b="b" l="l" r="r" t="t"/>
            <a:pathLst>
              <a:path extrusionOk="0" h="569" w="229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5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8" y="320"/>
                </a:lnTo>
                <a:lnTo>
                  <a:pt x="228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7" y="34"/>
                </a:lnTo>
                <a:lnTo>
                  <a:pt x="76" y="19"/>
                </a:lnTo>
                <a:lnTo>
                  <a:pt x="90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90" y="100"/>
                </a:lnTo>
                <a:lnTo>
                  <a:pt x="76" y="89"/>
                </a:lnTo>
                <a:lnTo>
                  <a:pt x="67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6723063" y="2033588"/>
            <a:ext cx="363537" cy="709612"/>
          </a:xfrm>
          <a:custGeom>
            <a:rect b="b" l="l" r="r" t="t"/>
            <a:pathLst>
              <a:path extrusionOk="0" h="447" w="229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5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8" y="198"/>
                </a:lnTo>
                <a:lnTo>
                  <a:pt x="228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68278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3" y="31"/>
                </a:lnTo>
                <a:lnTo>
                  <a:pt x="12" y="18"/>
                </a:lnTo>
                <a:lnTo>
                  <a:pt x="25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5" y="93"/>
                </a:lnTo>
                <a:lnTo>
                  <a:pt x="12" y="83"/>
                </a:lnTo>
                <a:lnTo>
                  <a:pt x="3" y="68"/>
                </a:lnTo>
                <a:lnTo>
                  <a:pt x="0" y="49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7637463" y="1839913"/>
            <a:ext cx="363537" cy="903287"/>
          </a:xfrm>
          <a:custGeom>
            <a:rect b="b" l="l" r="r" t="t"/>
            <a:pathLst>
              <a:path extrusionOk="0" h="569" w="229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8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5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8" y="320"/>
                </a:lnTo>
                <a:lnTo>
                  <a:pt x="228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7" y="34"/>
                </a:lnTo>
                <a:lnTo>
                  <a:pt x="76" y="19"/>
                </a:lnTo>
                <a:lnTo>
                  <a:pt x="89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89" y="100"/>
                </a:lnTo>
                <a:lnTo>
                  <a:pt x="76" y="89"/>
                </a:lnTo>
                <a:lnTo>
                  <a:pt x="67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7637463" y="2033588"/>
            <a:ext cx="363537" cy="709612"/>
          </a:xfrm>
          <a:custGeom>
            <a:rect b="b" l="l" r="r" t="t"/>
            <a:pathLst>
              <a:path extrusionOk="0" h="447" w="229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8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5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8" y="198"/>
                </a:lnTo>
                <a:lnTo>
                  <a:pt x="228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77422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3" y="31"/>
                </a:lnTo>
                <a:lnTo>
                  <a:pt x="12" y="18"/>
                </a:lnTo>
                <a:lnTo>
                  <a:pt x="24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4" y="93"/>
                </a:lnTo>
                <a:lnTo>
                  <a:pt x="12" y="83"/>
                </a:lnTo>
                <a:lnTo>
                  <a:pt x="3" y="68"/>
                </a:lnTo>
                <a:lnTo>
                  <a:pt x="0" y="49"/>
                </a:ln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8094663" y="1839913"/>
            <a:ext cx="363537" cy="903287"/>
          </a:xfrm>
          <a:custGeom>
            <a:rect b="b" l="l" r="r" t="t"/>
            <a:pathLst>
              <a:path extrusionOk="0" h="569" w="229">
                <a:moveTo>
                  <a:pt x="127" y="539"/>
                </a:moveTo>
                <a:lnTo>
                  <a:pt x="130" y="552"/>
                </a:lnTo>
                <a:lnTo>
                  <a:pt x="139" y="564"/>
                </a:lnTo>
                <a:lnTo>
                  <a:pt x="153" y="568"/>
                </a:lnTo>
                <a:lnTo>
                  <a:pt x="157" y="568"/>
                </a:lnTo>
                <a:lnTo>
                  <a:pt x="171" y="564"/>
                </a:lnTo>
                <a:lnTo>
                  <a:pt x="181" y="552"/>
                </a:lnTo>
                <a:lnTo>
                  <a:pt x="184" y="539"/>
                </a:lnTo>
                <a:lnTo>
                  <a:pt x="184" y="331"/>
                </a:lnTo>
                <a:lnTo>
                  <a:pt x="184" y="168"/>
                </a:lnTo>
                <a:lnTo>
                  <a:pt x="185" y="163"/>
                </a:lnTo>
                <a:lnTo>
                  <a:pt x="189" y="161"/>
                </a:lnTo>
                <a:lnTo>
                  <a:pt x="193" y="163"/>
                </a:lnTo>
                <a:lnTo>
                  <a:pt x="195" y="168"/>
                </a:lnTo>
                <a:lnTo>
                  <a:pt x="195" y="320"/>
                </a:lnTo>
                <a:lnTo>
                  <a:pt x="197" y="327"/>
                </a:lnTo>
                <a:lnTo>
                  <a:pt x="203" y="334"/>
                </a:lnTo>
                <a:lnTo>
                  <a:pt x="212" y="336"/>
                </a:lnTo>
                <a:lnTo>
                  <a:pt x="221" y="334"/>
                </a:lnTo>
                <a:lnTo>
                  <a:pt x="227" y="327"/>
                </a:lnTo>
                <a:lnTo>
                  <a:pt x="228" y="320"/>
                </a:lnTo>
                <a:lnTo>
                  <a:pt x="228" y="140"/>
                </a:lnTo>
                <a:lnTo>
                  <a:pt x="227" y="130"/>
                </a:lnTo>
                <a:lnTo>
                  <a:pt x="221" y="122"/>
                </a:lnTo>
                <a:lnTo>
                  <a:pt x="212" y="120"/>
                </a:lnTo>
                <a:lnTo>
                  <a:pt x="17" y="120"/>
                </a:lnTo>
                <a:lnTo>
                  <a:pt x="8" y="122"/>
                </a:lnTo>
                <a:lnTo>
                  <a:pt x="2" y="130"/>
                </a:lnTo>
                <a:lnTo>
                  <a:pt x="0" y="140"/>
                </a:lnTo>
                <a:lnTo>
                  <a:pt x="0" y="320"/>
                </a:lnTo>
                <a:lnTo>
                  <a:pt x="2" y="327"/>
                </a:lnTo>
                <a:lnTo>
                  <a:pt x="8" y="334"/>
                </a:lnTo>
                <a:lnTo>
                  <a:pt x="17" y="336"/>
                </a:lnTo>
                <a:lnTo>
                  <a:pt x="26" y="334"/>
                </a:lnTo>
                <a:lnTo>
                  <a:pt x="32" y="327"/>
                </a:lnTo>
                <a:lnTo>
                  <a:pt x="34" y="320"/>
                </a:lnTo>
                <a:lnTo>
                  <a:pt x="34" y="168"/>
                </a:lnTo>
                <a:lnTo>
                  <a:pt x="36" y="163"/>
                </a:lnTo>
                <a:lnTo>
                  <a:pt x="42" y="161"/>
                </a:lnTo>
                <a:lnTo>
                  <a:pt x="44" y="163"/>
                </a:lnTo>
                <a:lnTo>
                  <a:pt x="46" y="168"/>
                </a:lnTo>
                <a:lnTo>
                  <a:pt x="46" y="331"/>
                </a:lnTo>
                <a:lnTo>
                  <a:pt x="46" y="539"/>
                </a:lnTo>
                <a:lnTo>
                  <a:pt x="48" y="552"/>
                </a:lnTo>
                <a:lnTo>
                  <a:pt x="58" y="564"/>
                </a:lnTo>
                <a:lnTo>
                  <a:pt x="71" y="568"/>
                </a:lnTo>
                <a:lnTo>
                  <a:pt x="78" y="568"/>
                </a:lnTo>
                <a:lnTo>
                  <a:pt x="91" y="564"/>
                </a:lnTo>
                <a:lnTo>
                  <a:pt x="100" y="552"/>
                </a:lnTo>
                <a:lnTo>
                  <a:pt x="104" y="539"/>
                </a:lnTo>
                <a:lnTo>
                  <a:pt x="104" y="342"/>
                </a:lnTo>
                <a:lnTo>
                  <a:pt x="106" y="334"/>
                </a:lnTo>
                <a:lnTo>
                  <a:pt x="115" y="331"/>
                </a:lnTo>
                <a:lnTo>
                  <a:pt x="123" y="334"/>
                </a:lnTo>
                <a:lnTo>
                  <a:pt x="127" y="342"/>
                </a:lnTo>
                <a:lnTo>
                  <a:pt x="127" y="539"/>
                </a:lnTo>
                <a:lnTo>
                  <a:pt x="64" y="52"/>
                </a:lnTo>
                <a:lnTo>
                  <a:pt x="67" y="34"/>
                </a:lnTo>
                <a:lnTo>
                  <a:pt x="76" y="19"/>
                </a:lnTo>
                <a:lnTo>
                  <a:pt x="89" y="7"/>
                </a:lnTo>
                <a:lnTo>
                  <a:pt x="106" y="0"/>
                </a:lnTo>
                <a:lnTo>
                  <a:pt x="123" y="0"/>
                </a:lnTo>
                <a:lnTo>
                  <a:pt x="139" y="7"/>
                </a:lnTo>
                <a:lnTo>
                  <a:pt x="155" y="19"/>
                </a:lnTo>
                <a:lnTo>
                  <a:pt x="161" y="34"/>
                </a:lnTo>
                <a:lnTo>
                  <a:pt x="165" y="52"/>
                </a:lnTo>
                <a:lnTo>
                  <a:pt x="161" y="72"/>
                </a:lnTo>
                <a:lnTo>
                  <a:pt x="155" y="89"/>
                </a:lnTo>
                <a:lnTo>
                  <a:pt x="139" y="100"/>
                </a:lnTo>
                <a:lnTo>
                  <a:pt x="123" y="106"/>
                </a:lnTo>
                <a:lnTo>
                  <a:pt x="106" y="106"/>
                </a:lnTo>
                <a:lnTo>
                  <a:pt x="89" y="100"/>
                </a:lnTo>
                <a:lnTo>
                  <a:pt x="76" y="89"/>
                </a:lnTo>
                <a:lnTo>
                  <a:pt x="67" y="72"/>
                </a:lnTo>
                <a:lnTo>
                  <a:pt x="64" y="52"/>
                </a:lnTo>
                <a:lnTo>
                  <a:pt x="127" y="539"/>
                </a:lnTo>
              </a:path>
            </a:pathLst>
          </a:custGeom>
          <a:solidFill>
            <a:srgbClr val="00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8094663" y="2033588"/>
            <a:ext cx="363537" cy="709612"/>
          </a:xfrm>
          <a:custGeom>
            <a:rect b="b" l="l" r="r" t="t"/>
            <a:pathLst>
              <a:path extrusionOk="0" h="447" w="229">
                <a:moveTo>
                  <a:pt x="127" y="418"/>
                </a:moveTo>
                <a:lnTo>
                  <a:pt x="130" y="430"/>
                </a:lnTo>
                <a:lnTo>
                  <a:pt x="139" y="442"/>
                </a:lnTo>
                <a:lnTo>
                  <a:pt x="153" y="446"/>
                </a:lnTo>
                <a:lnTo>
                  <a:pt x="157" y="446"/>
                </a:lnTo>
                <a:lnTo>
                  <a:pt x="171" y="442"/>
                </a:lnTo>
                <a:lnTo>
                  <a:pt x="181" y="430"/>
                </a:lnTo>
                <a:lnTo>
                  <a:pt x="184" y="418"/>
                </a:lnTo>
                <a:lnTo>
                  <a:pt x="184" y="210"/>
                </a:lnTo>
                <a:lnTo>
                  <a:pt x="184" y="47"/>
                </a:lnTo>
                <a:lnTo>
                  <a:pt x="185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8" y="198"/>
                </a:lnTo>
                <a:lnTo>
                  <a:pt x="228" y="20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20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2" y="40"/>
                </a:lnTo>
                <a:lnTo>
                  <a:pt x="44" y="42"/>
                </a:lnTo>
                <a:lnTo>
                  <a:pt x="46" y="47"/>
                </a:lnTo>
                <a:lnTo>
                  <a:pt x="46" y="210"/>
                </a:lnTo>
                <a:lnTo>
                  <a:pt x="46" y="418"/>
                </a:lnTo>
                <a:lnTo>
                  <a:pt x="48" y="430"/>
                </a:lnTo>
                <a:lnTo>
                  <a:pt x="58" y="442"/>
                </a:lnTo>
                <a:lnTo>
                  <a:pt x="71" y="446"/>
                </a:lnTo>
                <a:lnTo>
                  <a:pt x="78" y="446"/>
                </a:lnTo>
                <a:lnTo>
                  <a:pt x="91" y="442"/>
                </a:lnTo>
                <a:lnTo>
                  <a:pt x="100" y="430"/>
                </a:lnTo>
                <a:lnTo>
                  <a:pt x="104" y="418"/>
                </a:lnTo>
                <a:lnTo>
                  <a:pt x="104" y="221"/>
                </a:lnTo>
                <a:lnTo>
                  <a:pt x="106" y="213"/>
                </a:lnTo>
                <a:lnTo>
                  <a:pt x="115" y="210"/>
                </a:lnTo>
                <a:lnTo>
                  <a:pt x="123" y="213"/>
                </a:lnTo>
                <a:lnTo>
                  <a:pt x="127" y="221"/>
                </a:lnTo>
                <a:lnTo>
                  <a:pt x="127" y="418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8199438" y="1839913"/>
            <a:ext cx="155575" cy="158750"/>
          </a:xfrm>
          <a:custGeom>
            <a:rect b="b" l="l" r="r" t="t"/>
            <a:pathLst>
              <a:path extrusionOk="0" h="100" w="98">
                <a:moveTo>
                  <a:pt x="0" y="49"/>
                </a:moveTo>
                <a:lnTo>
                  <a:pt x="3" y="31"/>
                </a:lnTo>
                <a:lnTo>
                  <a:pt x="12" y="18"/>
                </a:lnTo>
                <a:lnTo>
                  <a:pt x="24" y="6"/>
                </a:lnTo>
                <a:lnTo>
                  <a:pt x="41" y="0"/>
                </a:lnTo>
                <a:lnTo>
                  <a:pt x="56" y="0"/>
                </a:lnTo>
                <a:lnTo>
                  <a:pt x="72" y="6"/>
                </a:lnTo>
                <a:lnTo>
                  <a:pt x="87" y="18"/>
                </a:lnTo>
                <a:lnTo>
                  <a:pt x="93" y="31"/>
                </a:lnTo>
                <a:lnTo>
                  <a:pt x="97" y="49"/>
                </a:lnTo>
                <a:lnTo>
                  <a:pt x="93" y="68"/>
                </a:lnTo>
                <a:lnTo>
                  <a:pt x="87" y="83"/>
                </a:lnTo>
                <a:lnTo>
                  <a:pt x="72" y="93"/>
                </a:lnTo>
                <a:lnTo>
                  <a:pt x="56" y="99"/>
                </a:lnTo>
                <a:lnTo>
                  <a:pt x="41" y="99"/>
                </a:lnTo>
                <a:lnTo>
                  <a:pt x="24" y="93"/>
                </a:lnTo>
                <a:lnTo>
                  <a:pt x="12" y="83"/>
                </a:lnTo>
                <a:lnTo>
                  <a:pt x="3" y="68"/>
                </a:lnTo>
                <a:lnTo>
                  <a:pt x="0" y="49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7256463" y="51927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40"/>
                </a:moveTo>
                <a:lnTo>
                  <a:pt x="129" y="553"/>
                </a:lnTo>
                <a:lnTo>
                  <a:pt x="137" y="565"/>
                </a:lnTo>
                <a:lnTo>
                  <a:pt x="151" y="568"/>
                </a:lnTo>
                <a:lnTo>
                  <a:pt x="158" y="568"/>
                </a:lnTo>
                <a:lnTo>
                  <a:pt x="171" y="565"/>
                </a:lnTo>
                <a:lnTo>
                  <a:pt x="181" y="553"/>
                </a:lnTo>
                <a:lnTo>
                  <a:pt x="184" y="540"/>
                </a:lnTo>
                <a:lnTo>
                  <a:pt x="184" y="331"/>
                </a:lnTo>
                <a:lnTo>
                  <a:pt x="184" y="169"/>
                </a:lnTo>
                <a:lnTo>
                  <a:pt x="184" y="164"/>
                </a:lnTo>
                <a:lnTo>
                  <a:pt x="189" y="162"/>
                </a:lnTo>
                <a:lnTo>
                  <a:pt x="193" y="164"/>
                </a:lnTo>
                <a:lnTo>
                  <a:pt x="195" y="169"/>
                </a:lnTo>
                <a:lnTo>
                  <a:pt x="195" y="320"/>
                </a:lnTo>
                <a:lnTo>
                  <a:pt x="197" y="328"/>
                </a:lnTo>
                <a:lnTo>
                  <a:pt x="203" y="335"/>
                </a:lnTo>
                <a:lnTo>
                  <a:pt x="212" y="337"/>
                </a:lnTo>
                <a:lnTo>
                  <a:pt x="221" y="335"/>
                </a:lnTo>
                <a:lnTo>
                  <a:pt x="227" y="328"/>
                </a:lnTo>
                <a:lnTo>
                  <a:pt x="229" y="320"/>
                </a:lnTo>
                <a:lnTo>
                  <a:pt x="229" y="140"/>
                </a:lnTo>
                <a:lnTo>
                  <a:pt x="227" y="131"/>
                </a:lnTo>
                <a:lnTo>
                  <a:pt x="221" y="123"/>
                </a:lnTo>
                <a:lnTo>
                  <a:pt x="212" y="121"/>
                </a:lnTo>
                <a:lnTo>
                  <a:pt x="17" y="121"/>
                </a:lnTo>
                <a:lnTo>
                  <a:pt x="8" y="123"/>
                </a:lnTo>
                <a:lnTo>
                  <a:pt x="2" y="131"/>
                </a:lnTo>
                <a:lnTo>
                  <a:pt x="0" y="140"/>
                </a:lnTo>
                <a:lnTo>
                  <a:pt x="0" y="320"/>
                </a:lnTo>
                <a:lnTo>
                  <a:pt x="2" y="328"/>
                </a:lnTo>
                <a:lnTo>
                  <a:pt x="8" y="335"/>
                </a:lnTo>
                <a:lnTo>
                  <a:pt x="17" y="337"/>
                </a:lnTo>
                <a:lnTo>
                  <a:pt x="26" y="335"/>
                </a:lnTo>
                <a:lnTo>
                  <a:pt x="32" y="328"/>
                </a:lnTo>
                <a:lnTo>
                  <a:pt x="34" y="320"/>
                </a:lnTo>
                <a:lnTo>
                  <a:pt x="34" y="169"/>
                </a:lnTo>
                <a:lnTo>
                  <a:pt x="36" y="164"/>
                </a:lnTo>
                <a:lnTo>
                  <a:pt x="40" y="162"/>
                </a:lnTo>
                <a:lnTo>
                  <a:pt x="44" y="164"/>
                </a:lnTo>
                <a:lnTo>
                  <a:pt x="44" y="169"/>
                </a:lnTo>
                <a:lnTo>
                  <a:pt x="44" y="331"/>
                </a:lnTo>
                <a:lnTo>
                  <a:pt x="44" y="540"/>
                </a:lnTo>
                <a:lnTo>
                  <a:pt x="48" y="553"/>
                </a:lnTo>
                <a:lnTo>
                  <a:pt x="58" y="565"/>
                </a:lnTo>
                <a:lnTo>
                  <a:pt x="71" y="568"/>
                </a:lnTo>
                <a:lnTo>
                  <a:pt x="78" y="568"/>
                </a:lnTo>
                <a:lnTo>
                  <a:pt x="91" y="565"/>
                </a:lnTo>
                <a:lnTo>
                  <a:pt x="100" y="553"/>
                </a:lnTo>
                <a:lnTo>
                  <a:pt x="102" y="540"/>
                </a:lnTo>
                <a:lnTo>
                  <a:pt x="102" y="343"/>
                </a:lnTo>
                <a:lnTo>
                  <a:pt x="106" y="335"/>
                </a:lnTo>
                <a:lnTo>
                  <a:pt x="114" y="331"/>
                </a:lnTo>
                <a:lnTo>
                  <a:pt x="123" y="335"/>
                </a:lnTo>
                <a:lnTo>
                  <a:pt x="127" y="343"/>
                </a:lnTo>
                <a:lnTo>
                  <a:pt x="127" y="540"/>
                </a:lnTo>
                <a:lnTo>
                  <a:pt x="64" y="53"/>
                </a:lnTo>
                <a:lnTo>
                  <a:pt x="68" y="35"/>
                </a:lnTo>
                <a:lnTo>
                  <a:pt x="74" y="20"/>
                </a:lnTo>
                <a:lnTo>
                  <a:pt x="90" y="8"/>
                </a:lnTo>
                <a:lnTo>
                  <a:pt x="106" y="0"/>
                </a:lnTo>
                <a:lnTo>
                  <a:pt x="123" y="0"/>
                </a:lnTo>
                <a:lnTo>
                  <a:pt x="139" y="8"/>
                </a:lnTo>
                <a:lnTo>
                  <a:pt x="153" y="20"/>
                </a:lnTo>
                <a:lnTo>
                  <a:pt x="161" y="35"/>
                </a:lnTo>
                <a:lnTo>
                  <a:pt x="165" y="53"/>
                </a:lnTo>
                <a:lnTo>
                  <a:pt x="161" y="72"/>
                </a:lnTo>
                <a:lnTo>
                  <a:pt x="153" y="90"/>
                </a:lnTo>
                <a:lnTo>
                  <a:pt x="139" y="101"/>
                </a:lnTo>
                <a:lnTo>
                  <a:pt x="123" y="107"/>
                </a:lnTo>
                <a:lnTo>
                  <a:pt x="106" y="107"/>
                </a:lnTo>
                <a:lnTo>
                  <a:pt x="90" y="101"/>
                </a:lnTo>
                <a:lnTo>
                  <a:pt x="74" y="90"/>
                </a:lnTo>
                <a:lnTo>
                  <a:pt x="68" y="72"/>
                </a:lnTo>
                <a:lnTo>
                  <a:pt x="64" y="53"/>
                </a:lnTo>
                <a:lnTo>
                  <a:pt x="127" y="540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7256463" y="5387975"/>
            <a:ext cx="365125" cy="708025"/>
          </a:xfrm>
          <a:custGeom>
            <a:rect b="b" l="l" r="r" t="t"/>
            <a:pathLst>
              <a:path extrusionOk="0" h="446" w="230">
                <a:moveTo>
                  <a:pt x="127" y="417"/>
                </a:moveTo>
                <a:lnTo>
                  <a:pt x="129" y="430"/>
                </a:lnTo>
                <a:lnTo>
                  <a:pt x="137" y="442"/>
                </a:lnTo>
                <a:lnTo>
                  <a:pt x="151" y="445"/>
                </a:lnTo>
                <a:lnTo>
                  <a:pt x="158" y="445"/>
                </a:lnTo>
                <a:lnTo>
                  <a:pt x="171" y="442"/>
                </a:lnTo>
                <a:lnTo>
                  <a:pt x="181" y="430"/>
                </a:lnTo>
                <a:lnTo>
                  <a:pt x="184" y="417"/>
                </a:lnTo>
                <a:lnTo>
                  <a:pt x="184" y="209"/>
                </a:lnTo>
                <a:lnTo>
                  <a:pt x="184" y="47"/>
                </a:lnTo>
                <a:lnTo>
                  <a:pt x="184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19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19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0" y="40"/>
                </a:lnTo>
                <a:lnTo>
                  <a:pt x="44" y="42"/>
                </a:lnTo>
                <a:lnTo>
                  <a:pt x="44" y="47"/>
                </a:lnTo>
                <a:lnTo>
                  <a:pt x="44" y="209"/>
                </a:lnTo>
                <a:lnTo>
                  <a:pt x="44" y="417"/>
                </a:lnTo>
                <a:lnTo>
                  <a:pt x="48" y="430"/>
                </a:lnTo>
                <a:lnTo>
                  <a:pt x="58" y="442"/>
                </a:lnTo>
                <a:lnTo>
                  <a:pt x="71" y="445"/>
                </a:lnTo>
                <a:lnTo>
                  <a:pt x="78" y="445"/>
                </a:lnTo>
                <a:lnTo>
                  <a:pt x="91" y="442"/>
                </a:lnTo>
                <a:lnTo>
                  <a:pt x="100" y="430"/>
                </a:lnTo>
                <a:lnTo>
                  <a:pt x="102" y="417"/>
                </a:lnTo>
                <a:lnTo>
                  <a:pt x="102" y="221"/>
                </a:lnTo>
                <a:lnTo>
                  <a:pt x="106" y="213"/>
                </a:lnTo>
                <a:lnTo>
                  <a:pt x="114" y="209"/>
                </a:lnTo>
                <a:lnTo>
                  <a:pt x="123" y="213"/>
                </a:lnTo>
                <a:lnTo>
                  <a:pt x="127" y="221"/>
                </a:lnTo>
                <a:lnTo>
                  <a:pt x="127" y="417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7361238" y="5192713"/>
            <a:ext cx="155575" cy="160337"/>
          </a:xfrm>
          <a:custGeom>
            <a:rect b="b" l="l" r="r" t="t"/>
            <a:pathLst>
              <a:path extrusionOk="0" h="101" w="98">
                <a:moveTo>
                  <a:pt x="0" y="50"/>
                </a:moveTo>
                <a:lnTo>
                  <a:pt x="4" y="32"/>
                </a:lnTo>
                <a:lnTo>
                  <a:pt x="10" y="19"/>
                </a:lnTo>
                <a:lnTo>
                  <a:pt x="25" y="7"/>
                </a:lnTo>
                <a:lnTo>
                  <a:pt x="41" y="0"/>
                </a:lnTo>
                <a:lnTo>
                  <a:pt x="56" y="0"/>
                </a:lnTo>
                <a:lnTo>
                  <a:pt x="72" y="7"/>
                </a:lnTo>
                <a:lnTo>
                  <a:pt x="85" y="19"/>
                </a:lnTo>
                <a:lnTo>
                  <a:pt x="93" y="32"/>
                </a:lnTo>
                <a:lnTo>
                  <a:pt x="97" y="50"/>
                </a:lnTo>
                <a:lnTo>
                  <a:pt x="93" y="68"/>
                </a:lnTo>
                <a:lnTo>
                  <a:pt x="85" y="84"/>
                </a:lnTo>
                <a:lnTo>
                  <a:pt x="72" y="94"/>
                </a:lnTo>
                <a:lnTo>
                  <a:pt x="56" y="100"/>
                </a:lnTo>
                <a:lnTo>
                  <a:pt x="41" y="100"/>
                </a:lnTo>
                <a:lnTo>
                  <a:pt x="25" y="94"/>
                </a:lnTo>
                <a:lnTo>
                  <a:pt x="10" y="84"/>
                </a:lnTo>
                <a:lnTo>
                  <a:pt x="4" y="68"/>
                </a:lnTo>
                <a:lnTo>
                  <a:pt x="0" y="50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7713663" y="51927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40"/>
                </a:moveTo>
                <a:lnTo>
                  <a:pt x="129" y="553"/>
                </a:lnTo>
                <a:lnTo>
                  <a:pt x="137" y="565"/>
                </a:lnTo>
                <a:lnTo>
                  <a:pt x="151" y="568"/>
                </a:lnTo>
                <a:lnTo>
                  <a:pt x="158" y="568"/>
                </a:lnTo>
                <a:lnTo>
                  <a:pt x="171" y="565"/>
                </a:lnTo>
                <a:lnTo>
                  <a:pt x="181" y="553"/>
                </a:lnTo>
                <a:lnTo>
                  <a:pt x="184" y="540"/>
                </a:lnTo>
                <a:lnTo>
                  <a:pt x="184" y="331"/>
                </a:lnTo>
                <a:lnTo>
                  <a:pt x="184" y="169"/>
                </a:lnTo>
                <a:lnTo>
                  <a:pt x="184" y="164"/>
                </a:lnTo>
                <a:lnTo>
                  <a:pt x="189" y="162"/>
                </a:lnTo>
                <a:lnTo>
                  <a:pt x="193" y="164"/>
                </a:lnTo>
                <a:lnTo>
                  <a:pt x="195" y="169"/>
                </a:lnTo>
                <a:lnTo>
                  <a:pt x="195" y="320"/>
                </a:lnTo>
                <a:lnTo>
                  <a:pt x="197" y="328"/>
                </a:lnTo>
                <a:lnTo>
                  <a:pt x="203" y="335"/>
                </a:lnTo>
                <a:lnTo>
                  <a:pt x="212" y="337"/>
                </a:lnTo>
                <a:lnTo>
                  <a:pt x="221" y="335"/>
                </a:lnTo>
                <a:lnTo>
                  <a:pt x="227" y="328"/>
                </a:lnTo>
                <a:lnTo>
                  <a:pt x="229" y="320"/>
                </a:lnTo>
                <a:lnTo>
                  <a:pt x="229" y="140"/>
                </a:lnTo>
                <a:lnTo>
                  <a:pt x="227" y="131"/>
                </a:lnTo>
                <a:lnTo>
                  <a:pt x="221" y="123"/>
                </a:lnTo>
                <a:lnTo>
                  <a:pt x="212" y="121"/>
                </a:lnTo>
                <a:lnTo>
                  <a:pt x="17" y="121"/>
                </a:lnTo>
                <a:lnTo>
                  <a:pt x="8" y="123"/>
                </a:lnTo>
                <a:lnTo>
                  <a:pt x="2" y="131"/>
                </a:lnTo>
                <a:lnTo>
                  <a:pt x="0" y="140"/>
                </a:lnTo>
                <a:lnTo>
                  <a:pt x="0" y="320"/>
                </a:lnTo>
                <a:lnTo>
                  <a:pt x="2" y="328"/>
                </a:lnTo>
                <a:lnTo>
                  <a:pt x="8" y="335"/>
                </a:lnTo>
                <a:lnTo>
                  <a:pt x="17" y="337"/>
                </a:lnTo>
                <a:lnTo>
                  <a:pt x="26" y="335"/>
                </a:lnTo>
                <a:lnTo>
                  <a:pt x="32" y="328"/>
                </a:lnTo>
                <a:lnTo>
                  <a:pt x="34" y="320"/>
                </a:lnTo>
                <a:lnTo>
                  <a:pt x="34" y="169"/>
                </a:lnTo>
                <a:lnTo>
                  <a:pt x="36" y="164"/>
                </a:lnTo>
                <a:lnTo>
                  <a:pt x="40" y="162"/>
                </a:lnTo>
                <a:lnTo>
                  <a:pt x="44" y="164"/>
                </a:lnTo>
                <a:lnTo>
                  <a:pt x="44" y="169"/>
                </a:lnTo>
                <a:lnTo>
                  <a:pt x="44" y="331"/>
                </a:lnTo>
                <a:lnTo>
                  <a:pt x="44" y="540"/>
                </a:lnTo>
                <a:lnTo>
                  <a:pt x="48" y="553"/>
                </a:lnTo>
                <a:lnTo>
                  <a:pt x="58" y="565"/>
                </a:lnTo>
                <a:lnTo>
                  <a:pt x="71" y="568"/>
                </a:lnTo>
                <a:lnTo>
                  <a:pt x="78" y="568"/>
                </a:lnTo>
                <a:lnTo>
                  <a:pt x="91" y="565"/>
                </a:lnTo>
                <a:lnTo>
                  <a:pt x="100" y="553"/>
                </a:lnTo>
                <a:lnTo>
                  <a:pt x="102" y="540"/>
                </a:lnTo>
                <a:lnTo>
                  <a:pt x="102" y="343"/>
                </a:lnTo>
                <a:lnTo>
                  <a:pt x="106" y="335"/>
                </a:lnTo>
                <a:lnTo>
                  <a:pt x="113" y="331"/>
                </a:lnTo>
                <a:lnTo>
                  <a:pt x="123" y="335"/>
                </a:lnTo>
                <a:lnTo>
                  <a:pt x="127" y="343"/>
                </a:lnTo>
                <a:lnTo>
                  <a:pt x="127" y="540"/>
                </a:lnTo>
                <a:lnTo>
                  <a:pt x="64" y="53"/>
                </a:lnTo>
                <a:lnTo>
                  <a:pt x="67" y="35"/>
                </a:lnTo>
                <a:lnTo>
                  <a:pt x="74" y="20"/>
                </a:lnTo>
                <a:lnTo>
                  <a:pt x="90" y="8"/>
                </a:lnTo>
                <a:lnTo>
                  <a:pt x="106" y="0"/>
                </a:lnTo>
                <a:lnTo>
                  <a:pt x="123" y="0"/>
                </a:lnTo>
                <a:lnTo>
                  <a:pt x="139" y="8"/>
                </a:lnTo>
                <a:lnTo>
                  <a:pt x="153" y="20"/>
                </a:lnTo>
                <a:lnTo>
                  <a:pt x="161" y="35"/>
                </a:lnTo>
                <a:lnTo>
                  <a:pt x="165" y="53"/>
                </a:lnTo>
                <a:lnTo>
                  <a:pt x="161" y="72"/>
                </a:lnTo>
                <a:lnTo>
                  <a:pt x="153" y="90"/>
                </a:lnTo>
                <a:lnTo>
                  <a:pt x="139" y="101"/>
                </a:lnTo>
                <a:lnTo>
                  <a:pt x="123" y="107"/>
                </a:lnTo>
                <a:lnTo>
                  <a:pt x="106" y="107"/>
                </a:lnTo>
                <a:lnTo>
                  <a:pt x="90" y="101"/>
                </a:lnTo>
                <a:lnTo>
                  <a:pt x="74" y="90"/>
                </a:lnTo>
                <a:lnTo>
                  <a:pt x="67" y="72"/>
                </a:lnTo>
                <a:lnTo>
                  <a:pt x="64" y="53"/>
                </a:lnTo>
                <a:lnTo>
                  <a:pt x="127" y="540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7713663" y="5387975"/>
            <a:ext cx="365125" cy="708025"/>
          </a:xfrm>
          <a:custGeom>
            <a:rect b="b" l="l" r="r" t="t"/>
            <a:pathLst>
              <a:path extrusionOk="0" h="446" w="230">
                <a:moveTo>
                  <a:pt x="127" y="417"/>
                </a:moveTo>
                <a:lnTo>
                  <a:pt x="129" y="430"/>
                </a:lnTo>
                <a:lnTo>
                  <a:pt x="137" y="442"/>
                </a:lnTo>
                <a:lnTo>
                  <a:pt x="151" y="445"/>
                </a:lnTo>
                <a:lnTo>
                  <a:pt x="158" y="445"/>
                </a:lnTo>
                <a:lnTo>
                  <a:pt x="171" y="442"/>
                </a:lnTo>
                <a:lnTo>
                  <a:pt x="181" y="430"/>
                </a:lnTo>
                <a:lnTo>
                  <a:pt x="184" y="417"/>
                </a:lnTo>
                <a:lnTo>
                  <a:pt x="184" y="209"/>
                </a:lnTo>
                <a:lnTo>
                  <a:pt x="184" y="47"/>
                </a:lnTo>
                <a:lnTo>
                  <a:pt x="184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19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19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0" y="40"/>
                </a:lnTo>
                <a:lnTo>
                  <a:pt x="44" y="42"/>
                </a:lnTo>
                <a:lnTo>
                  <a:pt x="44" y="47"/>
                </a:lnTo>
                <a:lnTo>
                  <a:pt x="44" y="209"/>
                </a:lnTo>
                <a:lnTo>
                  <a:pt x="44" y="417"/>
                </a:lnTo>
                <a:lnTo>
                  <a:pt x="48" y="430"/>
                </a:lnTo>
                <a:lnTo>
                  <a:pt x="58" y="442"/>
                </a:lnTo>
                <a:lnTo>
                  <a:pt x="71" y="445"/>
                </a:lnTo>
                <a:lnTo>
                  <a:pt x="78" y="445"/>
                </a:lnTo>
                <a:lnTo>
                  <a:pt x="91" y="442"/>
                </a:lnTo>
                <a:lnTo>
                  <a:pt x="100" y="430"/>
                </a:lnTo>
                <a:lnTo>
                  <a:pt x="102" y="417"/>
                </a:lnTo>
                <a:lnTo>
                  <a:pt x="102" y="221"/>
                </a:lnTo>
                <a:lnTo>
                  <a:pt x="106" y="213"/>
                </a:lnTo>
                <a:lnTo>
                  <a:pt x="113" y="209"/>
                </a:lnTo>
                <a:lnTo>
                  <a:pt x="123" y="213"/>
                </a:lnTo>
                <a:lnTo>
                  <a:pt x="127" y="221"/>
                </a:lnTo>
                <a:lnTo>
                  <a:pt x="127" y="417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7818438" y="5192713"/>
            <a:ext cx="155575" cy="160337"/>
          </a:xfrm>
          <a:custGeom>
            <a:rect b="b" l="l" r="r" t="t"/>
            <a:pathLst>
              <a:path extrusionOk="0" h="101" w="98">
                <a:moveTo>
                  <a:pt x="0" y="50"/>
                </a:moveTo>
                <a:lnTo>
                  <a:pt x="3" y="32"/>
                </a:lnTo>
                <a:lnTo>
                  <a:pt x="10" y="19"/>
                </a:lnTo>
                <a:lnTo>
                  <a:pt x="25" y="7"/>
                </a:lnTo>
                <a:lnTo>
                  <a:pt x="41" y="0"/>
                </a:lnTo>
                <a:lnTo>
                  <a:pt x="56" y="0"/>
                </a:lnTo>
                <a:lnTo>
                  <a:pt x="72" y="7"/>
                </a:lnTo>
                <a:lnTo>
                  <a:pt x="85" y="19"/>
                </a:lnTo>
                <a:lnTo>
                  <a:pt x="93" y="32"/>
                </a:lnTo>
                <a:lnTo>
                  <a:pt x="97" y="50"/>
                </a:lnTo>
                <a:lnTo>
                  <a:pt x="93" y="68"/>
                </a:lnTo>
                <a:lnTo>
                  <a:pt x="85" y="84"/>
                </a:lnTo>
                <a:lnTo>
                  <a:pt x="72" y="94"/>
                </a:lnTo>
                <a:lnTo>
                  <a:pt x="56" y="100"/>
                </a:lnTo>
                <a:lnTo>
                  <a:pt x="41" y="100"/>
                </a:lnTo>
                <a:lnTo>
                  <a:pt x="25" y="94"/>
                </a:lnTo>
                <a:lnTo>
                  <a:pt x="10" y="84"/>
                </a:lnTo>
                <a:lnTo>
                  <a:pt x="3" y="68"/>
                </a:lnTo>
                <a:lnTo>
                  <a:pt x="0" y="50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8170863" y="5192713"/>
            <a:ext cx="365125" cy="903287"/>
          </a:xfrm>
          <a:custGeom>
            <a:rect b="b" l="l" r="r" t="t"/>
            <a:pathLst>
              <a:path extrusionOk="0" h="569" w="230">
                <a:moveTo>
                  <a:pt x="127" y="540"/>
                </a:moveTo>
                <a:lnTo>
                  <a:pt x="129" y="553"/>
                </a:lnTo>
                <a:lnTo>
                  <a:pt x="137" y="565"/>
                </a:lnTo>
                <a:lnTo>
                  <a:pt x="151" y="568"/>
                </a:lnTo>
                <a:lnTo>
                  <a:pt x="158" y="568"/>
                </a:lnTo>
                <a:lnTo>
                  <a:pt x="171" y="565"/>
                </a:lnTo>
                <a:lnTo>
                  <a:pt x="181" y="553"/>
                </a:lnTo>
                <a:lnTo>
                  <a:pt x="184" y="540"/>
                </a:lnTo>
                <a:lnTo>
                  <a:pt x="184" y="331"/>
                </a:lnTo>
                <a:lnTo>
                  <a:pt x="184" y="169"/>
                </a:lnTo>
                <a:lnTo>
                  <a:pt x="184" y="164"/>
                </a:lnTo>
                <a:lnTo>
                  <a:pt x="189" y="162"/>
                </a:lnTo>
                <a:lnTo>
                  <a:pt x="193" y="164"/>
                </a:lnTo>
                <a:lnTo>
                  <a:pt x="195" y="169"/>
                </a:lnTo>
                <a:lnTo>
                  <a:pt x="195" y="320"/>
                </a:lnTo>
                <a:lnTo>
                  <a:pt x="197" y="328"/>
                </a:lnTo>
                <a:lnTo>
                  <a:pt x="203" y="335"/>
                </a:lnTo>
                <a:lnTo>
                  <a:pt x="212" y="337"/>
                </a:lnTo>
                <a:lnTo>
                  <a:pt x="221" y="335"/>
                </a:lnTo>
                <a:lnTo>
                  <a:pt x="227" y="328"/>
                </a:lnTo>
                <a:lnTo>
                  <a:pt x="229" y="320"/>
                </a:lnTo>
                <a:lnTo>
                  <a:pt x="229" y="140"/>
                </a:lnTo>
                <a:lnTo>
                  <a:pt x="227" y="131"/>
                </a:lnTo>
                <a:lnTo>
                  <a:pt x="221" y="123"/>
                </a:lnTo>
                <a:lnTo>
                  <a:pt x="212" y="121"/>
                </a:lnTo>
                <a:lnTo>
                  <a:pt x="17" y="121"/>
                </a:lnTo>
                <a:lnTo>
                  <a:pt x="8" y="123"/>
                </a:lnTo>
                <a:lnTo>
                  <a:pt x="2" y="131"/>
                </a:lnTo>
                <a:lnTo>
                  <a:pt x="0" y="140"/>
                </a:lnTo>
                <a:lnTo>
                  <a:pt x="0" y="320"/>
                </a:lnTo>
                <a:lnTo>
                  <a:pt x="2" y="328"/>
                </a:lnTo>
                <a:lnTo>
                  <a:pt x="8" y="335"/>
                </a:lnTo>
                <a:lnTo>
                  <a:pt x="17" y="337"/>
                </a:lnTo>
                <a:lnTo>
                  <a:pt x="26" y="335"/>
                </a:lnTo>
                <a:lnTo>
                  <a:pt x="32" y="328"/>
                </a:lnTo>
                <a:lnTo>
                  <a:pt x="34" y="320"/>
                </a:lnTo>
                <a:lnTo>
                  <a:pt x="34" y="169"/>
                </a:lnTo>
                <a:lnTo>
                  <a:pt x="36" y="164"/>
                </a:lnTo>
                <a:lnTo>
                  <a:pt x="40" y="162"/>
                </a:lnTo>
                <a:lnTo>
                  <a:pt x="44" y="164"/>
                </a:lnTo>
                <a:lnTo>
                  <a:pt x="44" y="169"/>
                </a:lnTo>
                <a:lnTo>
                  <a:pt x="44" y="331"/>
                </a:lnTo>
                <a:lnTo>
                  <a:pt x="44" y="540"/>
                </a:lnTo>
                <a:lnTo>
                  <a:pt x="48" y="553"/>
                </a:lnTo>
                <a:lnTo>
                  <a:pt x="58" y="565"/>
                </a:lnTo>
                <a:lnTo>
                  <a:pt x="71" y="568"/>
                </a:lnTo>
                <a:lnTo>
                  <a:pt x="78" y="568"/>
                </a:lnTo>
                <a:lnTo>
                  <a:pt x="91" y="565"/>
                </a:lnTo>
                <a:lnTo>
                  <a:pt x="100" y="553"/>
                </a:lnTo>
                <a:lnTo>
                  <a:pt x="102" y="540"/>
                </a:lnTo>
                <a:lnTo>
                  <a:pt x="102" y="343"/>
                </a:lnTo>
                <a:lnTo>
                  <a:pt x="106" y="335"/>
                </a:lnTo>
                <a:lnTo>
                  <a:pt x="113" y="331"/>
                </a:lnTo>
                <a:lnTo>
                  <a:pt x="123" y="335"/>
                </a:lnTo>
                <a:lnTo>
                  <a:pt x="127" y="343"/>
                </a:lnTo>
                <a:lnTo>
                  <a:pt x="127" y="540"/>
                </a:lnTo>
                <a:lnTo>
                  <a:pt x="64" y="53"/>
                </a:lnTo>
                <a:lnTo>
                  <a:pt x="67" y="35"/>
                </a:lnTo>
                <a:lnTo>
                  <a:pt x="74" y="20"/>
                </a:lnTo>
                <a:lnTo>
                  <a:pt x="90" y="8"/>
                </a:lnTo>
                <a:lnTo>
                  <a:pt x="106" y="0"/>
                </a:lnTo>
                <a:lnTo>
                  <a:pt x="123" y="0"/>
                </a:lnTo>
                <a:lnTo>
                  <a:pt x="139" y="8"/>
                </a:lnTo>
                <a:lnTo>
                  <a:pt x="153" y="20"/>
                </a:lnTo>
                <a:lnTo>
                  <a:pt x="161" y="35"/>
                </a:lnTo>
                <a:lnTo>
                  <a:pt x="165" y="53"/>
                </a:lnTo>
                <a:lnTo>
                  <a:pt x="161" y="72"/>
                </a:lnTo>
                <a:lnTo>
                  <a:pt x="153" y="90"/>
                </a:lnTo>
                <a:lnTo>
                  <a:pt x="139" y="101"/>
                </a:lnTo>
                <a:lnTo>
                  <a:pt x="123" y="107"/>
                </a:lnTo>
                <a:lnTo>
                  <a:pt x="106" y="107"/>
                </a:lnTo>
                <a:lnTo>
                  <a:pt x="90" y="101"/>
                </a:lnTo>
                <a:lnTo>
                  <a:pt x="74" y="90"/>
                </a:lnTo>
                <a:lnTo>
                  <a:pt x="67" y="72"/>
                </a:lnTo>
                <a:lnTo>
                  <a:pt x="64" y="53"/>
                </a:lnTo>
                <a:lnTo>
                  <a:pt x="127" y="540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8170863" y="5387975"/>
            <a:ext cx="365125" cy="708025"/>
          </a:xfrm>
          <a:custGeom>
            <a:rect b="b" l="l" r="r" t="t"/>
            <a:pathLst>
              <a:path extrusionOk="0" h="446" w="230">
                <a:moveTo>
                  <a:pt x="127" y="417"/>
                </a:moveTo>
                <a:lnTo>
                  <a:pt x="129" y="430"/>
                </a:lnTo>
                <a:lnTo>
                  <a:pt x="137" y="442"/>
                </a:lnTo>
                <a:lnTo>
                  <a:pt x="151" y="445"/>
                </a:lnTo>
                <a:lnTo>
                  <a:pt x="158" y="445"/>
                </a:lnTo>
                <a:lnTo>
                  <a:pt x="171" y="442"/>
                </a:lnTo>
                <a:lnTo>
                  <a:pt x="181" y="430"/>
                </a:lnTo>
                <a:lnTo>
                  <a:pt x="184" y="417"/>
                </a:lnTo>
                <a:lnTo>
                  <a:pt x="184" y="209"/>
                </a:lnTo>
                <a:lnTo>
                  <a:pt x="184" y="47"/>
                </a:lnTo>
                <a:lnTo>
                  <a:pt x="184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9" y="198"/>
                </a:lnTo>
                <a:lnTo>
                  <a:pt x="229" y="19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19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0" y="40"/>
                </a:lnTo>
                <a:lnTo>
                  <a:pt x="44" y="42"/>
                </a:lnTo>
                <a:lnTo>
                  <a:pt x="44" y="47"/>
                </a:lnTo>
                <a:lnTo>
                  <a:pt x="44" y="209"/>
                </a:lnTo>
                <a:lnTo>
                  <a:pt x="44" y="417"/>
                </a:lnTo>
                <a:lnTo>
                  <a:pt x="48" y="430"/>
                </a:lnTo>
                <a:lnTo>
                  <a:pt x="58" y="442"/>
                </a:lnTo>
                <a:lnTo>
                  <a:pt x="71" y="445"/>
                </a:lnTo>
                <a:lnTo>
                  <a:pt x="78" y="445"/>
                </a:lnTo>
                <a:lnTo>
                  <a:pt x="91" y="442"/>
                </a:lnTo>
                <a:lnTo>
                  <a:pt x="100" y="430"/>
                </a:lnTo>
                <a:lnTo>
                  <a:pt x="102" y="417"/>
                </a:lnTo>
                <a:lnTo>
                  <a:pt x="102" y="221"/>
                </a:lnTo>
                <a:lnTo>
                  <a:pt x="106" y="213"/>
                </a:lnTo>
                <a:lnTo>
                  <a:pt x="113" y="209"/>
                </a:lnTo>
                <a:lnTo>
                  <a:pt x="123" y="213"/>
                </a:lnTo>
                <a:lnTo>
                  <a:pt x="127" y="221"/>
                </a:lnTo>
                <a:lnTo>
                  <a:pt x="127" y="417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8275638" y="5192713"/>
            <a:ext cx="155575" cy="160337"/>
          </a:xfrm>
          <a:custGeom>
            <a:rect b="b" l="l" r="r" t="t"/>
            <a:pathLst>
              <a:path extrusionOk="0" h="101" w="98">
                <a:moveTo>
                  <a:pt x="0" y="50"/>
                </a:moveTo>
                <a:lnTo>
                  <a:pt x="3" y="32"/>
                </a:lnTo>
                <a:lnTo>
                  <a:pt x="10" y="19"/>
                </a:lnTo>
                <a:lnTo>
                  <a:pt x="25" y="7"/>
                </a:lnTo>
                <a:lnTo>
                  <a:pt x="41" y="0"/>
                </a:lnTo>
                <a:lnTo>
                  <a:pt x="56" y="0"/>
                </a:lnTo>
                <a:lnTo>
                  <a:pt x="72" y="7"/>
                </a:lnTo>
                <a:lnTo>
                  <a:pt x="85" y="19"/>
                </a:lnTo>
                <a:lnTo>
                  <a:pt x="93" y="32"/>
                </a:lnTo>
                <a:lnTo>
                  <a:pt x="97" y="50"/>
                </a:lnTo>
                <a:lnTo>
                  <a:pt x="93" y="68"/>
                </a:lnTo>
                <a:lnTo>
                  <a:pt x="85" y="84"/>
                </a:lnTo>
                <a:lnTo>
                  <a:pt x="72" y="94"/>
                </a:lnTo>
                <a:lnTo>
                  <a:pt x="56" y="100"/>
                </a:lnTo>
                <a:lnTo>
                  <a:pt x="41" y="100"/>
                </a:lnTo>
                <a:lnTo>
                  <a:pt x="25" y="94"/>
                </a:lnTo>
                <a:lnTo>
                  <a:pt x="10" y="84"/>
                </a:lnTo>
                <a:lnTo>
                  <a:pt x="3" y="68"/>
                </a:lnTo>
                <a:lnTo>
                  <a:pt x="0" y="50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8628063" y="5192713"/>
            <a:ext cx="363537" cy="903287"/>
          </a:xfrm>
          <a:custGeom>
            <a:rect b="b" l="l" r="r" t="t"/>
            <a:pathLst>
              <a:path extrusionOk="0" h="569" w="229">
                <a:moveTo>
                  <a:pt x="127" y="540"/>
                </a:moveTo>
                <a:lnTo>
                  <a:pt x="128" y="553"/>
                </a:lnTo>
                <a:lnTo>
                  <a:pt x="137" y="565"/>
                </a:lnTo>
                <a:lnTo>
                  <a:pt x="151" y="568"/>
                </a:lnTo>
                <a:lnTo>
                  <a:pt x="158" y="568"/>
                </a:lnTo>
                <a:lnTo>
                  <a:pt x="171" y="565"/>
                </a:lnTo>
                <a:lnTo>
                  <a:pt x="181" y="553"/>
                </a:lnTo>
                <a:lnTo>
                  <a:pt x="184" y="540"/>
                </a:lnTo>
                <a:lnTo>
                  <a:pt x="184" y="331"/>
                </a:lnTo>
                <a:lnTo>
                  <a:pt x="184" y="169"/>
                </a:lnTo>
                <a:lnTo>
                  <a:pt x="184" y="164"/>
                </a:lnTo>
                <a:lnTo>
                  <a:pt x="189" y="162"/>
                </a:lnTo>
                <a:lnTo>
                  <a:pt x="193" y="164"/>
                </a:lnTo>
                <a:lnTo>
                  <a:pt x="195" y="169"/>
                </a:lnTo>
                <a:lnTo>
                  <a:pt x="195" y="320"/>
                </a:lnTo>
                <a:lnTo>
                  <a:pt x="197" y="328"/>
                </a:lnTo>
                <a:lnTo>
                  <a:pt x="203" y="335"/>
                </a:lnTo>
                <a:lnTo>
                  <a:pt x="212" y="337"/>
                </a:lnTo>
                <a:lnTo>
                  <a:pt x="221" y="335"/>
                </a:lnTo>
                <a:lnTo>
                  <a:pt x="227" y="328"/>
                </a:lnTo>
                <a:lnTo>
                  <a:pt x="228" y="320"/>
                </a:lnTo>
                <a:lnTo>
                  <a:pt x="228" y="140"/>
                </a:lnTo>
                <a:lnTo>
                  <a:pt x="227" y="131"/>
                </a:lnTo>
                <a:lnTo>
                  <a:pt x="221" y="123"/>
                </a:lnTo>
                <a:lnTo>
                  <a:pt x="212" y="121"/>
                </a:lnTo>
                <a:lnTo>
                  <a:pt x="17" y="121"/>
                </a:lnTo>
                <a:lnTo>
                  <a:pt x="8" y="123"/>
                </a:lnTo>
                <a:lnTo>
                  <a:pt x="2" y="131"/>
                </a:lnTo>
                <a:lnTo>
                  <a:pt x="0" y="140"/>
                </a:lnTo>
                <a:lnTo>
                  <a:pt x="0" y="320"/>
                </a:lnTo>
                <a:lnTo>
                  <a:pt x="2" y="328"/>
                </a:lnTo>
                <a:lnTo>
                  <a:pt x="8" y="335"/>
                </a:lnTo>
                <a:lnTo>
                  <a:pt x="17" y="337"/>
                </a:lnTo>
                <a:lnTo>
                  <a:pt x="26" y="335"/>
                </a:lnTo>
                <a:lnTo>
                  <a:pt x="32" y="328"/>
                </a:lnTo>
                <a:lnTo>
                  <a:pt x="34" y="320"/>
                </a:lnTo>
                <a:lnTo>
                  <a:pt x="34" y="169"/>
                </a:lnTo>
                <a:lnTo>
                  <a:pt x="36" y="164"/>
                </a:lnTo>
                <a:lnTo>
                  <a:pt x="40" y="162"/>
                </a:lnTo>
                <a:lnTo>
                  <a:pt x="44" y="164"/>
                </a:lnTo>
                <a:lnTo>
                  <a:pt x="44" y="169"/>
                </a:lnTo>
                <a:lnTo>
                  <a:pt x="44" y="331"/>
                </a:lnTo>
                <a:lnTo>
                  <a:pt x="44" y="540"/>
                </a:lnTo>
                <a:lnTo>
                  <a:pt x="48" y="553"/>
                </a:lnTo>
                <a:lnTo>
                  <a:pt x="58" y="565"/>
                </a:lnTo>
                <a:lnTo>
                  <a:pt x="71" y="568"/>
                </a:lnTo>
                <a:lnTo>
                  <a:pt x="78" y="568"/>
                </a:lnTo>
                <a:lnTo>
                  <a:pt x="91" y="565"/>
                </a:lnTo>
                <a:lnTo>
                  <a:pt x="100" y="553"/>
                </a:lnTo>
                <a:lnTo>
                  <a:pt x="102" y="540"/>
                </a:lnTo>
                <a:lnTo>
                  <a:pt x="102" y="343"/>
                </a:lnTo>
                <a:lnTo>
                  <a:pt x="106" y="335"/>
                </a:lnTo>
                <a:lnTo>
                  <a:pt x="113" y="331"/>
                </a:lnTo>
                <a:lnTo>
                  <a:pt x="123" y="335"/>
                </a:lnTo>
                <a:lnTo>
                  <a:pt x="127" y="343"/>
                </a:lnTo>
                <a:lnTo>
                  <a:pt x="127" y="540"/>
                </a:lnTo>
                <a:lnTo>
                  <a:pt x="64" y="53"/>
                </a:lnTo>
                <a:lnTo>
                  <a:pt x="67" y="35"/>
                </a:lnTo>
                <a:lnTo>
                  <a:pt x="74" y="20"/>
                </a:lnTo>
                <a:lnTo>
                  <a:pt x="89" y="8"/>
                </a:lnTo>
                <a:lnTo>
                  <a:pt x="106" y="0"/>
                </a:lnTo>
                <a:lnTo>
                  <a:pt x="123" y="0"/>
                </a:lnTo>
                <a:lnTo>
                  <a:pt x="139" y="8"/>
                </a:lnTo>
                <a:lnTo>
                  <a:pt x="153" y="20"/>
                </a:lnTo>
                <a:lnTo>
                  <a:pt x="161" y="35"/>
                </a:lnTo>
                <a:lnTo>
                  <a:pt x="165" y="53"/>
                </a:lnTo>
                <a:lnTo>
                  <a:pt x="161" y="72"/>
                </a:lnTo>
                <a:lnTo>
                  <a:pt x="153" y="90"/>
                </a:lnTo>
                <a:lnTo>
                  <a:pt x="139" y="101"/>
                </a:lnTo>
                <a:lnTo>
                  <a:pt x="123" y="107"/>
                </a:lnTo>
                <a:lnTo>
                  <a:pt x="106" y="107"/>
                </a:lnTo>
                <a:lnTo>
                  <a:pt x="89" y="101"/>
                </a:lnTo>
                <a:lnTo>
                  <a:pt x="74" y="90"/>
                </a:lnTo>
                <a:lnTo>
                  <a:pt x="67" y="72"/>
                </a:lnTo>
                <a:lnTo>
                  <a:pt x="64" y="53"/>
                </a:lnTo>
                <a:lnTo>
                  <a:pt x="127" y="540"/>
                </a:lnTo>
              </a:path>
            </a:pathLst>
          </a:custGeom>
          <a:solidFill>
            <a:srgbClr val="00B7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8628063" y="5387975"/>
            <a:ext cx="363537" cy="708025"/>
          </a:xfrm>
          <a:custGeom>
            <a:rect b="b" l="l" r="r" t="t"/>
            <a:pathLst>
              <a:path extrusionOk="0" h="446" w="229">
                <a:moveTo>
                  <a:pt x="127" y="417"/>
                </a:moveTo>
                <a:lnTo>
                  <a:pt x="128" y="430"/>
                </a:lnTo>
                <a:lnTo>
                  <a:pt x="137" y="442"/>
                </a:lnTo>
                <a:lnTo>
                  <a:pt x="151" y="445"/>
                </a:lnTo>
                <a:lnTo>
                  <a:pt x="158" y="445"/>
                </a:lnTo>
                <a:lnTo>
                  <a:pt x="171" y="442"/>
                </a:lnTo>
                <a:lnTo>
                  <a:pt x="181" y="430"/>
                </a:lnTo>
                <a:lnTo>
                  <a:pt x="184" y="417"/>
                </a:lnTo>
                <a:lnTo>
                  <a:pt x="184" y="209"/>
                </a:lnTo>
                <a:lnTo>
                  <a:pt x="184" y="47"/>
                </a:lnTo>
                <a:lnTo>
                  <a:pt x="184" y="42"/>
                </a:lnTo>
                <a:lnTo>
                  <a:pt x="189" y="40"/>
                </a:lnTo>
                <a:lnTo>
                  <a:pt x="193" y="42"/>
                </a:lnTo>
                <a:lnTo>
                  <a:pt x="195" y="47"/>
                </a:lnTo>
                <a:lnTo>
                  <a:pt x="195" y="198"/>
                </a:lnTo>
                <a:lnTo>
                  <a:pt x="197" y="206"/>
                </a:lnTo>
                <a:lnTo>
                  <a:pt x="203" y="213"/>
                </a:lnTo>
                <a:lnTo>
                  <a:pt x="212" y="215"/>
                </a:lnTo>
                <a:lnTo>
                  <a:pt x="221" y="213"/>
                </a:lnTo>
                <a:lnTo>
                  <a:pt x="227" y="206"/>
                </a:lnTo>
                <a:lnTo>
                  <a:pt x="228" y="198"/>
                </a:lnTo>
                <a:lnTo>
                  <a:pt x="228" y="19"/>
                </a:lnTo>
                <a:lnTo>
                  <a:pt x="227" y="10"/>
                </a:lnTo>
                <a:lnTo>
                  <a:pt x="221" y="2"/>
                </a:lnTo>
                <a:lnTo>
                  <a:pt x="212" y="0"/>
                </a:lnTo>
                <a:lnTo>
                  <a:pt x="17" y="0"/>
                </a:lnTo>
                <a:lnTo>
                  <a:pt x="8" y="2"/>
                </a:lnTo>
                <a:lnTo>
                  <a:pt x="2" y="10"/>
                </a:lnTo>
                <a:lnTo>
                  <a:pt x="0" y="19"/>
                </a:lnTo>
                <a:lnTo>
                  <a:pt x="0" y="198"/>
                </a:lnTo>
                <a:lnTo>
                  <a:pt x="2" y="206"/>
                </a:lnTo>
                <a:lnTo>
                  <a:pt x="8" y="213"/>
                </a:lnTo>
                <a:lnTo>
                  <a:pt x="17" y="215"/>
                </a:lnTo>
                <a:lnTo>
                  <a:pt x="26" y="213"/>
                </a:lnTo>
                <a:lnTo>
                  <a:pt x="32" y="206"/>
                </a:lnTo>
                <a:lnTo>
                  <a:pt x="34" y="198"/>
                </a:lnTo>
                <a:lnTo>
                  <a:pt x="34" y="47"/>
                </a:lnTo>
                <a:lnTo>
                  <a:pt x="36" y="42"/>
                </a:lnTo>
                <a:lnTo>
                  <a:pt x="40" y="40"/>
                </a:lnTo>
                <a:lnTo>
                  <a:pt x="44" y="42"/>
                </a:lnTo>
                <a:lnTo>
                  <a:pt x="44" y="47"/>
                </a:lnTo>
                <a:lnTo>
                  <a:pt x="44" y="209"/>
                </a:lnTo>
                <a:lnTo>
                  <a:pt x="44" y="417"/>
                </a:lnTo>
                <a:lnTo>
                  <a:pt x="48" y="430"/>
                </a:lnTo>
                <a:lnTo>
                  <a:pt x="58" y="442"/>
                </a:lnTo>
                <a:lnTo>
                  <a:pt x="71" y="445"/>
                </a:lnTo>
                <a:lnTo>
                  <a:pt x="78" y="445"/>
                </a:lnTo>
                <a:lnTo>
                  <a:pt x="91" y="442"/>
                </a:lnTo>
                <a:lnTo>
                  <a:pt x="100" y="430"/>
                </a:lnTo>
                <a:lnTo>
                  <a:pt x="102" y="417"/>
                </a:lnTo>
                <a:lnTo>
                  <a:pt x="102" y="221"/>
                </a:lnTo>
                <a:lnTo>
                  <a:pt x="106" y="213"/>
                </a:lnTo>
                <a:lnTo>
                  <a:pt x="113" y="209"/>
                </a:lnTo>
                <a:lnTo>
                  <a:pt x="123" y="213"/>
                </a:lnTo>
                <a:lnTo>
                  <a:pt x="127" y="221"/>
                </a:lnTo>
                <a:lnTo>
                  <a:pt x="127" y="417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8732838" y="5192713"/>
            <a:ext cx="155575" cy="160337"/>
          </a:xfrm>
          <a:custGeom>
            <a:rect b="b" l="l" r="r" t="t"/>
            <a:pathLst>
              <a:path extrusionOk="0" h="101" w="98">
                <a:moveTo>
                  <a:pt x="0" y="50"/>
                </a:moveTo>
                <a:lnTo>
                  <a:pt x="3" y="32"/>
                </a:lnTo>
                <a:lnTo>
                  <a:pt x="10" y="19"/>
                </a:lnTo>
                <a:lnTo>
                  <a:pt x="24" y="7"/>
                </a:lnTo>
                <a:lnTo>
                  <a:pt x="41" y="0"/>
                </a:lnTo>
                <a:lnTo>
                  <a:pt x="56" y="0"/>
                </a:lnTo>
                <a:lnTo>
                  <a:pt x="72" y="7"/>
                </a:lnTo>
                <a:lnTo>
                  <a:pt x="85" y="19"/>
                </a:lnTo>
                <a:lnTo>
                  <a:pt x="93" y="32"/>
                </a:lnTo>
                <a:lnTo>
                  <a:pt x="97" y="50"/>
                </a:lnTo>
                <a:lnTo>
                  <a:pt x="93" y="68"/>
                </a:lnTo>
                <a:lnTo>
                  <a:pt x="85" y="84"/>
                </a:lnTo>
                <a:lnTo>
                  <a:pt x="72" y="94"/>
                </a:lnTo>
                <a:lnTo>
                  <a:pt x="56" y="100"/>
                </a:lnTo>
                <a:lnTo>
                  <a:pt x="41" y="100"/>
                </a:lnTo>
                <a:lnTo>
                  <a:pt x="24" y="94"/>
                </a:lnTo>
                <a:lnTo>
                  <a:pt x="10" y="84"/>
                </a:lnTo>
                <a:lnTo>
                  <a:pt x="3" y="68"/>
                </a:lnTo>
                <a:lnTo>
                  <a:pt x="0" y="50"/>
                </a:lnTo>
              </a:path>
            </a:pathLst>
          </a:custGeom>
          <a:solidFill>
            <a:srgbClr val="00A89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6489700" y="4191000"/>
            <a:ext cx="2349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Ambil ruang sampel</a:t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527050" y="6096000"/>
            <a:ext cx="212725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Null Hipotesa</a:t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681038" y="4724400"/>
            <a:ext cx="2219325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No, not likely!</a:t>
            </a:r>
            <a:endParaRPr/>
          </a:p>
        </p:txBody>
      </p:sp>
      <p:pic>
        <p:nvPicPr>
          <p:cNvPr id="535" name="Google Shape;5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4191000"/>
            <a:ext cx="4724400" cy="665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025" y="3044825"/>
            <a:ext cx="19081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075" y="5683250"/>
            <a:ext cx="1697038" cy="79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544" name="Google Shape;544;p2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4343400" y="5638800"/>
            <a:ext cx="1106488" cy="469900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b="1"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50</a:t>
            </a:r>
            <a:endParaRPr/>
          </a:p>
        </p:txBody>
      </p:sp>
      <p:sp>
        <p:nvSpPr>
          <p:cNvPr id="546" name="Google Shape;546;p20"/>
          <p:cNvSpPr/>
          <p:nvPr/>
        </p:nvSpPr>
        <p:spPr>
          <a:xfrm>
            <a:off x="457200" y="2362200"/>
            <a:ext cx="2971800" cy="1549400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Mungkinkah mendapat sampel mean dengan nilai berikut ...</a:t>
            </a: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2971800" y="4419600"/>
            <a:ext cx="3738563" cy="94297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... Jika kenyataanya population mean …</a:t>
            </a:r>
            <a:endParaRPr/>
          </a:p>
        </p:txBody>
      </p:sp>
      <p:sp>
        <p:nvSpPr>
          <p:cNvPr id="548" name="Google Shape;548;p20"/>
          <p:cNvSpPr/>
          <p:nvPr/>
        </p:nvSpPr>
        <p:spPr>
          <a:xfrm>
            <a:off x="6319838" y="2317750"/>
            <a:ext cx="2671762" cy="118427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... sehingga, null hipotesa </a:t>
            </a:r>
            <a:r>
              <a:rPr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50 akan ditolak</a:t>
            </a:r>
            <a:endParaRPr/>
          </a:p>
        </p:txBody>
      </p:sp>
      <p:sp>
        <p:nvSpPr>
          <p:cNvPr id="549" name="Google Shape;549;p20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Alasan untuk Menolak H</a:t>
            </a:r>
            <a:r>
              <a:rPr baseline="-25000" lang="en-US"/>
              <a:t>0</a:t>
            </a: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4724400" y="2438400"/>
            <a:ext cx="3178175" cy="3059113"/>
          </a:xfrm>
          <a:custGeom>
            <a:rect b="b" l="l" r="r" t="t"/>
            <a:pathLst>
              <a:path extrusionOk="0" h="1927" w="2002">
                <a:moveTo>
                  <a:pt x="2001" y="1926"/>
                </a:moveTo>
                <a:lnTo>
                  <a:pt x="1790" y="1902"/>
                </a:lnTo>
                <a:lnTo>
                  <a:pt x="1686" y="1881"/>
                </a:lnTo>
                <a:lnTo>
                  <a:pt x="1579" y="1849"/>
                </a:lnTo>
                <a:lnTo>
                  <a:pt x="1475" y="1806"/>
                </a:lnTo>
                <a:lnTo>
                  <a:pt x="1369" y="1747"/>
                </a:lnTo>
                <a:lnTo>
                  <a:pt x="1265" y="1667"/>
                </a:lnTo>
                <a:lnTo>
                  <a:pt x="1054" y="1443"/>
                </a:lnTo>
                <a:lnTo>
                  <a:pt x="843" y="1128"/>
                </a:lnTo>
                <a:lnTo>
                  <a:pt x="632" y="752"/>
                </a:lnTo>
                <a:lnTo>
                  <a:pt x="528" y="560"/>
                </a:lnTo>
                <a:lnTo>
                  <a:pt x="422" y="379"/>
                </a:lnTo>
                <a:lnTo>
                  <a:pt x="318" y="224"/>
                </a:lnTo>
                <a:lnTo>
                  <a:pt x="211" y="104"/>
                </a:lnTo>
                <a:lnTo>
                  <a:pt x="107" y="27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1524000" y="2438400"/>
            <a:ext cx="3176588" cy="3059113"/>
          </a:xfrm>
          <a:custGeom>
            <a:rect b="b" l="l" r="r" t="t"/>
            <a:pathLst>
              <a:path extrusionOk="0" h="1927" w="2001">
                <a:moveTo>
                  <a:pt x="0" y="1926"/>
                </a:moveTo>
                <a:lnTo>
                  <a:pt x="211" y="1902"/>
                </a:lnTo>
                <a:lnTo>
                  <a:pt x="317" y="1881"/>
                </a:lnTo>
                <a:lnTo>
                  <a:pt x="421" y="1849"/>
                </a:lnTo>
                <a:lnTo>
                  <a:pt x="525" y="1806"/>
                </a:lnTo>
                <a:lnTo>
                  <a:pt x="632" y="1747"/>
                </a:lnTo>
                <a:lnTo>
                  <a:pt x="736" y="1667"/>
                </a:lnTo>
                <a:lnTo>
                  <a:pt x="950" y="1443"/>
                </a:lnTo>
                <a:lnTo>
                  <a:pt x="1158" y="1128"/>
                </a:lnTo>
                <a:lnTo>
                  <a:pt x="1368" y="752"/>
                </a:lnTo>
                <a:lnTo>
                  <a:pt x="1475" y="560"/>
                </a:lnTo>
                <a:lnTo>
                  <a:pt x="1579" y="379"/>
                </a:lnTo>
                <a:lnTo>
                  <a:pt x="1686" y="224"/>
                </a:lnTo>
                <a:lnTo>
                  <a:pt x="1790" y="104"/>
                </a:lnTo>
                <a:lnTo>
                  <a:pt x="1896" y="27"/>
                </a:lnTo>
                <a:lnTo>
                  <a:pt x="2000" y="0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1447800" y="4267200"/>
            <a:ext cx="6546850" cy="1331913"/>
          </a:xfrm>
          <a:custGeom>
            <a:rect b="b" l="l" r="r" t="t"/>
            <a:pathLst>
              <a:path extrusionOk="0" h="839" w="4124">
                <a:moveTo>
                  <a:pt x="0" y="0"/>
                </a:moveTo>
                <a:lnTo>
                  <a:pt x="0" y="838"/>
                </a:lnTo>
                <a:lnTo>
                  <a:pt x="4123" y="838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20"/>
          <p:cNvCxnSpPr/>
          <p:nvPr/>
        </p:nvCxnSpPr>
        <p:spPr>
          <a:xfrm>
            <a:off x="8035925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20"/>
          <p:cNvCxnSpPr/>
          <p:nvPr/>
        </p:nvCxnSpPr>
        <p:spPr>
          <a:xfrm>
            <a:off x="7392988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20"/>
          <p:cNvCxnSpPr/>
          <p:nvPr/>
        </p:nvCxnSpPr>
        <p:spPr>
          <a:xfrm>
            <a:off x="6745288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20"/>
          <p:cNvCxnSpPr/>
          <p:nvPr/>
        </p:nvCxnSpPr>
        <p:spPr>
          <a:xfrm>
            <a:off x="6097588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20"/>
          <p:cNvCxnSpPr/>
          <p:nvPr/>
        </p:nvCxnSpPr>
        <p:spPr>
          <a:xfrm>
            <a:off x="5449888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20"/>
          <p:cNvCxnSpPr/>
          <p:nvPr/>
        </p:nvCxnSpPr>
        <p:spPr>
          <a:xfrm>
            <a:off x="4802188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20"/>
          <p:cNvCxnSpPr/>
          <p:nvPr/>
        </p:nvCxnSpPr>
        <p:spPr>
          <a:xfrm>
            <a:off x="4154488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20"/>
          <p:cNvCxnSpPr/>
          <p:nvPr/>
        </p:nvCxnSpPr>
        <p:spPr>
          <a:xfrm>
            <a:off x="3509963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20"/>
          <p:cNvCxnSpPr/>
          <p:nvPr/>
        </p:nvCxnSpPr>
        <p:spPr>
          <a:xfrm>
            <a:off x="2862263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20"/>
          <p:cNvCxnSpPr/>
          <p:nvPr/>
        </p:nvCxnSpPr>
        <p:spPr>
          <a:xfrm>
            <a:off x="2214563" y="5622925"/>
            <a:ext cx="0" cy="1588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20"/>
          <p:cNvSpPr/>
          <p:nvPr/>
        </p:nvSpPr>
        <p:spPr>
          <a:xfrm>
            <a:off x="4337050" y="5632450"/>
            <a:ext cx="36353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b="1" i="1"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endParaRPr b="1" sz="25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1752600" y="1617663"/>
            <a:ext cx="3962400" cy="5302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b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Distribusi Sampel</a:t>
            </a:r>
            <a:endParaRPr/>
          </a:p>
        </p:txBody>
      </p:sp>
      <p:cxnSp>
        <p:nvCxnSpPr>
          <p:cNvPr id="565" name="Google Shape;565;p20"/>
          <p:cNvCxnSpPr/>
          <p:nvPr/>
        </p:nvCxnSpPr>
        <p:spPr>
          <a:xfrm>
            <a:off x="2819400" y="4719638"/>
            <a:ext cx="0" cy="690562"/>
          </a:xfrm>
          <a:prstGeom prst="straightConnector1">
            <a:avLst/>
          </a:prstGeom>
          <a:noFill/>
          <a:ln cap="flat" cmpd="sng" w="508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6" name="Google Shape;566;p20"/>
          <p:cNvCxnSpPr/>
          <p:nvPr/>
        </p:nvCxnSpPr>
        <p:spPr>
          <a:xfrm>
            <a:off x="4876800" y="5495925"/>
            <a:ext cx="0" cy="66675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67" name="Google Shape;567;p20"/>
          <p:cNvSpPr/>
          <p:nvPr/>
        </p:nvSpPr>
        <p:spPr>
          <a:xfrm>
            <a:off x="2586038" y="5710238"/>
            <a:ext cx="614362" cy="45402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3806825" y="6103938"/>
            <a:ext cx="2136775" cy="333375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Jika H</a:t>
            </a:r>
            <a:r>
              <a:rPr b="1"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benar</a:t>
            </a:r>
            <a:endParaRPr b="1" baseline="-2500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088" y="5562600"/>
            <a:ext cx="5302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1600200"/>
            <a:ext cx="531813" cy="533400"/>
          </a:xfrm>
          <a:prstGeom prst="rect">
            <a:avLst/>
          </a:prstGeom>
          <a:solidFill>
            <a:srgbClr val="FFFF99"/>
          </a:solidFill>
          <a:ln>
            <a:noFill/>
          </a:ln>
        </p:spPr>
      </p:pic>
      <p:pic>
        <p:nvPicPr>
          <p:cNvPr id="571" name="Google Shape;5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577" name="Google Shape;577;p2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8" name="Google Shape;578;p2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Signikan, α</a:t>
            </a:r>
            <a:endParaRPr/>
          </a:p>
        </p:txBody>
      </p:sp>
      <p:sp>
        <p:nvSpPr>
          <p:cNvPr id="579" name="Google Shape;579;p21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Menentukan nilai yang tidak mungkin dari sampel jika Null Hipotesa adalah benar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Disebut dengan </a:t>
            </a:r>
            <a:r>
              <a:rPr i="1" lang="en-US" sz="2400"/>
              <a:t>rejection region</a:t>
            </a:r>
            <a:r>
              <a:rPr lang="en-US" sz="2400"/>
              <a:t> dari distribusi sampel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Dinotasikan sebagai α dengan nilai yang sering digunakan adalah …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0.01, 0.05, 0.10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Telah ditentukan di awal oleh tim riset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Memberikan nilai kritikal untuk pengujian</a:t>
            </a:r>
            <a:endParaRPr/>
          </a:p>
        </p:txBody>
      </p:sp>
      <p:pic>
        <p:nvPicPr>
          <p:cNvPr id="580" name="Google Shape;5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586" name="Google Shape;586;p2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7" name="Google Shape;587;p22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Signikan, α dan Rejection Region</a:t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4648200" y="2514600"/>
            <a:ext cx="457200" cy="457200"/>
          </a:xfrm>
          <a:custGeom>
            <a:rect b="b" l="l" r="r" t="t"/>
            <a:pathLst>
              <a:path extrusionOk="0" h="288" w="288">
                <a:moveTo>
                  <a:pt x="0" y="282"/>
                </a:moveTo>
                <a:lnTo>
                  <a:pt x="96" y="240"/>
                </a:lnTo>
                <a:lnTo>
                  <a:pt x="156" y="194"/>
                </a:lnTo>
                <a:lnTo>
                  <a:pt x="203" y="133"/>
                </a:lnTo>
                <a:lnTo>
                  <a:pt x="251" y="53"/>
                </a:lnTo>
                <a:lnTo>
                  <a:pt x="287" y="0"/>
                </a:lnTo>
                <a:lnTo>
                  <a:pt x="287" y="287"/>
                </a:lnTo>
                <a:lnTo>
                  <a:pt x="0" y="287"/>
                </a:lnTo>
                <a:lnTo>
                  <a:pt x="0" y="282"/>
                </a:lnTo>
              </a:path>
            </a:pathLst>
          </a:custGeom>
          <a:solidFill>
            <a:srgbClr val="FF0000"/>
          </a:solidFill>
          <a:ln cap="rnd" cmpd="sng" w="12700">
            <a:solidFill>
              <a:srgbClr val="66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5791200" y="3962400"/>
            <a:ext cx="457200" cy="457200"/>
          </a:xfrm>
          <a:custGeom>
            <a:rect b="b" l="l" r="r" t="t"/>
            <a:pathLst>
              <a:path extrusionOk="0" h="288" w="288">
                <a:moveTo>
                  <a:pt x="287" y="282"/>
                </a:moveTo>
                <a:lnTo>
                  <a:pt x="192" y="240"/>
                </a:lnTo>
                <a:lnTo>
                  <a:pt x="131" y="194"/>
                </a:lnTo>
                <a:lnTo>
                  <a:pt x="83" y="133"/>
                </a:lnTo>
                <a:lnTo>
                  <a:pt x="36" y="53"/>
                </a:lnTo>
                <a:lnTo>
                  <a:pt x="0" y="0"/>
                </a:lnTo>
                <a:lnTo>
                  <a:pt x="0" y="287"/>
                </a:lnTo>
                <a:lnTo>
                  <a:pt x="287" y="287"/>
                </a:lnTo>
                <a:lnTo>
                  <a:pt x="287" y="282"/>
                </a:lnTo>
              </a:path>
            </a:pathLst>
          </a:custGeom>
          <a:solidFill>
            <a:srgbClr val="FF0000"/>
          </a:solidFill>
          <a:ln cap="rnd" cmpd="sng" w="12700">
            <a:solidFill>
              <a:srgbClr val="66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5791200" y="5410200"/>
            <a:ext cx="457200" cy="457200"/>
          </a:xfrm>
          <a:custGeom>
            <a:rect b="b" l="l" r="r" t="t"/>
            <a:pathLst>
              <a:path extrusionOk="0" h="288" w="288">
                <a:moveTo>
                  <a:pt x="287" y="282"/>
                </a:moveTo>
                <a:lnTo>
                  <a:pt x="192" y="240"/>
                </a:lnTo>
                <a:lnTo>
                  <a:pt x="131" y="194"/>
                </a:lnTo>
                <a:lnTo>
                  <a:pt x="83" y="133"/>
                </a:lnTo>
                <a:lnTo>
                  <a:pt x="36" y="53"/>
                </a:lnTo>
                <a:lnTo>
                  <a:pt x="0" y="0"/>
                </a:lnTo>
                <a:lnTo>
                  <a:pt x="0" y="287"/>
                </a:lnTo>
                <a:lnTo>
                  <a:pt x="287" y="287"/>
                </a:lnTo>
                <a:lnTo>
                  <a:pt x="287" y="282"/>
                </a:lnTo>
              </a:path>
            </a:pathLst>
          </a:custGeom>
          <a:solidFill>
            <a:srgbClr val="FF0000"/>
          </a:solidFill>
          <a:ln cap="rnd" cmpd="sng" w="12700">
            <a:solidFill>
              <a:srgbClr val="66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4648200" y="5410200"/>
            <a:ext cx="457200" cy="457200"/>
          </a:xfrm>
          <a:custGeom>
            <a:rect b="b" l="l" r="r" t="t"/>
            <a:pathLst>
              <a:path extrusionOk="0" h="288" w="288">
                <a:moveTo>
                  <a:pt x="0" y="282"/>
                </a:moveTo>
                <a:lnTo>
                  <a:pt x="96" y="240"/>
                </a:lnTo>
                <a:lnTo>
                  <a:pt x="156" y="194"/>
                </a:lnTo>
                <a:lnTo>
                  <a:pt x="203" y="133"/>
                </a:lnTo>
                <a:lnTo>
                  <a:pt x="251" y="53"/>
                </a:lnTo>
                <a:lnTo>
                  <a:pt x="287" y="0"/>
                </a:lnTo>
                <a:lnTo>
                  <a:pt x="287" y="287"/>
                </a:lnTo>
                <a:lnTo>
                  <a:pt x="0" y="287"/>
                </a:lnTo>
                <a:lnTo>
                  <a:pt x="0" y="282"/>
                </a:lnTo>
              </a:path>
            </a:pathLst>
          </a:custGeom>
          <a:solidFill>
            <a:srgbClr val="FF0000"/>
          </a:solidFill>
          <a:ln cap="rnd" cmpd="sng" w="12700">
            <a:solidFill>
              <a:srgbClr val="66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4495800" y="2057400"/>
            <a:ext cx="952500" cy="914400"/>
          </a:xfrm>
          <a:custGeom>
            <a:rect b="b" l="l" r="r" t="t"/>
            <a:pathLst>
              <a:path extrusionOk="0" h="576" w="600">
                <a:moveTo>
                  <a:pt x="0" y="575"/>
                </a:moveTo>
                <a:lnTo>
                  <a:pt x="63" y="570"/>
                </a:lnTo>
                <a:lnTo>
                  <a:pt x="95" y="562"/>
                </a:lnTo>
                <a:lnTo>
                  <a:pt x="127" y="553"/>
                </a:lnTo>
                <a:lnTo>
                  <a:pt x="158" y="540"/>
                </a:lnTo>
                <a:lnTo>
                  <a:pt x="190" y="521"/>
                </a:lnTo>
                <a:lnTo>
                  <a:pt x="222" y="498"/>
                </a:lnTo>
                <a:lnTo>
                  <a:pt x="284" y="432"/>
                </a:lnTo>
                <a:lnTo>
                  <a:pt x="347" y="338"/>
                </a:lnTo>
                <a:lnTo>
                  <a:pt x="410" y="224"/>
                </a:lnTo>
                <a:lnTo>
                  <a:pt x="441" y="167"/>
                </a:lnTo>
                <a:lnTo>
                  <a:pt x="473" y="114"/>
                </a:lnTo>
                <a:lnTo>
                  <a:pt x="505" y="67"/>
                </a:lnTo>
                <a:lnTo>
                  <a:pt x="535" y="31"/>
                </a:lnTo>
                <a:lnTo>
                  <a:pt x="567" y="8"/>
                </a:lnTo>
                <a:lnTo>
                  <a:pt x="599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5486400" y="2057400"/>
            <a:ext cx="914400" cy="914400"/>
          </a:xfrm>
          <a:custGeom>
            <a:rect b="b" l="l" r="r" t="t"/>
            <a:pathLst>
              <a:path extrusionOk="0" h="576" w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4495800" y="3505200"/>
            <a:ext cx="952500" cy="914400"/>
          </a:xfrm>
          <a:custGeom>
            <a:rect b="b" l="l" r="r" t="t"/>
            <a:pathLst>
              <a:path extrusionOk="0" h="576" w="600">
                <a:moveTo>
                  <a:pt x="0" y="575"/>
                </a:moveTo>
                <a:lnTo>
                  <a:pt x="63" y="570"/>
                </a:lnTo>
                <a:lnTo>
                  <a:pt x="95" y="562"/>
                </a:lnTo>
                <a:lnTo>
                  <a:pt x="127" y="553"/>
                </a:lnTo>
                <a:lnTo>
                  <a:pt x="158" y="540"/>
                </a:lnTo>
                <a:lnTo>
                  <a:pt x="190" y="521"/>
                </a:lnTo>
                <a:lnTo>
                  <a:pt x="222" y="498"/>
                </a:lnTo>
                <a:lnTo>
                  <a:pt x="284" y="432"/>
                </a:lnTo>
                <a:lnTo>
                  <a:pt x="347" y="338"/>
                </a:lnTo>
                <a:lnTo>
                  <a:pt x="410" y="224"/>
                </a:lnTo>
                <a:lnTo>
                  <a:pt x="441" y="167"/>
                </a:lnTo>
                <a:lnTo>
                  <a:pt x="473" y="114"/>
                </a:lnTo>
                <a:lnTo>
                  <a:pt x="505" y="67"/>
                </a:lnTo>
                <a:lnTo>
                  <a:pt x="535" y="31"/>
                </a:lnTo>
                <a:lnTo>
                  <a:pt x="567" y="8"/>
                </a:lnTo>
                <a:lnTo>
                  <a:pt x="599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5486400" y="3505200"/>
            <a:ext cx="914400" cy="914400"/>
          </a:xfrm>
          <a:custGeom>
            <a:rect b="b" l="l" r="r" t="t"/>
            <a:pathLst>
              <a:path extrusionOk="0" h="576" w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4495800" y="4953000"/>
            <a:ext cx="952500" cy="914400"/>
          </a:xfrm>
          <a:custGeom>
            <a:rect b="b" l="l" r="r" t="t"/>
            <a:pathLst>
              <a:path extrusionOk="0" h="576" w="600">
                <a:moveTo>
                  <a:pt x="0" y="575"/>
                </a:moveTo>
                <a:lnTo>
                  <a:pt x="63" y="570"/>
                </a:lnTo>
                <a:lnTo>
                  <a:pt x="95" y="562"/>
                </a:lnTo>
                <a:lnTo>
                  <a:pt x="127" y="553"/>
                </a:lnTo>
                <a:lnTo>
                  <a:pt x="158" y="540"/>
                </a:lnTo>
                <a:lnTo>
                  <a:pt x="190" y="521"/>
                </a:lnTo>
                <a:lnTo>
                  <a:pt x="222" y="498"/>
                </a:lnTo>
                <a:lnTo>
                  <a:pt x="284" y="432"/>
                </a:lnTo>
                <a:lnTo>
                  <a:pt x="347" y="338"/>
                </a:lnTo>
                <a:lnTo>
                  <a:pt x="410" y="224"/>
                </a:lnTo>
                <a:lnTo>
                  <a:pt x="441" y="167"/>
                </a:lnTo>
                <a:lnTo>
                  <a:pt x="473" y="114"/>
                </a:lnTo>
                <a:lnTo>
                  <a:pt x="505" y="67"/>
                </a:lnTo>
                <a:lnTo>
                  <a:pt x="535" y="31"/>
                </a:lnTo>
                <a:lnTo>
                  <a:pt x="567" y="8"/>
                </a:lnTo>
                <a:lnTo>
                  <a:pt x="599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5486400" y="4953000"/>
            <a:ext cx="914400" cy="914400"/>
          </a:xfrm>
          <a:custGeom>
            <a:rect b="b" l="l" r="r" t="t"/>
            <a:pathLst>
              <a:path extrusionOk="0" h="576" w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838200" y="1905000"/>
            <a:ext cx="20669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3</a:t>
            </a:r>
            <a:endParaRPr/>
          </a:p>
        </p:txBody>
      </p:sp>
      <p:cxnSp>
        <p:nvCxnSpPr>
          <p:cNvPr id="599" name="Google Shape;599;p22"/>
          <p:cNvCxnSpPr/>
          <p:nvPr/>
        </p:nvCxnSpPr>
        <p:spPr>
          <a:xfrm>
            <a:off x="4435475" y="2971800"/>
            <a:ext cx="206375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22"/>
          <p:cNvCxnSpPr/>
          <p:nvPr/>
        </p:nvCxnSpPr>
        <p:spPr>
          <a:xfrm>
            <a:off x="4511675" y="4419600"/>
            <a:ext cx="206375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22"/>
          <p:cNvCxnSpPr/>
          <p:nvPr/>
        </p:nvCxnSpPr>
        <p:spPr>
          <a:xfrm>
            <a:off x="4511675" y="5867400"/>
            <a:ext cx="206375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22"/>
          <p:cNvSpPr/>
          <p:nvPr/>
        </p:nvSpPr>
        <p:spPr>
          <a:xfrm>
            <a:off x="5257800" y="2895600"/>
            <a:ext cx="7715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03" name="Google Shape;603;p22"/>
          <p:cNvSpPr/>
          <p:nvPr/>
        </p:nvSpPr>
        <p:spPr>
          <a:xfrm>
            <a:off x="5105400" y="4343400"/>
            <a:ext cx="8477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0</a:t>
            </a:r>
            <a:endParaRPr/>
          </a:p>
        </p:txBody>
      </p:sp>
      <p:sp>
        <p:nvSpPr>
          <p:cNvPr id="604" name="Google Shape;604;p22"/>
          <p:cNvSpPr/>
          <p:nvPr/>
        </p:nvSpPr>
        <p:spPr>
          <a:xfrm>
            <a:off x="5334000" y="5715000"/>
            <a:ext cx="6191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05" name="Google Shape;605;p22"/>
          <p:cNvSpPr/>
          <p:nvPr/>
        </p:nvSpPr>
        <p:spPr>
          <a:xfrm>
            <a:off x="762000" y="3429000"/>
            <a:ext cx="21431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3</a:t>
            </a:r>
            <a:endParaRPr/>
          </a:p>
        </p:txBody>
      </p:sp>
      <p:sp>
        <p:nvSpPr>
          <p:cNvPr id="606" name="Google Shape;606;p22"/>
          <p:cNvSpPr/>
          <p:nvPr/>
        </p:nvSpPr>
        <p:spPr>
          <a:xfrm>
            <a:off x="757238" y="4795838"/>
            <a:ext cx="19145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/>
          </a:p>
        </p:txBody>
      </p:sp>
      <p:cxnSp>
        <p:nvCxnSpPr>
          <p:cNvPr id="607" name="Google Shape;607;p22"/>
          <p:cNvCxnSpPr/>
          <p:nvPr/>
        </p:nvCxnSpPr>
        <p:spPr>
          <a:xfrm flipH="1">
            <a:off x="5178425" y="2219325"/>
            <a:ext cx="1152525" cy="52705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8" name="Google Shape;608;p22"/>
          <p:cNvSpPr/>
          <p:nvPr/>
        </p:nvSpPr>
        <p:spPr>
          <a:xfrm flipH="1">
            <a:off x="6249988" y="1754188"/>
            <a:ext cx="5302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sp>
        <p:nvSpPr>
          <p:cNvPr id="609" name="Google Shape;609;p22"/>
          <p:cNvSpPr/>
          <p:nvPr/>
        </p:nvSpPr>
        <p:spPr>
          <a:xfrm>
            <a:off x="7462838" y="3195638"/>
            <a:ext cx="9239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7386638" y="4491038"/>
            <a:ext cx="9239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α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endParaRPr/>
          </a:p>
        </p:txBody>
      </p:sp>
      <p:cxnSp>
        <p:nvCxnSpPr>
          <p:cNvPr id="611" name="Google Shape;611;p22"/>
          <p:cNvCxnSpPr/>
          <p:nvPr/>
        </p:nvCxnSpPr>
        <p:spPr>
          <a:xfrm flipH="1">
            <a:off x="6245225" y="3514725"/>
            <a:ext cx="1381125" cy="45085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2" name="Google Shape;612;p22"/>
          <p:cNvCxnSpPr/>
          <p:nvPr/>
        </p:nvCxnSpPr>
        <p:spPr>
          <a:xfrm flipH="1">
            <a:off x="6092825" y="5041900"/>
            <a:ext cx="1444625" cy="59055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3" name="Google Shape;613;p22"/>
          <p:cNvCxnSpPr/>
          <p:nvPr/>
        </p:nvCxnSpPr>
        <p:spPr>
          <a:xfrm flipH="1">
            <a:off x="5178425" y="4962525"/>
            <a:ext cx="2406650" cy="6699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14" name="Google Shape;614;p22"/>
          <p:cNvSpPr/>
          <p:nvPr/>
        </p:nvSpPr>
        <p:spPr>
          <a:xfrm>
            <a:off x="4953000" y="5791200"/>
            <a:ext cx="306388" cy="306388"/>
          </a:xfrm>
          <a:custGeom>
            <a:rect b="b" l="l" r="r" t="t"/>
            <a:pathLst>
              <a:path extrusionOk="0" h="193" w="193">
                <a:moveTo>
                  <a:pt x="192" y="96"/>
                </a:moveTo>
                <a:lnTo>
                  <a:pt x="113" y="79"/>
                </a:lnTo>
                <a:lnTo>
                  <a:pt x="96" y="0"/>
                </a:lnTo>
                <a:lnTo>
                  <a:pt x="79" y="79"/>
                </a:lnTo>
                <a:lnTo>
                  <a:pt x="0" y="96"/>
                </a:lnTo>
                <a:lnTo>
                  <a:pt x="79" y="113"/>
                </a:lnTo>
                <a:lnTo>
                  <a:pt x="96" y="192"/>
                </a:lnTo>
                <a:lnTo>
                  <a:pt x="113" y="113"/>
                </a:lnTo>
                <a:lnTo>
                  <a:pt x="192" y="96"/>
                </a:lnTo>
              </a:path>
            </a:pathLst>
          </a:custGeom>
          <a:solidFill>
            <a:schemeClr val="accent2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5638800" y="4341813"/>
            <a:ext cx="306388" cy="306387"/>
          </a:xfrm>
          <a:custGeom>
            <a:rect b="b" l="l" r="r" t="t"/>
            <a:pathLst>
              <a:path extrusionOk="0" h="193" w="193">
                <a:moveTo>
                  <a:pt x="192" y="96"/>
                </a:moveTo>
                <a:lnTo>
                  <a:pt x="113" y="79"/>
                </a:lnTo>
                <a:lnTo>
                  <a:pt x="96" y="0"/>
                </a:lnTo>
                <a:lnTo>
                  <a:pt x="79" y="79"/>
                </a:lnTo>
                <a:lnTo>
                  <a:pt x="0" y="96"/>
                </a:lnTo>
                <a:lnTo>
                  <a:pt x="79" y="113"/>
                </a:lnTo>
                <a:lnTo>
                  <a:pt x="96" y="192"/>
                </a:lnTo>
                <a:lnTo>
                  <a:pt x="113" y="113"/>
                </a:lnTo>
                <a:lnTo>
                  <a:pt x="192" y="96"/>
                </a:lnTo>
              </a:path>
            </a:pathLst>
          </a:custGeom>
          <a:solidFill>
            <a:srgbClr val="F8F800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4953000" y="2895600"/>
            <a:ext cx="306388" cy="306388"/>
          </a:xfrm>
          <a:custGeom>
            <a:rect b="b" l="l" r="r" t="t"/>
            <a:pathLst>
              <a:path extrusionOk="0" h="193" w="193">
                <a:moveTo>
                  <a:pt x="192" y="96"/>
                </a:moveTo>
                <a:lnTo>
                  <a:pt x="113" y="79"/>
                </a:lnTo>
                <a:lnTo>
                  <a:pt x="96" y="0"/>
                </a:lnTo>
                <a:lnTo>
                  <a:pt x="79" y="79"/>
                </a:lnTo>
                <a:lnTo>
                  <a:pt x="0" y="96"/>
                </a:lnTo>
                <a:lnTo>
                  <a:pt x="79" y="113"/>
                </a:lnTo>
                <a:lnTo>
                  <a:pt x="96" y="192"/>
                </a:lnTo>
                <a:lnTo>
                  <a:pt x="113" y="113"/>
                </a:lnTo>
                <a:lnTo>
                  <a:pt x="192" y="96"/>
                </a:lnTo>
              </a:path>
            </a:pathLst>
          </a:custGeom>
          <a:solidFill>
            <a:srgbClr val="F8F800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5638800" y="5791200"/>
            <a:ext cx="306388" cy="306388"/>
          </a:xfrm>
          <a:custGeom>
            <a:rect b="b" l="l" r="r" t="t"/>
            <a:pathLst>
              <a:path extrusionOk="0" h="193" w="193">
                <a:moveTo>
                  <a:pt x="192" y="96"/>
                </a:moveTo>
                <a:lnTo>
                  <a:pt x="113" y="79"/>
                </a:lnTo>
                <a:lnTo>
                  <a:pt x="96" y="0"/>
                </a:lnTo>
                <a:lnTo>
                  <a:pt x="79" y="79"/>
                </a:lnTo>
                <a:lnTo>
                  <a:pt x="0" y="96"/>
                </a:lnTo>
                <a:lnTo>
                  <a:pt x="79" y="113"/>
                </a:lnTo>
                <a:lnTo>
                  <a:pt x="96" y="192"/>
                </a:lnTo>
                <a:lnTo>
                  <a:pt x="113" y="113"/>
                </a:lnTo>
                <a:lnTo>
                  <a:pt x="192" y="96"/>
                </a:lnTo>
              </a:path>
            </a:pathLst>
          </a:custGeom>
          <a:solidFill>
            <a:srgbClr val="F8F800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7239000" y="1905000"/>
            <a:ext cx="1609725" cy="819150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Nilai kritikal</a:t>
            </a:r>
            <a:endParaRPr/>
          </a:p>
        </p:txBody>
      </p:sp>
      <p:sp>
        <p:nvSpPr>
          <p:cNvPr id="619" name="Google Shape;619;p22"/>
          <p:cNvSpPr/>
          <p:nvPr/>
        </p:nvSpPr>
        <p:spPr>
          <a:xfrm>
            <a:off x="7313613" y="1981200"/>
            <a:ext cx="306387" cy="306388"/>
          </a:xfrm>
          <a:custGeom>
            <a:rect b="b" l="l" r="r" t="t"/>
            <a:pathLst>
              <a:path extrusionOk="0" h="193" w="193">
                <a:moveTo>
                  <a:pt x="192" y="96"/>
                </a:moveTo>
                <a:lnTo>
                  <a:pt x="113" y="79"/>
                </a:lnTo>
                <a:lnTo>
                  <a:pt x="96" y="0"/>
                </a:lnTo>
                <a:lnTo>
                  <a:pt x="79" y="79"/>
                </a:lnTo>
                <a:lnTo>
                  <a:pt x="0" y="96"/>
                </a:lnTo>
                <a:lnTo>
                  <a:pt x="79" y="113"/>
                </a:lnTo>
                <a:lnTo>
                  <a:pt x="96" y="192"/>
                </a:lnTo>
                <a:lnTo>
                  <a:pt x="113" y="113"/>
                </a:lnTo>
                <a:lnTo>
                  <a:pt x="192" y="96"/>
                </a:lnTo>
              </a:path>
            </a:pathLst>
          </a:custGeom>
          <a:solidFill>
            <a:srgbClr val="F8F800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2509838" y="2890838"/>
            <a:ext cx="229552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Rejection Region</a:t>
            </a:r>
            <a:endParaRPr/>
          </a:p>
        </p:txBody>
      </p:sp>
      <p:cxnSp>
        <p:nvCxnSpPr>
          <p:cNvPr id="621" name="Google Shape;621;p22"/>
          <p:cNvCxnSpPr/>
          <p:nvPr/>
        </p:nvCxnSpPr>
        <p:spPr>
          <a:xfrm flipH="1" rot="10800000">
            <a:off x="4422775" y="2967038"/>
            <a:ext cx="446088" cy="293687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2" name="Google Shape;622;p22"/>
          <p:cNvCxnSpPr/>
          <p:nvPr/>
        </p:nvCxnSpPr>
        <p:spPr>
          <a:xfrm>
            <a:off x="4200525" y="3514725"/>
            <a:ext cx="1508125" cy="59372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623" name="Google Shape;6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629" name="Google Shape;629;p2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0" name="Google Shape;630;p23"/>
          <p:cNvSpPr/>
          <p:nvPr/>
        </p:nvSpPr>
        <p:spPr>
          <a:xfrm>
            <a:off x="685800" y="3124200"/>
            <a:ext cx="1447800" cy="2743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2133600" y="2590800"/>
            <a:ext cx="2514600" cy="10668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6096000" y="2590800"/>
            <a:ext cx="2590800" cy="1066800"/>
          </a:xfrm>
          <a:prstGeom prst="rect">
            <a:avLst/>
          </a:prstGeom>
          <a:solidFill>
            <a:srgbClr val="C9C9F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3"/>
          <p:cNvSpPr/>
          <p:nvPr/>
        </p:nvSpPr>
        <p:spPr>
          <a:xfrm>
            <a:off x="4648200" y="3124200"/>
            <a:ext cx="1447800" cy="2743200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Daftar Variasi Peluang Hasil Uji Hipotesa</a:t>
            </a:r>
            <a:endParaRPr/>
          </a:p>
        </p:txBody>
      </p:sp>
      <p:sp>
        <p:nvSpPr>
          <p:cNvPr id="635" name="Google Shape;635;p23"/>
          <p:cNvSpPr/>
          <p:nvPr/>
        </p:nvSpPr>
        <p:spPr>
          <a:xfrm>
            <a:off x="679450" y="2106613"/>
            <a:ext cx="7961313" cy="37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3432175" y="1524000"/>
            <a:ext cx="2511425" cy="466725"/>
          </a:xfrm>
          <a:prstGeom prst="rect">
            <a:avLst/>
          </a:prstGeom>
          <a:solidFill>
            <a:srgbClr val="FFCCFF"/>
          </a:solidFill>
          <a:ln cap="flat" cmpd="sng" w="12700">
            <a:solidFill>
              <a:srgbClr val="FEE5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Innocent</a:t>
            </a:r>
            <a:endParaRPr/>
          </a:p>
        </p:txBody>
      </p:sp>
      <p:sp>
        <p:nvSpPr>
          <p:cNvPr id="637" name="Google Shape;637;p23"/>
          <p:cNvSpPr/>
          <p:nvPr/>
        </p:nvSpPr>
        <p:spPr>
          <a:xfrm>
            <a:off x="2147888" y="2570163"/>
            <a:ext cx="2465387" cy="1746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2209800" y="2590800"/>
            <a:ext cx="2362200" cy="4937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2236788" y="2630488"/>
            <a:ext cx="1584325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Truth</a:t>
            </a:r>
            <a:endParaRPr/>
          </a:p>
        </p:txBody>
      </p:sp>
      <p:sp>
        <p:nvSpPr>
          <p:cNvPr id="640" name="Google Shape;640;p23"/>
          <p:cNvSpPr/>
          <p:nvPr/>
        </p:nvSpPr>
        <p:spPr>
          <a:xfrm>
            <a:off x="6116638" y="2597150"/>
            <a:ext cx="2471737" cy="493713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6188075" y="2630488"/>
            <a:ext cx="1584325" cy="454025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Truth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3468688" y="3138488"/>
            <a:ext cx="17462" cy="5032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709613" y="3138488"/>
            <a:ext cx="1400175" cy="5032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766763" y="3181350"/>
            <a:ext cx="1214437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Verdict</a:t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2174875" y="3138488"/>
            <a:ext cx="1284288" cy="4937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2154238" y="3171825"/>
            <a:ext cx="1350962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Innocent</a:t>
            </a:r>
            <a:endParaRPr/>
          </a:p>
        </p:txBody>
      </p:sp>
      <p:sp>
        <p:nvSpPr>
          <p:cNvPr id="647" name="Google Shape;647;p23"/>
          <p:cNvSpPr/>
          <p:nvPr/>
        </p:nvSpPr>
        <p:spPr>
          <a:xfrm>
            <a:off x="3495675" y="3138488"/>
            <a:ext cx="1076325" cy="4937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3429000" y="3171825"/>
            <a:ext cx="990600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Guilty</a:t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4676775" y="3138488"/>
            <a:ext cx="1376363" cy="503237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4632325" y="3181350"/>
            <a:ext cx="14509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/>
          </a:p>
        </p:txBody>
      </p:sp>
      <p:sp>
        <p:nvSpPr>
          <p:cNvPr id="651" name="Google Shape;651;p23"/>
          <p:cNvSpPr/>
          <p:nvPr/>
        </p:nvSpPr>
        <p:spPr>
          <a:xfrm>
            <a:off x="6116638" y="3138488"/>
            <a:ext cx="1149350" cy="503237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6069013" y="3179763"/>
            <a:ext cx="401637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653" name="Google Shape;653;p23"/>
          <p:cNvSpPr/>
          <p:nvPr/>
        </p:nvSpPr>
        <p:spPr>
          <a:xfrm>
            <a:off x="6288088" y="3316288"/>
            <a:ext cx="293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6397625" y="3179763"/>
            <a:ext cx="8921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True</a:t>
            </a:r>
            <a:endParaRPr/>
          </a:p>
        </p:txBody>
      </p:sp>
      <p:sp>
        <p:nvSpPr>
          <p:cNvPr id="655" name="Google Shape;655;p23"/>
          <p:cNvSpPr/>
          <p:nvPr/>
        </p:nvSpPr>
        <p:spPr>
          <a:xfrm>
            <a:off x="7304088" y="3138488"/>
            <a:ext cx="1296987" cy="503237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7270750" y="3179763"/>
            <a:ext cx="401638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>
            <a:off x="7489825" y="3316288"/>
            <a:ext cx="2936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58" name="Google Shape;658;p23"/>
          <p:cNvSpPr/>
          <p:nvPr/>
        </p:nvSpPr>
        <p:spPr>
          <a:xfrm>
            <a:off x="7600950" y="3179763"/>
            <a:ext cx="1011238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False</a:t>
            </a:r>
            <a:endParaRPr/>
          </a:p>
        </p:txBody>
      </p:sp>
      <p:sp>
        <p:nvSpPr>
          <p:cNvPr id="659" name="Google Shape;659;p23"/>
          <p:cNvSpPr/>
          <p:nvPr/>
        </p:nvSpPr>
        <p:spPr>
          <a:xfrm>
            <a:off x="709613" y="3706813"/>
            <a:ext cx="1400175" cy="65563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681038" y="3978275"/>
            <a:ext cx="1350962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Innocent</a:t>
            </a:r>
            <a:endParaRPr/>
          </a:p>
        </p:txBody>
      </p:sp>
      <p:sp>
        <p:nvSpPr>
          <p:cNvPr id="661" name="Google Shape;661;p23"/>
          <p:cNvSpPr/>
          <p:nvPr/>
        </p:nvSpPr>
        <p:spPr>
          <a:xfrm>
            <a:off x="709613" y="4371975"/>
            <a:ext cx="1400175" cy="4064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2217738" y="3968750"/>
            <a:ext cx="1266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</a:t>
            </a:r>
            <a:endParaRPr/>
          </a:p>
        </p:txBody>
      </p:sp>
      <p:sp>
        <p:nvSpPr>
          <p:cNvPr id="663" name="Google Shape;663;p23"/>
          <p:cNvSpPr/>
          <p:nvPr/>
        </p:nvSpPr>
        <p:spPr>
          <a:xfrm>
            <a:off x="3627438" y="3968750"/>
            <a:ext cx="9271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/>
          </a:p>
        </p:txBody>
      </p:sp>
      <p:sp>
        <p:nvSpPr>
          <p:cNvPr id="664" name="Google Shape;664;p23"/>
          <p:cNvSpPr/>
          <p:nvPr/>
        </p:nvSpPr>
        <p:spPr>
          <a:xfrm>
            <a:off x="4648200" y="3706813"/>
            <a:ext cx="1376363" cy="350837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3"/>
          <p:cNvSpPr/>
          <p:nvPr/>
        </p:nvSpPr>
        <p:spPr>
          <a:xfrm>
            <a:off x="4772025" y="3671888"/>
            <a:ext cx="11303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</a:t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4676775" y="4067175"/>
            <a:ext cx="1376363" cy="428625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4811713" y="4032250"/>
            <a:ext cx="1046162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668" name="Google Shape;668;p23"/>
          <p:cNvSpPr/>
          <p:nvPr/>
        </p:nvSpPr>
        <p:spPr>
          <a:xfrm>
            <a:off x="4676775" y="4427538"/>
            <a:ext cx="1376363" cy="350837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5103813" y="4392613"/>
            <a:ext cx="401637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5324475" y="4529138"/>
            <a:ext cx="2936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71" name="Google Shape;671;p23"/>
          <p:cNvSpPr/>
          <p:nvPr/>
        </p:nvSpPr>
        <p:spPr>
          <a:xfrm>
            <a:off x="6275388" y="3989388"/>
            <a:ext cx="620712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1 - </a:t>
            </a:r>
            <a:endParaRPr/>
          </a:p>
        </p:txBody>
      </p:sp>
      <p:sp>
        <p:nvSpPr>
          <p:cNvPr id="672" name="Google Shape;672;p23"/>
          <p:cNvSpPr/>
          <p:nvPr/>
        </p:nvSpPr>
        <p:spPr>
          <a:xfrm>
            <a:off x="6718300" y="3992563"/>
            <a:ext cx="373063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 b="1" sz="2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7383463" y="3816350"/>
            <a:ext cx="1144587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II</a:t>
            </a:r>
            <a:endParaRPr/>
          </a:p>
        </p:txBody>
      </p:sp>
      <p:sp>
        <p:nvSpPr>
          <p:cNvPr id="674" name="Google Shape;674;p23"/>
          <p:cNvSpPr/>
          <p:nvPr/>
        </p:nvSpPr>
        <p:spPr>
          <a:xfrm>
            <a:off x="7283450" y="4187825"/>
            <a:ext cx="1112838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(</a:t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8153400" y="4184650"/>
            <a:ext cx="423863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 b="1" sz="2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8451850" y="4184650"/>
            <a:ext cx="2825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709613" y="4814888"/>
            <a:ext cx="1400175" cy="10525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681038" y="5086350"/>
            <a:ext cx="960437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Guilty</a:t>
            </a:r>
            <a:endParaRPr/>
          </a:p>
        </p:txBody>
      </p:sp>
      <p:sp>
        <p:nvSpPr>
          <p:cNvPr id="679" name="Google Shape;679;p23"/>
          <p:cNvSpPr/>
          <p:nvPr/>
        </p:nvSpPr>
        <p:spPr>
          <a:xfrm>
            <a:off x="709613" y="5480050"/>
            <a:ext cx="1400175" cy="40005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2362200" y="5048250"/>
            <a:ext cx="9271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/>
          </a:p>
        </p:txBody>
      </p:sp>
      <p:sp>
        <p:nvSpPr>
          <p:cNvPr id="681" name="Google Shape;681;p23"/>
          <p:cNvSpPr/>
          <p:nvPr/>
        </p:nvSpPr>
        <p:spPr>
          <a:xfrm>
            <a:off x="3429000" y="5076825"/>
            <a:ext cx="12668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</a:t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4676775" y="4814888"/>
            <a:ext cx="1376363" cy="519112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4811713" y="4933950"/>
            <a:ext cx="1046162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4876800" y="5327650"/>
            <a:ext cx="1176338" cy="539750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5103813" y="5294313"/>
            <a:ext cx="401637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5324475" y="5429250"/>
            <a:ext cx="2936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687" name="Google Shape;687;p23"/>
          <p:cNvSpPr/>
          <p:nvPr/>
        </p:nvSpPr>
        <p:spPr>
          <a:xfrm>
            <a:off x="4676775" y="5688013"/>
            <a:ext cx="1376363" cy="192087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6165850" y="4772025"/>
            <a:ext cx="106045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</a:t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>
            <a:off x="6251575" y="5122863"/>
            <a:ext cx="92710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>
            <a:off x="6394450" y="5480050"/>
            <a:ext cx="2825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6499225" y="5497513"/>
            <a:ext cx="373063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 b="1" sz="2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2" name="Google Shape;692;p23"/>
          <p:cNvSpPr/>
          <p:nvPr/>
        </p:nvSpPr>
        <p:spPr>
          <a:xfrm>
            <a:off x="6775450" y="5480050"/>
            <a:ext cx="2825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693" name="Google Shape;693;p23"/>
          <p:cNvSpPr/>
          <p:nvPr/>
        </p:nvSpPr>
        <p:spPr>
          <a:xfrm>
            <a:off x="7419975" y="4924425"/>
            <a:ext cx="1095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>
            <a:off x="7445375" y="5297488"/>
            <a:ext cx="722313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(1 - </a:t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7924800" y="5299075"/>
            <a:ext cx="423863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 sz="24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6" name="Google Shape;696;p23"/>
          <p:cNvSpPr/>
          <p:nvPr/>
        </p:nvSpPr>
        <p:spPr>
          <a:xfrm>
            <a:off x="8229600" y="5297488"/>
            <a:ext cx="2825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>
            <a:off x="2438400" y="2057400"/>
            <a:ext cx="1552575" cy="45402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Jury Trial</a:t>
            </a:r>
            <a:endParaRPr/>
          </a:p>
        </p:txBody>
      </p:sp>
      <p:sp>
        <p:nvSpPr>
          <p:cNvPr id="698" name="Google Shape;698;p23"/>
          <p:cNvSpPr/>
          <p:nvPr/>
        </p:nvSpPr>
        <p:spPr>
          <a:xfrm>
            <a:off x="5257800" y="2127250"/>
            <a:ext cx="1824038" cy="45402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endParaRPr/>
          </a:p>
        </p:txBody>
      </p:sp>
      <p:sp>
        <p:nvSpPr>
          <p:cNvPr id="699" name="Google Shape;699;p23"/>
          <p:cNvSpPr/>
          <p:nvPr/>
        </p:nvSpPr>
        <p:spPr>
          <a:xfrm>
            <a:off x="7010400" y="2133600"/>
            <a:ext cx="838200" cy="454025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cxnSp>
        <p:nvCxnSpPr>
          <p:cNvPr id="700" name="Google Shape;700;p23"/>
          <p:cNvCxnSpPr/>
          <p:nvPr/>
        </p:nvCxnSpPr>
        <p:spPr>
          <a:xfrm>
            <a:off x="762000" y="3657600"/>
            <a:ext cx="381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1" name="Google Shape;701;p23"/>
          <p:cNvCxnSpPr/>
          <p:nvPr/>
        </p:nvCxnSpPr>
        <p:spPr>
          <a:xfrm>
            <a:off x="762000" y="4800600"/>
            <a:ext cx="381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2" name="Google Shape;702;p23"/>
          <p:cNvCxnSpPr/>
          <p:nvPr/>
        </p:nvCxnSpPr>
        <p:spPr>
          <a:xfrm>
            <a:off x="685800" y="5867400"/>
            <a:ext cx="388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3" name="Google Shape;703;p23"/>
          <p:cNvCxnSpPr/>
          <p:nvPr/>
        </p:nvCxnSpPr>
        <p:spPr>
          <a:xfrm>
            <a:off x="4724400" y="3657600"/>
            <a:ext cx="381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4" name="Google Shape;704;p23"/>
          <p:cNvCxnSpPr/>
          <p:nvPr/>
        </p:nvCxnSpPr>
        <p:spPr>
          <a:xfrm>
            <a:off x="4724400" y="4800600"/>
            <a:ext cx="381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5" name="Google Shape;705;p23"/>
          <p:cNvCxnSpPr/>
          <p:nvPr/>
        </p:nvCxnSpPr>
        <p:spPr>
          <a:xfrm>
            <a:off x="4495800" y="5867400"/>
            <a:ext cx="419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6" name="Google Shape;706;p23"/>
          <p:cNvCxnSpPr/>
          <p:nvPr/>
        </p:nvCxnSpPr>
        <p:spPr>
          <a:xfrm>
            <a:off x="762000" y="3124200"/>
            <a:ext cx="381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7" name="Google Shape;707;p23"/>
          <p:cNvCxnSpPr/>
          <p:nvPr/>
        </p:nvCxnSpPr>
        <p:spPr>
          <a:xfrm flipH="1" rot="10800000">
            <a:off x="4648200" y="3105150"/>
            <a:ext cx="3886200" cy="19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8" name="Google Shape;708;p23"/>
          <p:cNvCxnSpPr/>
          <p:nvPr/>
        </p:nvCxnSpPr>
        <p:spPr>
          <a:xfrm>
            <a:off x="2133600" y="2590800"/>
            <a:ext cx="0" cy="327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09" name="Google Shape;709;p23"/>
          <p:cNvCxnSpPr/>
          <p:nvPr/>
        </p:nvCxnSpPr>
        <p:spPr>
          <a:xfrm>
            <a:off x="3429000" y="3124200"/>
            <a:ext cx="0" cy="274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0" name="Google Shape;710;p23"/>
          <p:cNvCxnSpPr/>
          <p:nvPr/>
        </p:nvCxnSpPr>
        <p:spPr>
          <a:xfrm>
            <a:off x="7286625" y="3124200"/>
            <a:ext cx="0" cy="274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1" name="Google Shape;711;p23"/>
          <p:cNvCxnSpPr/>
          <p:nvPr/>
        </p:nvCxnSpPr>
        <p:spPr>
          <a:xfrm>
            <a:off x="8686800" y="2590800"/>
            <a:ext cx="0" cy="327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2" name="Google Shape;712;p23"/>
          <p:cNvCxnSpPr/>
          <p:nvPr/>
        </p:nvCxnSpPr>
        <p:spPr>
          <a:xfrm>
            <a:off x="6096000" y="2590800"/>
            <a:ext cx="0" cy="327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3" name="Google Shape;713;p23"/>
          <p:cNvCxnSpPr/>
          <p:nvPr/>
        </p:nvCxnSpPr>
        <p:spPr>
          <a:xfrm>
            <a:off x="4648200" y="2590800"/>
            <a:ext cx="0" cy="32766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4" name="Google Shape;714;p23"/>
          <p:cNvCxnSpPr/>
          <p:nvPr/>
        </p:nvCxnSpPr>
        <p:spPr>
          <a:xfrm>
            <a:off x="685800" y="2590800"/>
            <a:ext cx="0" cy="327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5" name="Google Shape;715;p23"/>
          <p:cNvCxnSpPr/>
          <p:nvPr/>
        </p:nvCxnSpPr>
        <p:spPr>
          <a:xfrm>
            <a:off x="4648200" y="2590800"/>
            <a:ext cx="403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16" name="Google Shape;716;p23"/>
          <p:cNvCxnSpPr/>
          <p:nvPr/>
        </p:nvCxnSpPr>
        <p:spPr>
          <a:xfrm>
            <a:off x="685800" y="2590800"/>
            <a:ext cx="388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717" name="Google Shape;7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723" name="Google Shape;723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24" name="Google Shape;724;p24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Hal-Hal yang Berpengaruh pada Type II Error</a:t>
            </a:r>
            <a:endParaRPr/>
          </a:p>
        </p:txBody>
      </p:sp>
      <p:sp>
        <p:nvSpPr>
          <p:cNvPr id="725" name="Google Shape;725;p24"/>
          <p:cNvSpPr txBox="1"/>
          <p:nvPr>
            <p:ph idx="1" type="body"/>
          </p:nvPr>
        </p:nvSpPr>
        <p:spPr>
          <a:xfrm>
            <a:off x="457200" y="22098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Nilai sesungguhnya dari parameter populasi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β bertambah jika perbedaan antara nilai parameter yang menjadi hipotesa dengan nilai sebenarnya berkurang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Signifikan Level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β bertambah jika α berkurang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Standar Deviasi Populasi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β bertambah jika α berkurang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Ukuran ruang sampel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β bertambah jika </a:t>
            </a:r>
            <a:r>
              <a:rPr i="1" lang="en-US" sz="2400"/>
              <a:t>n</a:t>
            </a:r>
            <a:r>
              <a:rPr lang="en-US" sz="2400"/>
              <a:t>  berkurang</a:t>
            </a:r>
            <a:endParaRPr/>
          </a:p>
        </p:txBody>
      </p:sp>
      <p:pic>
        <p:nvPicPr>
          <p:cNvPr id="726" name="Google Shape;7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732" name="Google Shape;732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3" name="Google Shape;733;p2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I atau Type II Error, </a:t>
            </a:r>
            <a:br>
              <a:rPr lang="en-US"/>
            </a:br>
            <a:r>
              <a:rPr lang="en-US"/>
              <a:t>Pilih mana?</a:t>
            </a:r>
            <a:endParaRPr/>
          </a:p>
        </p:txBody>
      </p:sp>
      <p:sp>
        <p:nvSpPr>
          <p:cNvPr id="734" name="Google Shape;734;p25"/>
          <p:cNvSpPr txBox="1"/>
          <p:nvPr>
            <p:ph idx="1" type="body"/>
          </p:nvPr>
        </p:nvSpPr>
        <p:spPr>
          <a:xfrm>
            <a:off x="228600" y="2286000"/>
            <a:ext cx="8610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675" lvl="0" marL="3206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Pemilihan error tergantung pada biaya yang dikeluarkan untuk masing-masing jenis error</a:t>
            </a:r>
            <a:endParaRPr/>
          </a:p>
          <a:p>
            <a:pPr indent="-320675" lvl="0" marL="32067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Pilih Type I Error yang lebih kecil jika biaya untuk menolak hipotesa tinggi</a:t>
            </a:r>
            <a:endParaRPr/>
          </a:p>
          <a:p>
            <a:pPr indent="-268288" lvl="1" marL="693738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Pengadilan kriminal: meyakinkan orang yang tidak bersalah</a:t>
            </a:r>
            <a:endParaRPr/>
          </a:p>
          <a:p>
            <a:pPr indent="-320675" lvl="0" marL="320675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Pilih Type I Error yang lebih besar jika ingin merubah status quo</a:t>
            </a:r>
            <a:endParaRPr/>
          </a:p>
          <a:p>
            <a:pPr indent="-268288" lvl="1" marL="693738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Pengambilan keputusan di perusahaan baru tentang pembuatan software</a:t>
            </a:r>
            <a:endParaRPr/>
          </a:p>
        </p:txBody>
      </p:sp>
      <p:pic>
        <p:nvPicPr>
          <p:cNvPr id="735" name="Google Shape;7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741" name="Google Shape;741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2" name="Google Shape;742;p2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Pendekatan Nilai Kritikal pada Pengujian</a:t>
            </a:r>
            <a:endParaRPr/>
          </a:p>
        </p:txBody>
      </p:sp>
      <p:sp>
        <p:nvSpPr>
          <p:cNvPr id="743" name="Google Shape;743;p26"/>
          <p:cNvSpPr txBox="1"/>
          <p:nvPr>
            <p:ph idx="1" type="body"/>
          </p:nvPr>
        </p:nvSpPr>
        <p:spPr>
          <a:xfrm>
            <a:off x="381000" y="2362200"/>
            <a:ext cx="8229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Rubah nilai sampel statistik (mis.    ) menjadi nilai uji statistik (mis. </a:t>
            </a:r>
            <a:r>
              <a:rPr i="1" lang="en-US" sz="2800"/>
              <a:t>Z, t  </a:t>
            </a:r>
            <a:r>
              <a:rPr lang="en-US" sz="2800"/>
              <a:t>atau </a:t>
            </a:r>
            <a:r>
              <a:rPr i="1" lang="en-US" sz="2800"/>
              <a:t>F</a:t>
            </a:r>
            <a:r>
              <a:rPr lang="en-US" sz="2800"/>
              <a:t> –nilai statistik)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Dapatkan nilai kritikal untuk level signifikan α yang telah ditentukan dari membaca Tabel atau memanggil fungsi dari komputer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Jika uji statistik ada dalam critical region, tolak H</a:t>
            </a:r>
            <a:r>
              <a:rPr baseline="-25000" lang="en-US" sz="2400"/>
              <a:t>0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Jika diluar critical region, terima H</a:t>
            </a:r>
            <a:r>
              <a:rPr baseline="-25000" lang="en-US" sz="2400"/>
              <a:t>0</a:t>
            </a:r>
            <a:r>
              <a:rPr lang="en-US" sz="2400"/>
              <a:t>  </a:t>
            </a:r>
            <a:endParaRPr/>
          </a:p>
        </p:txBody>
      </p:sp>
      <p:pic>
        <p:nvPicPr>
          <p:cNvPr id="744" name="Google Shape;7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362200"/>
            <a:ext cx="42703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751" name="Google Shape;751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2" name="Google Shape;752;p2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Pendekatan p-Value pada Pengujian</a:t>
            </a:r>
            <a:endParaRPr/>
          </a:p>
        </p:txBody>
      </p:sp>
      <p:sp>
        <p:nvSpPr>
          <p:cNvPr id="753" name="Google Shape;753;p27"/>
          <p:cNvSpPr txBox="1"/>
          <p:nvPr>
            <p:ph idx="1" type="body"/>
          </p:nvPr>
        </p:nvSpPr>
        <p:spPr>
          <a:xfrm>
            <a:off x="304800" y="2133600"/>
            <a:ext cx="8686800" cy="4227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675" lvl="0" marL="320675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Ubah nilai sampel statistik (mis.    ) menjadi nilai uji statistik (mis. </a:t>
            </a:r>
            <a:r>
              <a:rPr i="1" lang="en-US" sz="2400"/>
              <a:t>Z, t  </a:t>
            </a:r>
            <a:r>
              <a:rPr lang="en-US" sz="2400"/>
              <a:t>atau </a:t>
            </a:r>
            <a:r>
              <a:rPr i="1" lang="en-US" sz="2400"/>
              <a:t>F</a:t>
            </a:r>
            <a:r>
              <a:rPr lang="en-US" sz="2400"/>
              <a:t> –nilai statistik)</a:t>
            </a:r>
            <a:endParaRPr/>
          </a:p>
          <a:p>
            <a:pPr indent="-320675" lvl="0" marL="320675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Dapatkan p-value dari membaca Tabel atau memanggil fungsi dari komputer</a:t>
            </a:r>
            <a:endParaRPr/>
          </a:p>
          <a:p>
            <a:pPr indent="-268288" lvl="1" marL="693738" rtl="0" algn="l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/>
              <a:t>p-value: peluang untuk mendapat uji statistik sebagai nilai yang ≤ atau ≥ dari nilai sampel hasil observasi yang diberikan jika H</a:t>
            </a:r>
            <a:r>
              <a:rPr baseline="-25000" lang="en-US" sz="2000"/>
              <a:t>0</a:t>
            </a:r>
            <a:r>
              <a:rPr lang="en-US" sz="2000"/>
              <a:t> benar</a:t>
            </a:r>
            <a:endParaRPr/>
          </a:p>
          <a:p>
            <a:pPr indent="-268288" lvl="1" marL="693738" rtl="0" algn="l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/>
              <a:t>Disebut dengan signifikan level α hasil observasi</a:t>
            </a:r>
            <a:endParaRPr/>
          </a:p>
          <a:p>
            <a:pPr indent="-268288" lvl="1" marL="693738" rtl="0" algn="l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/>
              <a:t>Nilai terkecil dari α  yang dapat ditolak oleh H</a:t>
            </a:r>
            <a:r>
              <a:rPr baseline="-25000" lang="en-US" sz="2000"/>
              <a:t>0</a:t>
            </a:r>
            <a:endParaRPr sz="2000"/>
          </a:p>
          <a:p>
            <a:pPr indent="-320675" lvl="0" marL="320675" rtl="0" algn="l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Bandingkan nilai p-value dengan …</a:t>
            </a:r>
            <a:endParaRPr/>
          </a:p>
          <a:p>
            <a:pPr indent="-268288" lvl="1" marL="693738" rtl="0" algn="l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/>
              <a:t>Jika p-value &lt; α, tolak H</a:t>
            </a:r>
            <a:r>
              <a:rPr baseline="-25000" lang="en-US" sz="2000"/>
              <a:t>0</a:t>
            </a:r>
            <a:r>
              <a:rPr lang="en-US" sz="2000"/>
              <a:t>  </a:t>
            </a:r>
            <a:endParaRPr/>
          </a:p>
          <a:p>
            <a:pPr indent="-268288" lvl="1" marL="693738" rtl="0" algn="l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/>
              <a:t>Jika p-value ≥ α, terima H</a:t>
            </a:r>
            <a:r>
              <a:rPr baseline="-25000" lang="en-US" sz="2000"/>
              <a:t>0</a:t>
            </a:r>
            <a:endParaRPr/>
          </a:p>
        </p:txBody>
      </p:sp>
      <p:pic>
        <p:nvPicPr>
          <p:cNvPr id="754" name="Google Shape;7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2120900"/>
            <a:ext cx="396875" cy="4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761" name="Google Shape;761;p2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4572000" y="3124200"/>
            <a:ext cx="3733800" cy="31242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Langkah-Langkah Uji Hipotesa</a:t>
            </a:r>
            <a:endParaRPr/>
          </a:p>
        </p:txBody>
      </p:sp>
      <p:sp>
        <p:nvSpPr>
          <p:cNvPr id="764" name="Google Shape;764;p28"/>
          <p:cNvSpPr txBox="1"/>
          <p:nvPr>
            <p:ph idx="1" type="body"/>
          </p:nvPr>
        </p:nvSpPr>
        <p:spPr>
          <a:xfrm>
            <a:off x="457200" y="1868488"/>
            <a:ext cx="8458200" cy="11795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sz="2400"/>
              <a:t>Misal rata-rata jumlah #TV sets setiap rumah tangga di Surabaya untuk ekonomi menengah setidaknya = 3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sz="2400"/>
              <a:t>	(asumsi σ diketahui)</a:t>
            </a:r>
            <a:endParaRPr/>
          </a:p>
        </p:txBody>
      </p:sp>
      <p:sp>
        <p:nvSpPr>
          <p:cNvPr id="765" name="Google Shape;765;p28"/>
          <p:cNvSpPr/>
          <p:nvPr/>
        </p:nvSpPr>
        <p:spPr>
          <a:xfrm>
            <a:off x="990600" y="3124200"/>
            <a:ext cx="3581400" cy="3124200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2650" lIns="85325" spcFirstLastPara="1" rIns="85325" wrap="square" tIns="42650">
            <a:noAutofit/>
          </a:bodyPr>
          <a:lstStyle/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AutoNum type="arabicPeriod"/>
            </a:pPr>
            <a:r>
              <a:rPr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Nyatakan H</a:t>
            </a:r>
            <a:r>
              <a:rPr baseline="-25000"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AutoNum type="arabicPeriod"/>
            </a:pPr>
            <a:r>
              <a:rPr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Nyatakan H</a:t>
            </a:r>
            <a:r>
              <a:rPr baseline="-25000"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AutoNum type="arabicPeriod"/>
            </a:pPr>
            <a:r>
              <a:rPr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Pilih nilai α</a:t>
            </a:r>
            <a:endParaRPr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AutoNum type="arabicPeriod"/>
            </a:pPr>
            <a:r>
              <a:rPr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Pilih jumlah </a:t>
            </a:r>
            <a:r>
              <a:rPr i="1"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endParaRPr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AutoNum type="arabicPeriod"/>
            </a:pPr>
            <a:r>
              <a:rPr lang="en-US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Pilih pengujian</a:t>
            </a:r>
            <a:endParaRPr/>
          </a:p>
        </p:txBody>
      </p:sp>
      <p:pic>
        <p:nvPicPr>
          <p:cNvPr id="766" name="Google Shape;7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3128963"/>
            <a:ext cx="1828800" cy="3119437"/>
          </a:xfrm>
          <a:prstGeom prst="rect">
            <a:avLst/>
          </a:prstGeom>
          <a:solidFill>
            <a:srgbClr val="FDDBE4"/>
          </a:solidFill>
          <a:ln>
            <a:noFill/>
          </a:ln>
        </p:spPr>
      </p:pic>
      <p:pic>
        <p:nvPicPr>
          <p:cNvPr id="767" name="Google Shape;7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773" name="Google Shape;773;p2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4724400" y="2084388"/>
            <a:ext cx="4267200" cy="4164012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t" bIns="42650" lIns="85325" spcFirstLastPara="1" rIns="85325" wrap="square" tIns="42650">
            <a:noAutofit/>
          </a:bodyPr>
          <a:lstStyle/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Survey 100 rumah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Sampel mean =-2, 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p-value = .0228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Tolak null hipotesa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Nilai mean &lt; 3</a:t>
            </a:r>
            <a:endParaRPr/>
          </a:p>
        </p:txBody>
      </p:sp>
      <p:sp>
        <p:nvSpPr>
          <p:cNvPr id="775" name="Google Shape;775;p29"/>
          <p:cNvSpPr txBox="1"/>
          <p:nvPr/>
        </p:nvSpPr>
        <p:spPr>
          <a:xfrm>
            <a:off x="7593013" y="1143000"/>
            <a:ext cx="14747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i="1" lang="en-US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(continued)</a:t>
            </a:r>
            <a:endParaRPr/>
          </a:p>
        </p:txBody>
      </p:sp>
      <p:cxnSp>
        <p:nvCxnSpPr>
          <p:cNvPr id="776" name="Google Shape;776;p29"/>
          <p:cNvCxnSpPr/>
          <p:nvPr/>
        </p:nvCxnSpPr>
        <p:spPr>
          <a:xfrm>
            <a:off x="7070725" y="2176463"/>
            <a:ext cx="15875" cy="1066800"/>
          </a:xfrm>
          <a:prstGeom prst="straightConnector1">
            <a:avLst/>
          </a:prstGeom>
          <a:noFill/>
          <a:ln cap="flat" cmpd="sng" w="25400">
            <a:solidFill>
              <a:schemeClr val="folHlink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77" name="Google Shape;777;p29"/>
          <p:cNvSpPr/>
          <p:nvPr/>
        </p:nvSpPr>
        <p:spPr>
          <a:xfrm>
            <a:off x="5715000" y="2538413"/>
            <a:ext cx="838200" cy="685800"/>
          </a:xfrm>
          <a:custGeom>
            <a:rect b="b" l="l" r="r" t="t"/>
            <a:pathLst>
              <a:path extrusionOk="0" h="571" w="565">
                <a:moveTo>
                  <a:pt x="564" y="0"/>
                </a:moveTo>
                <a:lnTo>
                  <a:pt x="564" y="570"/>
                </a:lnTo>
                <a:lnTo>
                  <a:pt x="0" y="570"/>
                </a:lnTo>
                <a:lnTo>
                  <a:pt x="68" y="539"/>
                </a:lnTo>
                <a:lnTo>
                  <a:pt x="134" y="505"/>
                </a:lnTo>
                <a:lnTo>
                  <a:pt x="198" y="463"/>
                </a:lnTo>
                <a:lnTo>
                  <a:pt x="257" y="420"/>
                </a:lnTo>
                <a:lnTo>
                  <a:pt x="313" y="369"/>
                </a:lnTo>
                <a:lnTo>
                  <a:pt x="366" y="316"/>
                </a:lnTo>
                <a:lnTo>
                  <a:pt x="415" y="259"/>
                </a:lnTo>
                <a:lnTo>
                  <a:pt x="459" y="199"/>
                </a:lnTo>
                <a:lnTo>
                  <a:pt x="499" y="136"/>
                </a:lnTo>
                <a:lnTo>
                  <a:pt x="533" y="68"/>
                </a:lnTo>
                <a:lnTo>
                  <a:pt x="564" y="0"/>
                </a:lnTo>
              </a:path>
            </a:pathLst>
          </a:custGeom>
          <a:solidFill>
            <a:srgbClr val="FF0000"/>
          </a:solidFill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7010400" y="2081213"/>
            <a:ext cx="1600200" cy="1143000"/>
          </a:xfrm>
          <a:custGeom>
            <a:rect b="b" l="l" r="r" t="t"/>
            <a:pathLst>
              <a:path extrusionOk="0" h="1109" w="1153">
                <a:moveTo>
                  <a:pt x="1152" y="1108"/>
                </a:moveTo>
                <a:lnTo>
                  <a:pt x="1030" y="1095"/>
                </a:lnTo>
                <a:lnTo>
                  <a:pt x="970" y="1082"/>
                </a:lnTo>
                <a:lnTo>
                  <a:pt x="909" y="1064"/>
                </a:lnTo>
                <a:lnTo>
                  <a:pt x="849" y="1039"/>
                </a:lnTo>
                <a:lnTo>
                  <a:pt x="788" y="1004"/>
                </a:lnTo>
                <a:lnTo>
                  <a:pt x="728" y="960"/>
                </a:lnTo>
                <a:lnTo>
                  <a:pt x="607" y="831"/>
                </a:lnTo>
                <a:lnTo>
                  <a:pt x="485" y="649"/>
                </a:lnTo>
                <a:lnTo>
                  <a:pt x="364" y="433"/>
                </a:lnTo>
                <a:lnTo>
                  <a:pt x="304" y="322"/>
                </a:lnTo>
                <a:lnTo>
                  <a:pt x="243" y="218"/>
                </a:lnTo>
                <a:lnTo>
                  <a:pt x="183" y="129"/>
                </a:lnTo>
                <a:lnTo>
                  <a:pt x="121" y="60"/>
                </a:lnTo>
                <a:lnTo>
                  <a:pt x="61" y="15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5562600" y="2081213"/>
            <a:ext cx="1447800" cy="1143000"/>
          </a:xfrm>
          <a:custGeom>
            <a:rect b="b" l="l" r="r" t="t"/>
            <a:pathLst>
              <a:path extrusionOk="0" h="1109" w="1152">
                <a:moveTo>
                  <a:pt x="0" y="1108"/>
                </a:moveTo>
                <a:lnTo>
                  <a:pt x="121" y="1095"/>
                </a:lnTo>
                <a:lnTo>
                  <a:pt x="182" y="1082"/>
                </a:lnTo>
                <a:lnTo>
                  <a:pt x="242" y="1064"/>
                </a:lnTo>
                <a:lnTo>
                  <a:pt x="302" y="1039"/>
                </a:lnTo>
                <a:lnTo>
                  <a:pt x="363" y="1004"/>
                </a:lnTo>
                <a:lnTo>
                  <a:pt x="423" y="960"/>
                </a:lnTo>
                <a:lnTo>
                  <a:pt x="546" y="831"/>
                </a:lnTo>
                <a:lnTo>
                  <a:pt x="666" y="649"/>
                </a:lnTo>
                <a:lnTo>
                  <a:pt x="787" y="433"/>
                </a:lnTo>
                <a:lnTo>
                  <a:pt x="849" y="322"/>
                </a:lnTo>
                <a:lnTo>
                  <a:pt x="908" y="218"/>
                </a:lnTo>
                <a:lnTo>
                  <a:pt x="970" y="129"/>
                </a:lnTo>
                <a:lnTo>
                  <a:pt x="1030" y="60"/>
                </a:lnTo>
                <a:lnTo>
                  <a:pt x="1091" y="15"/>
                </a:lnTo>
                <a:lnTo>
                  <a:pt x="1151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29"/>
          <p:cNvCxnSpPr/>
          <p:nvPr/>
        </p:nvCxnSpPr>
        <p:spPr>
          <a:xfrm>
            <a:off x="5229225" y="2632075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29"/>
          <p:cNvCxnSpPr/>
          <p:nvPr/>
        </p:nvCxnSpPr>
        <p:spPr>
          <a:xfrm>
            <a:off x="5229225" y="2755900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29"/>
          <p:cNvCxnSpPr/>
          <p:nvPr/>
        </p:nvCxnSpPr>
        <p:spPr>
          <a:xfrm>
            <a:off x="5229225" y="2882900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29"/>
          <p:cNvCxnSpPr/>
          <p:nvPr/>
        </p:nvCxnSpPr>
        <p:spPr>
          <a:xfrm>
            <a:off x="5229225" y="3009900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29"/>
          <p:cNvCxnSpPr/>
          <p:nvPr/>
        </p:nvCxnSpPr>
        <p:spPr>
          <a:xfrm>
            <a:off x="5229225" y="3136900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29"/>
          <p:cNvCxnSpPr/>
          <p:nvPr/>
        </p:nvCxnSpPr>
        <p:spPr>
          <a:xfrm>
            <a:off x="5229225" y="3260725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29"/>
          <p:cNvCxnSpPr/>
          <p:nvPr/>
        </p:nvCxnSpPr>
        <p:spPr>
          <a:xfrm>
            <a:off x="5229225" y="3514725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29"/>
          <p:cNvCxnSpPr/>
          <p:nvPr/>
        </p:nvCxnSpPr>
        <p:spPr>
          <a:xfrm>
            <a:off x="5229225" y="3641725"/>
            <a:ext cx="1588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p29"/>
          <p:cNvCxnSpPr/>
          <p:nvPr/>
        </p:nvCxnSpPr>
        <p:spPr>
          <a:xfrm>
            <a:off x="8967788" y="3660775"/>
            <a:ext cx="0" cy="1588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9" name="Google Shape;789;p29"/>
          <p:cNvSpPr/>
          <p:nvPr/>
        </p:nvSpPr>
        <p:spPr>
          <a:xfrm>
            <a:off x="4935538" y="3168650"/>
            <a:ext cx="92075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9"/>
          <p:cNvSpPr/>
          <p:nvPr/>
        </p:nvSpPr>
        <p:spPr>
          <a:xfrm>
            <a:off x="4953000" y="1981200"/>
            <a:ext cx="18097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 </a:t>
            </a:r>
            <a:r>
              <a:rPr b="1" i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i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i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29"/>
          <p:cNvSpPr/>
          <p:nvPr/>
        </p:nvSpPr>
        <p:spPr>
          <a:xfrm>
            <a:off x="6442075" y="2449513"/>
            <a:ext cx="184150" cy="9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29"/>
          <p:cNvCxnSpPr/>
          <p:nvPr/>
        </p:nvCxnSpPr>
        <p:spPr>
          <a:xfrm>
            <a:off x="5715000" y="2557463"/>
            <a:ext cx="838200" cy="0"/>
          </a:xfrm>
          <a:prstGeom prst="straightConnector1">
            <a:avLst/>
          </a:prstGeom>
          <a:noFill/>
          <a:ln cap="flat" cmpd="sng" w="2540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3" name="Google Shape;793;p29"/>
          <p:cNvSpPr/>
          <p:nvPr/>
        </p:nvSpPr>
        <p:spPr>
          <a:xfrm>
            <a:off x="5599113" y="2481263"/>
            <a:ext cx="115887" cy="117475"/>
          </a:xfrm>
          <a:custGeom>
            <a:rect b="b" l="l" r="r" t="t"/>
            <a:pathLst>
              <a:path extrusionOk="0" h="74" w="73">
                <a:moveTo>
                  <a:pt x="72" y="0"/>
                </a:moveTo>
                <a:lnTo>
                  <a:pt x="0" y="36"/>
                </a:lnTo>
                <a:lnTo>
                  <a:pt x="72" y="73"/>
                </a:lnTo>
                <a:lnTo>
                  <a:pt x="72" y="0"/>
                </a:lnTo>
              </a:path>
            </a:pathLst>
          </a:custGeom>
          <a:solidFill>
            <a:schemeClr val="folHlink"/>
          </a:solidFill>
          <a:ln cap="rnd" cmpd="sng" w="952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4" name="Google Shape;794;p29"/>
          <p:cNvCxnSpPr/>
          <p:nvPr/>
        </p:nvCxnSpPr>
        <p:spPr>
          <a:xfrm rot="10800000">
            <a:off x="6553200" y="2481263"/>
            <a:ext cx="0" cy="762000"/>
          </a:xfrm>
          <a:prstGeom prst="straightConnector1">
            <a:avLst/>
          </a:prstGeom>
          <a:noFill/>
          <a:ln cap="flat" cmpd="sng" w="2540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5" name="Google Shape;795;p29"/>
          <p:cNvSpPr/>
          <p:nvPr/>
        </p:nvSpPr>
        <p:spPr>
          <a:xfrm>
            <a:off x="5149850" y="2484438"/>
            <a:ext cx="4127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b="1" i="1" lang="en-US" sz="29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cxnSp>
        <p:nvCxnSpPr>
          <p:cNvPr id="796" name="Google Shape;796;p29"/>
          <p:cNvCxnSpPr/>
          <p:nvPr/>
        </p:nvCxnSpPr>
        <p:spPr>
          <a:xfrm>
            <a:off x="5486400" y="3243263"/>
            <a:ext cx="3276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7" name="Google Shape;797;p29"/>
          <p:cNvSpPr/>
          <p:nvPr/>
        </p:nvSpPr>
        <p:spPr>
          <a:xfrm>
            <a:off x="5562600" y="2690813"/>
            <a:ext cx="838200" cy="355600"/>
          </a:xfrm>
          <a:custGeom>
            <a:rect b="b" l="l" r="r" t="t"/>
            <a:pathLst>
              <a:path extrusionOk="0" h="224" w="528">
                <a:moveTo>
                  <a:pt x="0" y="32"/>
                </a:moveTo>
                <a:cubicBezTo>
                  <a:pt x="76" y="16"/>
                  <a:pt x="152" y="0"/>
                  <a:pt x="240" y="32"/>
                </a:cubicBezTo>
                <a:cubicBezTo>
                  <a:pt x="328" y="64"/>
                  <a:pt x="428" y="144"/>
                  <a:pt x="528" y="224"/>
                </a:cubicBezTo>
              </a:path>
            </a:pathLst>
          </a:custGeom>
          <a:noFill/>
          <a:ln cap="flat" cmpd="sng" w="2857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9"/>
          <p:cNvSpPr txBox="1"/>
          <p:nvPr/>
        </p:nvSpPr>
        <p:spPr>
          <a:xfrm>
            <a:off x="6324600" y="3395663"/>
            <a:ext cx="104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-1.645</a:t>
            </a:r>
            <a:endParaRPr/>
          </a:p>
        </p:txBody>
      </p:sp>
      <p:sp>
        <p:nvSpPr>
          <p:cNvPr id="799" name="Google Shape;799;p29"/>
          <p:cNvSpPr/>
          <p:nvPr/>
        </p:nvSpPr>
        <p:spPr>
          <a:xfrm>
            <a:off x="6553200" y="3243263"/>
            <a:ext cx="304800" cy="228600"/>
          </a:xfrm>
          <a:custGeom>
            <a:rect b="b" l="l" r="r" t="t"/>
            <a:pathLst>
              <a:path extrusionOk="0" h="144" w="192">
                <a:moveTo>
                  <a:pt x="0" y="0"/>
                </a:moveTo>
                <a:cubicBezTo>
                  <a:pt x="8" y="36"/>
                  <a:pt x="16" y="72"/>
                  <a:pt x="48" y="96"/>
                </a:cubicBezTo>
                <a:cubicBezTo>
                  <a:pt x="80" y="120"/>
                  <a:pt x="168" y="136"/>
                  <a:pt x="192" y="144"/>
                </a:cubicBezTo>
              </a:path>
            </a:pathLst>
          </a:custGeom>
          <a:noFill/>
          <a:ln cap="flat" cmpd="sng" w="2857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9"/>
          <p:cNvSpPr txBox="1"/>
          <p:nvPr/>
        </p:nvSpPr>
        <p:spPr>
          <a:xfrm>
            <a:off x="8442325" y="3208338"/>
            <a:ext cx="36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801" name="Google Shape;801;p29"/>
          <p:cNvSpPr/>
          <p:nvPr/>
        </p:nvSpPr>
        <p:spPr>
          <a:xfrm>
            <a:off x="152400" y="2084388"/>
            <a:ext cx="4572000" cy="4164012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2650" lIns="85325" spcFirstLastPara="1" rIns="85325" wrap="square" tIns="42650">
            <a:noAutofit/>
          </a:bodyPr>
          <a:lstStyle/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AutoNum type="arabicPeriod" startAt="6"/>
            </a:pPr>
            <a:r>
              <a:rPr lang="en-US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Set nilai kritikal</a:t>
            </a:r>
            <a:br>
              <a:rPr lang="en-US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t/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AutoNum type="arabicPeriod" startAt="6"/>
            </a:pPr>
            <a:r>
              <a:rPr lang="en-US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Kumpulkan data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AutoNum type="arabicPeriod" startAt="6"/>
            </a:pPr>
            <a:r>
              <a:rPr lang="en-US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Hitung uji statistik dan p-value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AutoNum type="arabicPeriod" startAt="6"/>
            </a:pPr>
            <a:r>
              <a:rPr lang="en-US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Buat keputusan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AutoNum type="arabicPeriod" startAt="6"/>
            </a:pPr>
            <a:r>
              <a:rPr lang="en-US" sz="2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Nyatakan hasil</a:t>
            </a:r>
            <a:endParaRPr/>
          </a:p>
        </p:txBody>
      </p:sp>
      <p:sp>
        <p:nvSpPr>
          <p:cNvPr id="802" name="Google Shape;802;p29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Langkah-Langkah Uji Hipotesa</a:t>
            </a:r>
            <a:endParaRPr/>
          </a:p>
        </p:txBody>
      </p:sp>
      <p:pic>
        <p:nvPicPr>
          <p:cNvPr id="803" name="Google Shape;8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809" name="Google Shape;809;p3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10" name="Google Shape;810;p30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Uji Z (</a:t>
            </a:r>
            <a:r>
              <a:rPr i="1" lang="en-US"/>
              <a:t>one-tail</a:t>
            </a:r>
            <a:r>
              <a:rPr lang="en-US"/>
              <a:t>) untuk Mean </a:t>
            </a:r>
            <a:br>
              <a:rPr lang="en-US"/>
            </a:br>
            <a:r>
              <a:rPr lang="en-US"/>
              <a:t>(σ diketahui)</a:t>
            </a:r>
            <a:endParaRPr/>
          </a:p>
        </p:txBody>
      </p:sp>
      <p:sp>
        <p:nvSpPr>
          <p:cNvPr id="811" name="Google Shape;811;p30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/>
              <a:t>Asumsi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Populasi terdistribusi secara normal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Jika populasi tidak normal, gunakan sampel besar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Pada Null hipotesa hanya terdapat simbol ≤ dan ≥</a:t>
            </a:r>
            <a:endParaRPr sz="24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400"/>
              <a:buChar char="■"/>
            </a:pPr>
            <a:r>
              <a:rPr lang="en-US"/>
              <a:t>Nilai statistik untuk uji </a:t>
            </a:r>
            <a:r>
              <a:rPr i="1" lang="en-US"/>
              <a:t>Z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240"/>
              <a:buChar char="◻"/>
            </a:pPr>
            <a:r>
              <a:rPr i="1" lang="en-US"/>
              <a:t> </a:t>
            </a:r>
            <a:endParaRPr/>
          </a:p>
        </p:txBody>
      </p:sp>
      <p:pic>
        <p:nvPicPr>
          <p:cNvPr id="812" name="Google Shape;8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4495800"/>
            <a:ext cx="4232275" cy="1550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819" name="Google Shape;819;p3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20" name="Google Shape;820;p3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Rejection Region</a:t>
            </a:r>
            <a:endParaRPr/>
          </a:p>
        </p:txBody>
      </p:sp>
      <p:cxnSp>
        <p:nvCxnSpPr>
          <p:cNvPr id="821" name="Google Shape;821;p31"/>
          <p:cNvCxnSpPr/>
          <p:nvPr/>
        </p:nvCxnSpPr>
        <p:spPr>
          <a:xfrm>
            <a:off x="6772275" y="3262313"/>
            <a:ext cx="0" cy="13795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22" name="Google Shape;822;p31"/>
          <p:cNvSpPr/>
          <p:nvPr/>
        </p:nvSpPr>
        <p:spPr>
          <a:xfrm>
            <a:off x="7469188" y="3913188"/>
            <a:ext cx="850900" cy="862012"/>
          </a:xfrm>
          <a:custGeom>
            <a:rect b="b" l="l" r="r" t="t"/>
            <a:pathLst>
              <a:path extrusionOk="0" h="543" w="536">
                <a:moveTo>
                  <a:pt x="0" y="0"/>
                </a:moveTo>
                <a:lnTo>
                  <a:pt x="0" y="542"/>
                </a:lnTo>
                <a:lnTo>
                  <a:pt x="535" y="542"/>
                </a:lnTo>
                <a:lnTo>
                  <a:pt x="470" y="513"/>
                </a:lnTo>
                <a:lnTo>
                  <a:pt x="407" y="480"/>
                </a:lnTo>
                <a:lnTo>
                  <a:pt x="348" y="441"/>
                </a:lnTo>
                <a:lnTo>
                  <a:pt x="290" y="399"/>
                </a:lnTo>
                <a:lnTo>
                  <a:pt x="237" y="352"/>
                </a:lnTo>
                <a:lnTo>
                  <a:pt x="187" y="302"/>
                </a:lnTo>
                <a:lnTo>
                  <a:pt x="141" y="247"/>
                </a:lnTo>
                <a:lnTo>
                  <a:pt x="99" y="190"/>
                </a:lnTo>
                <a:lnTo>
                  <a:pt x="60" y="129"/>
                </a:lnTo>
                <a:lnTo>
                  <a:pt x="28" y="66"/>
                </a:lnTo>
                <a:lnTo>
                  <a:pt x="0" y="0"/>
                </a:lnTo>
              </a:path>
            </a:pathLst>
          </a:custGeom>
          <a:solidFill>
            <a:srgbClr val="FF0000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1"/>
          <p:cNvSpPr/>
          <p:nvPr/>
        </p:nvSpPr>
        <p:spPr>
          <a:xfrm>
            <a:off x="6772275" y="3044825"/>
            <a:ext cx="1830388" cy="1762125"/>
          </a:xfrm>
          <a:custGeom>
            <a:rect b="b" l="l" r="r" t="t"/>
            <a:pathLst>
              <a:path extrusionOk="0" h="1110" w="1153">
                <a:moveTo>
                  <a:pt x="1152" y="1109"/>
                </a:moveTo>
                <a:lnTo>
                  <a:pt x="1030" y="1095"/>
                </a:lnTo>
                <a:lnTo>
                  <a:pt x="970" y="1083"/>
                </a:lnTo>
                <a:lnTo>
                  <a:pt x="909" y="1064"/>
                </a:lnTo>
                <a:lnTo>
                  <a:pt x="849" y="1040"/>
                </a:lnTo>
                <a:lnTo>
                  <a:pt x="788" y="1004"/>
                </a:lnTo>
                <a:lnTo>
                  <a:pt x="728" y="960"/>
                </a:lnTo>
                <a:lnTo>
                  <a:pt x="606" y="831"/>
                </a:lnTo>
                <a:lnTo>
                  <a:pt x="485" y="650"/>
                </a:lnTo>
                <a:lnTo>
                  <a:pt x="364" y="433"/>
                </a:lnTo>
                <a:lnTo>
                  <a:pt x="304" y="323"/>
                </a:lnTo>
                <a:lnTo>
                  <a:pt x="242" y="218"/>
                </a:lnTo>
                <a:lnTo>
                  <a:pt x="182" y="129"/>
                </a:lnTo>
                <a:lnTo>
                  <a:pt x="121" y="60"/>
                </a:lnTo>
                <a:lnTo>
                  <a:pt x="61" y="16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1"/>
          <p:cNvSpPr/>
          <p:nvPr/>
        </p:nvSpPr>
        <p:spPr>
          <a:xfrm>
            <a:off x="4943475" y="3044825"/>
            <a:ext cx="1830388" cy="1762125"/>
          </a:xfrm>
          <a:custGeom>
            <a:rect b="b" l="l" r="r" t="t"/>
            <a:pathLst>
              <a:path extrusionOk="0" h="1110" w="1153">
                <a:moveTo>
                  <a:pt x="0" y="1109"/>
                </a:moveTo>
                <a:lnTo>
                  <a:pt x="121" y="1095"/>
                </a:lnTo>
                <a:lnTo>
                  <a:pt x="182" y="1083"/>
                </a:lnTo>
                <a:lnTo>
                  <a:pt x="242" y="1064"/>
                </a:lnTo>
                <a:lnTo>
                  <a:pt x="302" y="1040"/>
                </a:lnTo>
                <a:lnTo>
                  <a:pt x="364" y="1004"/>
                </a:lnTo>
                <a:lnTo>
                  <a:pt x="424" y="960"/>
                </a:lnTo>
                <a:lnTo>
                  <a:pt x="546" y="831"/>
                </a:lnTo>
                <a:lnTo>
                  <a:pt x="666" y="650"/>
                </a:lnTo>
                <a:lnTo>
                  <a:pt x="788" y="433"/>
                </a:lnTo>
                <a:lnTo>
                  <a:pt x="849" y="323"/>
                </a:lnTo>
                <a:lnTo>
                  <a:pt x="909" y="218"/>
                </a:lnTo>
                <a:lnTo>
                  <a:pt x="970" y="129"/>
                </a:lnTo>
                <a:lnTo>
                  <a:pt x="1030" y="60"/>
                </a:lnTo>
                <a:lnTo>
                  <a:pt x="1092" y="16"/>
                </a:lnTo>
                <a:lnTo>
                  <a:pt x="1152" y="0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1"/>
          <p:cNvSpPr/>
          <p:nvPr/>
        </p:nvSpPr>
        <p:spPr>
          <a:xfrm>
            <a:off x="4943475" y="3044825"/>
            <a:ext cx="3727450" cy="1754188"/>
          </a:xfrm>
          <a:custGeom>
            <a:rect b="b" l="l" r="r" t="t"/>
            <a:pathLst>
              <a:path extrusionOk="0" h="1105" w="2348">
                <a:moveTo>
                  <a:pt x="0" y="0"/>
                </a:moveTo>
                <a:lnTo>
                  <a:pt x="0" y="1104"/>
                </a:lnTo>
                <a:lnTo>
                  <a:pt x="2347" y="1104"/>
                </a:lnTo>
              </a:path>
            </a:pathLst>
          </a:custGeom>
          <a:noFill/>
          <a:ln cap="rnd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31"/>
          <p:cNvCxnSpPr/>
          <p:nvPr/>
        </p:nvCxnSpPr>
        <p:spPr>
          <a:xfrm>
            <a:off x="8669338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31"/>
          <p:cNvCxnSpPr/>
          <p:nvPr/>
        </p:nvCxnSpPr>
        <p:spPr>
          <a:xfrm>
            <a:off x="8297863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31"/>
          <p:cNvCxnSpPr/>
          <p:nvPr/>
        </p:nvCxnSpPr>
        <p:spPr>
          <a:xfrm>
            <a:off x="7924800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31"/>
          <p:cNvCxnSpPr/>
          <p:nvPr/>
        </p:nvCxnSpPr>
        <p:spPr>
          <a:xfrm>
            <a:off x="7551738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31"/>
          <p:cNvCxnSpPr/>
          <p:nvPr/>
        </p:nvCxnSpPr>
        <p:spPr>
          <a:xfrm>
            <a:off x="7178675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31"/>
          <p:cNvCxnSpPr/>
          <p:nvPr/>
        </p:nvCxnSpPr>
        <p:spPr>
          <a:xfrm>
            <a:off x="6805613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31"/>
          <p:cNvCxnSpPr/>
          <p:nvPr/>
        </p:nvCxnSpPr>
        <p:spPr>
          <a:xfrm>
            <a:off x="6432550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3" name="Google Shape;833;p31"/>
          <p:cNvCxnSpPr/>
          <p:nvPr/>
        </p:nvCxnSpPr>
        <p:spPr>
          <a:xfrm>
            <a:off x="6062663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4" name="Google Shape;834;p31"/>
          <p:cNvCxnSpPr/>
          <p:nvPr/>
        </p:nvCxnSpPr>
        <p:spPr>
          <a:xfrm>
            <a:off x="5689600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5" name="Google Shape;835;p31"/>
          <p:cNvCxnSpPr/>
          <p:nvPr/>
        </p:nvCxnSpPr>
        <p:spPr>
          <a:xfrm>
            <a:off x="5316538" y="48180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6" name="Google Shape;836;p31"/>
          <p:cNvSpPr/>
          <p:nvPr/>
        </p:nvSpPr>
        <p:spPr>
          <a:xfrm>
            <a:off x="8347075" y="4762500"/>
            <a:ext cx="4064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837" name="Google Shape;837;p31"/>
          <p:cNvSpPr/>
          <p:nvPr/>
        </p:nvSpPr>
        <p:spPr>
          <a:xfrm>
            <a:off x="6584950" y="4814888"/>
            <a:ext cx="385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38" name="Google Shape;838;p31"/>
          <p:cNvSpPr/>
          <p:nvPr/>
        </p:nvSpPr>
        <p:spPr>
          <a:xfrm>
            <a:off x="7689850" y="4089400"/>
            <a:ext cx="598488" cy="395288"/>
          </a:xfrm>
          <a:custGeom>
            <a:rect b="b" l="l" r="r" t="t"/>
            <a:pathLst>
              <a:path extrusionOk="0" h="249" w="377">
                <a:moveTo>
                  <a:pt x="376" y="0"/>
                </a:moveTo>
                <a:lnTo>
                  <a:pt x="373" y="30"/>
                </a:lnTo>
                <a:lnTo>
                  <a:pt x="362" y="60"/>
                </a:lnTo>
                <a:lnTo>
                  <a:pt x="347" y="87"/>
                </a:lnTo>
                <a:lnTo>
                  <a:pt x="327" y="110"/>
                </a:lnTo>
                <a:lnTo>
                  <a:pt x="302" y="130"/>
                </a:lnTo>
                <a:lnTo>
                  <a:pt x="274" y="144"/>
                </a:lnTo>
                <a:lnTo>
                  <a:pt x="244" y="153"/>
                </a:lnTo>
                <a:lnTo>
                  <a:pt x="213" y="156"/>
                </a:lnTo>
                <a:lnTo>
                  <a:pt x="182" y="153"/>
                </a:lnTo>
                <a:lnTo>
                  <a:pt x="150" y="150"/>
                </a:lnTo>
                <a:lnTo>
                  <a:pt x="119" y="152"/>
                </a:lnTo>
                <a:lnTo>
                  <a:pt x="90" y="161"/>
                </a:lnTo>
                <a:lnTo>
                  <a:pt x="61" y="175"/>
                </a:lnTo>
                <a:lnTo>
                  <a:pt x="36" y="195"/>
                </a:lnTo>
                <a:lnTo>
                  <a:pt x="16" y="218"/>
                </a:lnTo>
                <a:lnTo>
                  <a:pt x="1" y="245"/>
                </a:lnTo>
                <a:lnTo>
                  <a:pt x="0" y="248"/>
                </a:lnTo>
              </a:path>
            </a:pathLst>
          </a:custGeom>
          <a:noFill/>
          <a:ln cap="rnd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1"/>
          <p:cNvSpPr/>
          <p:nvPr/>
        </p:nvSpPr>
        <p:spPr>
          <a:xfrm>
            <a:off x="7169150" y="2843213"/>
            <a:ext cx="16002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 </a:t>
            </a:r>
            <a:r>
              <a:rPr b="1" i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i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i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0" name="Google Shape;840;p31"/>
          <p:cNvCxnSpPr/>
          <p:nvPr/>
        </p:nvCxnSpPr>
        <p:spPr>
          <a:xfrm rot="10800000">
            <a:off x="7491413" y="3444875"/>
            <a:ext cx="96043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1" name="Google Shape;841;p31"/>
          <p:cNvSpPr/>
          <p:nvPr/>
        </p:nvSpPr>
        <p:spPr>
          <a:xfrm>
            <a:off x="8412163" y="3384550"/>
            <a:ext cx="115887" cy="115888"/>
          </a:xfrm>
          <a:custGeom>
            <a:rect b="b" l="l" r="r" t="t"/>
            <a:pathLst>
              <a:path extrusionOk="0" h="73" w="73">
                <a:moveTo>
                  <a:pt x="0" y="72"/>
                </a:moveTo>
                <a:lnTo>
                  <a:pt x="72" y="35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2" name="Google Shape;842;p31"/>
          <p:cNvCxnSpPr/>
          <p:nvPr/>
        </p:nvCxnSpPr>
        <p:spPr>
          <a:xfrm rot="10800000">
            <a:off x="7469188" y="3289300"/>
            <a:ext cx="0" cy="17335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31"/>
          <p:cNvCxnSpPr/>
          <p:nvPr/>
        </p:nvCxnSpPr>
        <p:spPr>
          <a:xfrm>
            <a:off x="2416175" y="3279775"/>
            <a:ext cx="0" cy="137953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44" name="Google Shape;844;p31"/>
          <p:cNvSpPr/>
          <p:nvPr/>
        </p:nvSpPr>
        <p:spPr>
          <a:xfrm>
            <a:off x="868363" y="3886200"/>
            <a:ext cx="896937" cy="906463"/>
          </a:xfrm>
          <a:custGeom>
            <a:rect b="b" l="l" r="r" t="t"/>
            <a:pathLst>
              <a:path extrusionOk="0" h="571" w="565">
                <a:moveTo>
                  <a:pt x="564" y="0"/>
                </a:moveTo>
                <a:lnTo>
                  <a:pt x="564" y="570"/>
                </a:lnTo>
                <a:lnTo>
                  <a:pt x="0" y="570"/>
                </a:lnTo>
                <a:lnTo>
                  <a:pt x="68" y="539"/>
                </a:lnTo>
                <a:lnTo>
                  <a:pt x="134" y="505"/>
                </a:lnTo>
                <a:lnTo>
                  <a:pt x="198" y="463"/>
                </a:lnTo>
                <a:lnTo>
                  <a:pt x="257" y="420"/>
                </a:lnTo>
                <a:lnTo>
                  <a:pt x="313" y="369"/>
                </a:lnTo>
                <a:lnTo>
                  <a:pt x="366" y="316"/>
                </a:lnTo>
                <a:lnTo>
                  <a:pt x="415" y="259"/>
                </a:lnTo>
                <a:lnTo>
                  <a:pt x="459" y="199"/>
                </a:lnTo>
                <a:lnTo>
                  <a:pt x="499" y="136"/>
                </a:lnTo>
                <a:lnTo>
                  <a:pt x="533" y="68"/>
                </a:lnTo>
                <a:lnTo>
                  <a:pt x="564" y="0"/>
                </a:lnTo>
              </a:path>
            </a:pathLst>
          </a:custGeom>
          <a:solidFill>
            <a:srgbClr val="FF0000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1"/>
          <p:cNvSpPr/>
          <p:nvPr/>
        </p:nvSpPr>
        <p:spPr>
          <a:xfrm>
            <a:off x="2416175" y="3062288"/>
            <a:ext cx="1830388" cy="1760537"/>
          </a:xfrm>
          <a:custGeom>
            <a:rect b="b" l="l" r="r" t="t"/>
            <a:pathLst>
              <a:path extrusionOk="0" h="1109" w="1153">
                <a:moveTo>
                  <a:pt x="1152" y="1108"/>
                </a:moveTo>
                <a:lnTo>
                  <a:pt x="1030" y="1095"/>
                </a:lnTo>
                <a:lnTo>
                  <a:pt x="970" y="1082"/>
                </a:lnTo>
                <a:lnTo>
                  <a:pt x="909" y="1064"/>
                </a:lnTo>
                <a:lnTo>
                  <a:pt x="849" y="1039"/>
                </a:lnTo>
                <a:lnTo>
                  <a:pt x="788" y="1004"/>
                </a:lnTo>
                <a:lnTo>
                  <a:pt x="728" y="960"/>
                </a:lnTo>
                <a:lnTo>
                  <a:pt x="607" y="831"/>
                </a:lnTo>
                <a:lnTo>
                  <a:pt x="485" y="649"/>
                </a:lnTo>
                <a:lnTo>
                  <a:pt x="364" y="433"/>
                </a:lnTo>
                <a:lnTo>
                  <a:pt x="304" y="322"/>
                </a:lnTo>
                <a:lnTo>
                  <a:pt x="243" y="218"/>
                </a:lnTo>
                <a:lnTo>
                  <a:pt x="183" y="129"/>
                </a:lnTo>
                <a:lnTo>
                  <a:pt x="121" y="60"/>
                </a:lnTo>
                <a:lnTo>
                  <a:pt x="61" y="15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1"/>
          <p:cNvSpPr/>
          <p:nvPr/>
        </p:nvSpPr>
        <p:spPr>
          <a:xfrm>
            <a:off x="588963" y="3062288"/>
            <a:ext cx="1828800" cy="1760537"/>
          </a:xfrm>
          <a:custGeom>
            <a:rect b="b" l="l" r="r" t="t"/>
            <a:pathLst>
              <a:path extrusionOk="0" h="1109" w="1152">
                <a:moveTo>
                  <a:pt x="0" y="1108"/>
                </a:moveTo>
                <a:lnTo>
                  <a:pt x="121" y="1095"/>
                </a:lnTo>
                <a:lnTo>
                  <a:pt x="182" y="1082"/>
                </a:lnTo>
                <a:lnTo>
                  <a:pt x="242" y="1064"/>
                </a:lnTo>
                <a:lnTo>
                  <a:pt x="302" y="1039"/>
                </a:lnTo>
                <a:lnTo>
                  <a:pt x="363" y="1004"/>
                </a:lnTo>
                <a:lnTo>
                  <a:pt x="423" y="960"/>
                </a:lnTo>
                <a:lnTo>
                  <a:pt x="546" y="831"/>
                </a:lnTo>
                <a:lnTo>
                  <a:pt x="666" y="649"/>
                </a:lnTo>
                <a:lnTo>
                  <a:pt x="787" y="433"/>
                </a:lnTo>
                <a:lnTo>
                  <a:pt x="849" y="322"/>
                </a:lnTo>
                <a:lnTo>
                  <a:pt x="908" y="218"/>
                </a:lnTo>
                <a:lnTo>
                  <a:pt x="970" y="129"/>
                </a:lnTo>
                <a:lnTo>
                  <a:pt x="1030" y="60"/>
                </a:lnTo>
                <a:lnTo>
                  <a:pt x="1091" y="15"/>
                </a:lnTo>
                <a:lnTo>
                  <a:pt x="1151" y="0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1"/>
          <p:cNvSpPr/>
          <p:nvPr/>
        </p:nvSpPr>
        <p:spPr>
          <a:xfrm>
            <a:off x="588963" y="3554413"/>
            <a:ext cx="3725862" cy="1262062"/>
          </a:xfrm>
          <a:custGeom>
            <a:rect b="b" l="l" r="r" t="t"/>
            <a:pathLst>
              <a:path extrusionOk="0" h="795" w="2347">
                <a:moveTo>
                  <a:pt x="0" y="0"/>
                </a:moveTo>
                <a:lnTo>
                  <a:pt x="0" y="794"/>
                </a:lnTo>
                <a:lnTo>
                  <a:pt x="2346" y="794"/>
                </a:lnTo>
              </a:path>
            </a:pathLst>
          </a:custGeom>
          <a:noFill/>
          <a:ln cap="rnd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8" name="Google Shape;848;p31"/>
          <p:cNvCxnSpPr/>
          <p:nvPr/>
        </p:nvCxnSpPr>
        <p:spPr>
          <a:xfrm>
            <a:off x="4313238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9" name="Google Shape;849;p31"/>
          <p:cNvCxnSpPr/>
          <p:nvPr/>
        </p:nvCxnSpPr>
        <p:spPr>
          <a:xfrm>
            <a:off x="3941763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31"/>
          <p:cNvCxnSpPr/>
          <p:nvPr/>
        </p:nvCxnSpPr>
        <p:spPr>
          <a:xfrm>
            <a:off x="3568700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31"/>
          <p:cNvCxnSpPr/>
          <p:nvPr/>
        </p:nvCxnSpPr>
        <p:spPr>
          <a:xfrm>
            <a:off x="3195638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31"/>
          <p:cNvCxnSpPr/>
          <p:nvPr/>
        </p:nvCxnSpPr>
        <p:spPr>
          <a:xfrm>
            <a:off x="2822575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31"/>
          <p:cNvCxnSpPr/>
          <p:nvPr/>
        </p:nvCxnSpPr>
        <p:spPr>
          <a:xfrm>
            <a:off x="2451100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p31"/>
          <p:cNvCxnSpPr/>
          <p:nvPr/>
        </p:nvCxnSpPr>
        <p:spPr>
          <a:xfrm>
            <a:off x="2078038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31"/>
          <p:cNvCxnSpPr/>
          <p:nvPr/>
        </p:nvCxnSpPr>
        <p:spPr>
          <a:xfrm>
            <a:off x="1706563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31"/>
          <p:cNvCxnSpPr/>
          <p:nvPr/>
        </p:nvCxnSpPr>
        <p:spPr>
          <a:xfrm>
            <a:off x="1333500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31"/>
          <p:cNvCxnSpPr/>
          <p:nvPr/>
        </p:nvCxnSpPr>
        <p:spPr>
          <a:xfrm>
            <a:off x="960438" y="4830763"/>
            <a:ext cx="0" cy="15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31"/>
          <p:cNvSpPr/>
          <p:nvPr/>
        </p:nvSpPr>
        <p:spPr>
          <a:xfrm>
            <a:off x="3990975" y="4779963"/>
            <a:ext cx="4064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859" name="Google Shape;859;p31"/>
          <p:cNvSpPr/>
          <p:nvPr/>
        </p:nvSpPr>
        <p:spPr>
          <a:xfrm>
            <a:off x="2228850" y="4832350"/>
            <a:ext cx="385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60" name="Google Shape;860;p31"/>
          <p:cNvSpPr/>
          <p:nvPr/>
        </p:nvSpPr>
        <p:spPr>
          <a:xfrm>
            <a:off x="1268413" y="3919538"/>
            <a:ext cx="230187" cy="665162"/>
          </a:xfrm>
          <a:custGeom>
            <a:rect b="b" l="l" r="r" t="t"/>
            <a:pathLst>
              <a:path extrusionOk="0" h="419" w="145">
                <a:moveTo>
                  <a:pt x="0" y="0"/>
                </a:moveTo>
                <a:lnTo>
                  <a:pt x="28" y="11"/>
                </a:lnTo>
                <a:lnTo>
                  <a:pt x="54" y="28"/>
                </a:lnTo>
                <a:lnTo>
                  <a:pt x="77" y="48"/>
                </a:lnTo>
                <a:lnTo>
                  <a:pt x="95" y="74"/>
                </a:lnTo>
                <a:lnTo>
                  <a:pt x="107" y="102"/>
                </a:lnTo>
                <a:lnTo>
                  <a:pt x="114" y="132"/>
                </a:lnTo>
                <a:lnTo>
                  <a:pt x="115" y="163"/>
                </a:lnTo>
                <a:lnTo>
                  <a:pt x="110" y="192"/>
                </a:lnTo>
                <a:lnTo>
                  <a:pt x="98" y="221"/>
                </a:lnTo>
                <a:lnTo>
                  <a:pt x="87" y="251"/>
                </a:lnTo>
                <a:lnTo>
                  <a:pt x="83" y="281"/>
                </a:lnTo>
                <a:lnTo>
                  <a:pt x="83" y="312"/>
                </a:lnTo>
                <a:lnTo>
                  <a:pt x="90" y="341"/>
                </a:lnTo>
                <a:lnTo>
                  <a:pt x="103" y="370"/>
                </a:lnTo>
                <a:lnTo>
                  <a:pt x="121" y="395"/>
                </a:lnTo>
                <a:lnTo>
                  <a:pt x="143" y="416"/>
                </a:lnTo>
                <a:lnTo>
                  <a:pt x="144" y="418"/>
                </a:lnTo>
              </a:path>
            </a:pathLst>
          </a:custGeom>
          <a:noFill/>
          <a:ln cap="rnd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1"/>
          <p:cNvSpPr/>
          <p:nvPr/>
        </p:nvSpPr>
        <p:spPr>
          <a:xfrm>
            <a:off x="1474788" y="4538663"/>
            <a:ext cx="100012" cy="77787"/>
          </a:xfrm>
          <a:custGeom>
            <a:rect b="b" l="l" r="r" t="t"/>
            <a:pathLst>
              <a:path extrusionOk="0" h="49" w="63">
                <a:moveTo>
                  <a:pt x="26" y="0"/>
                </a:moveTo>
                <a:lnTo>
                  <a:pt x="62" y="48"/>
                </a:lnTo>
                <a:lnTo>
                  <a:pt x="0" y="48"/>
                </a:lnTo>
                <a:lnTo>
                  <a:pt x="26" y="0"/>
                </a:lnTo>
              </a:path>
            </a:pathLst>
          </a:custGeom>
          <a:solidFill>
            <a:srgbClr val="00A898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222250" y="2717800"/>
            <a:ext cx="18351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 </a:t>
            </a:r>
            <a:r>
              <a:rPr b="1" i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i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 i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3" name="Google Shape;863;p31"/>
          <p:cNvCxnSpPr/>
          <p:nvPr/>
        </p:nvCxnSpPr>
        <p:spPr>
          <a:xfrm>
            <a:off x="908050" y="3479800"/>
            <a:ext cx="838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4" name="Google Shape;864;p31"/>
          <p:cNvSpPr/>
          <p:nvPr/>
        </p:nvSpPr>
        <p:spPr>
          <a:xfrm>
            <a:off x="792163" y="3403600"/>
            <a:ext cx="115887" cy="117475"/>
          </a:xfrm>
          <a:custGeom>
            <a:rect b="b" l="l" r="r" t="t"/>
            <a:pathLst>
              <a:path extrusionOk="0" h="74" w="73">
                <a:moveTo>
                  <a:pt x="72" y="0"/>
                </a:moveTo>
                <a:lnTo>
                  <a:pt x="0" y="36"/>
                </a:lnTo>
                <a:lnTo>
                  <a:pt x="72" y="73"/>
                </a:lnTo>
                <a:lnTo>
                  <a:pt x="72" y="0"/>
                </a:lnTo>
              </a:path>
            </a:pathLst>
          </a:custGeom>
          <a:solidFill>
            <a:schemeClr val="dk1"/>
          </a:solidFill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5" name="Google Shape;865;p31"/>
          <p:cNvCxnSpPr/>
          <p:nvPr/>
        </p:nvCxnSpPr>
        <p:spPr>
          <a:xfrm rot="10800000">
            <a:off x="1773238" y="3306763"/>
            <a:ext cx="0" cy="17208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6" name="Google Shape;866;p31"/>
          <p:cNvSpPr/>
          <p:nvPr/>
        </p:nvSpPr>
        <p:spPr>
          <a:xfrm>
            <a:off x="1130300" y="1651000"/>
            <a:ext cx="1911350" cy="9429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≥ μ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b="1"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867" name="Google Shape;867;p31"/>
          <p:cNvSpPr/>
          <p:nvPr/>
        </p:nvSpPr>
        <p:spPr>
          <a:xfrm>
            <a:off x="5543550" y="1644650"/>
            <a:ext cx="1917700" cy="942975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≤ μ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b="1"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868" name="Google Shape;868;p31"/>
          <p:cNvCxnSpPr/>
          <p:nvPr/>
        </p:nvCxnSpPr>
        <p:spPr>
          <a:xfrm>
            <a:off x="1925638" y="4470400"/>
            <a:ext cx="34766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869" name="Google Shape;869;p31"/>
          <p:cNvSpPr/>
          <p:nvPr/>
        </p:nvSpPr>
        <p:spPr>
          <a:xfrm>
            <a:off x="755650" y="5257800"/>
            <a:ext cx="3282950" cy="114141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 harus secara signifikan dibawah 0 untuk menolak H</a:t>
            </a:r>
            <a:r>
              <a:rPr baseline="-25000"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/>
          </a:p>
        </p:txBody>
      </p:sp>
      <p:cxnSp>
        <p:nvCxnSpPr>
          <p:cNvPr id="870" name="Google Shape;870;p31"/>
          <p:cNvCxnSpPr/>
          <p:nvPr/>
        </p:nvCxnSpPr>
        <p:spPr>
          <a:xfrm>
            <a:off x="1365250" y="4851400"/>
            <a:ext cx="0" cy="457200"/>
          </a:xfrm>
          <a:prstGeom prst="straightConnector1">
            <a:avLst/>
          </a:prstGeom>
          <a:noFill/>
          <a:ln cap="flat" cmpd="sng" w="28575">
            <a:solidFill>
              <a:srgbClr val="FF33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871" name="Google Shape;871;p31"/>
          <p:cNvSpPr/>
          <p:nvPr/>
        </p:nvSpPr>
        <p:spPr>
          <a:xfrm>
            <a:off x="4953000" y="5280025"/>
            <a:ext cx="3733800" cy="790575"/>
          </a:xfrm>
          <a:prstGeom prst="rect">
            <a:avLst/>
          </a:prstGeom>
          <a:solidFill>
            <a:srgbClr val="C9C9F1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None/>
            </a:pPr>
            <a:r>
              <a:rPr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Nilai Z tidak berlawanan dengan H</a:t>
            </a:r>
            <a:r>
              <a:rPr baseline="-25000"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baseline="-25000"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terima H</a:t>
            </a:r>
            <a:r>
              <a:rPr baseline="-25000"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</a:t>
            </a:r>
            <a:r>
              <a:rPr lang="en-US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!</a:t>
            </a:r>
            <a:endParaRPr/>
          </a:p>
        </p:txBody>
      </p:sp>
      <p:cxnSp>
        <p:nvCxnSpPr>
          <p:cNvPr id="872" name="Google Shape;872;p31"/>
          <p:cNvCxnSpPr/>
          <p:nvPr/>
        </p:nvCxnSpPr>
        <p:spPr>
          <a:xfrm>
            <a:off x="5867400" y="4800600"/>
            <a:ext cx="506413" cy="411163"/>
          </a:xfrm>
          <a:prstGeom prst="straightConnector1">
            <a:avLst/>
          </a:prstGeom>
          <a:noFill/>
          <a:ln cap="flat" cmpd="sng" w="28575">
            <a:solidFill>
              <a:srgbClr val="0033CC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873" name="Google Shape;873;p31"/>
          <p:cNvSpPr/>
          <p:nvPr/>
        </p:nvSpPr>
        <p:spPr>
          <a:xfrm>
            <a:off x="7629525" y="4468813"/>
            <a:ext cx="87313" cy="96837"/>
          </a:xfrm>
          <a:custGeom>
            <a:rect b="b" l="l" r="r" t="t"/>
            <a:pathLst>
              <a:path extrusionOk="0" h="61" w="55">
                <a:moveTo>
                  <a:pt x="54" y="13"/>
                </a:moveTo>
                <a:lnTo>
                  <a:pt x="15" y="60"/>
                </a:lnTo>
                <a:lnTo>
                  <a:pt x="0" y="0"/>
                </a:lnTo>
                <a:lnTo>
                  <a:pt x="54" y="13"/>
                </a:lnTo>
              </a:path>
            </a:pathLst>
          </a:custGeom>
          <a:solidFill>
            <a:srgbClr val="00A898"/>
          </a:solidFill>
          <a:ln cap="rnd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4" name="Google Shape;8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00" y="3600450"/>
            <a:ext cx="533400" cy="4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600450"/>
            <a:ext cx="533400" cy="4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882" name="Google Shape;882;p3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83" name="Google Shape;883;p32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Contoh: Uji Z untuk μ (</a:t>
            </a:r>
            <a:r>
              <a:rPr i="1" lang="en-US"/>
              <a:t>one-tail)</a:t>
            </a:r>
            <a:endParaRPr/>
          </a:p>
        </p:txBody>
      </p:sp>
      <p:sp>
        <p:nvSpPr>
          <p:cNvPr id="884" name="Google Shape;884;p32"/>
          <p:cNvSpPr txBox="1"/>
          <p:nvPr>
            <p:ph idx="1" type="body"/>
          </p:nvPr>
        </p:nvSpPr>
        <p:spPr>
          <a:xfrm>
            <a:off x="609600" y="1905000"/>
            <a:ext cx="4114800" cy="3429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Q. Apakah rata-rata kotak sereal berisi lebih dari 368 gr sereal?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Random sampel dari 25 kotak menunjukkan     = 372.5.  Perusahaan menetapkan </a:t>
            </a:r>
            <a:r>
              <a:rPr b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σ =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15 gr.  Uji pada signifikan level </a:t>
            </a:r>
            <a:r>
              <a:rPr b="1" i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 </a:t>
            </a:r>
            <a:r>
              <a:rPr b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0.05.</a:t>
            </a:r>
            <a:endParaRPr/>
          </a:p>
        </p:txBody>
      </p:sp>
      <p:sp>
        <p:nvSpPr>
          <p:cNvPr id="885" name="Google Shape;885;p32"/>
          <p:cNvSpPr/>
          <p:nvPr/>
        </p:nvSpPr>
        <p:spPr>
          <a:xfrm>
            <a:off x="5943600" y="2057400"/>
            <a:ext cx="2057400" cy="2438400"/>
          </a:xfrm>
          <a:prstGeom prst="cube">
            <a:avLst>
              <a:gd fmla="val 12569" name="adj"/>
            </a:avLst>
          </a:prstGeom>
          <a:solidFill>
            <a:srgbClr val="B50069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6" name="Google Shape;8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438400"/>
            <a:ext cx="16764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2"/>
          <p:cNvSpPr/>
          <p:nvPr/>
        </p:nvSpPr>
        <p:spPr>
          <a:xfrm>
            <a:off x="6248400" y="3048000"/>
            <a:ext cx="914400" cy="838200"/>
          </a:xfrm>
          <a:prstGeom prst="star16">
            <a:avLst>
              <a:gd fmla="val 37500" name="adj"/>
            </a:avLst>
          </a:prstGeom>
          <a:solidFill>
            <a:srgbClr val="EAEC5E"/>
          </a:solidFill>
          <a:ln cap="flat" cmpd="sng" w="12700">
            <a:solidFill>
              <a:srgbClr val="EAEC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6165850" y="4032250"/>
            <a:ext cx="1612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FEB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CFEB9"/>
                </a:solidFill>
                <a:latin typeface="Arial"/>
                <a:ea typeface="Arial"/>
                <a:cs typeface="Arial"/>
                <a:sym typeface="Arial"/>
              </a:rPr>
              <a:t>368 gm.</a:t>
            </a:r>
            <a:endParaRPr/>
          </a:p>
        </p:txBody>
      </p:sp>
      <p:pic>
        <p:nvPicPr>
          <p:cNvPr id="889" name="Google Shape;88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3581400"/>
            <a:ext cx="42703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896" name="Google Shape;896;p3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7" name="Google Shape;897;p33"/>
          <p:cNvSpPr txBox="1"/>
          <p:nvPr>
            <p:ph type="title"/>
          </p:nvPr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Mencari Nilai Kritikal: Uji Z (</a:t>
            </a:r>
            <a:r>
              <a:rPr i="1" lang="en-US" sz="4200"/>
              <a:t>one-tail)</a:t>
            </a:r>
            <a:endParaRPr/>
          </a:p>
        </p:txBody>
      </p:sp>
      <p:sp>
        <p:nvSpPr>
          <p:cNvPr id="898" name="Google Shape;898;p33"/>
          <p:cNvSpPr/>
          <p:nvPr/>
        </p:nvSpPr>
        <p:spPr>
          <a:xfrm>
            <a:off x="206375" y="3565525"/>
            <a:ext cx="1816100" cy="1600200"/>
          </a:xfrm>
          <a:custGeom>
            <a:rect b="b" l="l" r="r" t="t"/>
            <a:pathLst>
              <a:path extrusionOk="0" h="1056" w="1144">
                <a:moveTo>
                  <a:pt x="1144" y="40"/>
                </a:moveTo>
                <a:cubicBezTo>
                  <a:pt x="1140" y="20"/>
                  <a:pt x="1136" y="0"/>
                  <a:pt x="1096" y="40"/>
                </a:cubicBezTo>
                <a:cubicBezTo>
                  <a:pt x="1056" y="80"/>
                  <a:pt x="952" y="200"/>
                  <a:pt x="904" y="280"/>
                </a:cubicBezTo>
                <a:cubicBezTo>
                  <a:pt x="856" y="360"/>
                  <a:pt x="864" y="424"/>
                  <a:pt x="808" y="520"/>
                </a:cubicBezTo>
                <a:cubicBezTo>
                  <a:pt x="752" y="616"/>
                  <a:pt x="648" y="776"/>
                  <a:pt x="568" y="856"/>
                </a:cubicBezTo>
                <a:cubicBezTo>
                  <a:pt x="488" y="936"/>
                  <a:pt x="400" y="968"/>
                  <a:pt x="328" y="1000"/>
                </a:cubicBezTo>
                <a:cubicBezTo>
                  <a:pt x="256" y="1032"/>
                  <a:pt x="0" y="1040"/>
                  <a:pt x="136" y="1048"/>
                </a:cubicBezTo>
                <a:cubicBezTo>
                  <a:pt x="272" y="1056"/>
                  <a:pt x="976" y="1048"/>
                  <a:pt x="1144" y="1048"/>
                </a:cubicBezTo>
              </a:path>
            </a:pathLst>
          </a:cu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3"/>
          <p:cNvSpPr/>
          <p:nvPr/>
        </p:nvSpPr>
        <p:spPr>
          <a:xfrm>
            <a:off x="2022475" y="3565525"/>
            <a:ext cx="684213" cy="1616075"/>
          </a:xfrm>
          <a:custGeom>
            <a:rect b="b" l="l" r="r" t="t"/>
            <a:pathLst>
              <a:path extrusionOk="0" h="977" w="409">
                <a:moveTo>
                  <a:pt x="0" y="0"/>
                </a:moveTo>
                <a:lnTo>
                  <a:pt x="102" y="53"/>
                </a:lnTo>
                <a:lnTo>
                  <a:pt x="177" y="156"/>
                </a:lnTo>
                <a:lnTo>
                  <a:pt x="229" y="232"/>
                </a:lnTo>
                <a:lnTo>
                  <a:pt x="306" y="362"/>
                </a:lnTo>
                <a:lnTo>
                  <a:pt x="356" y="462"/>
                </a:lnTo>
                <a:lnTo>
                  <a:pt x="408" y="565"/>
                </a:lnTo>
                <a:lnTo>
                  <a:pt x="408" y="976"/>
                </a:lnTo>
                <a:lnTo>
                  <a:pt x="0" y="976"/>
                </a:lnTo>
                <a:lnTo>
                  <a:pt x="0" y="0"/>
                </a:lnTo>
              </a:path>
            </a:pathLst>
          </a:custGeom>
          <a:solidFill>
            <a:srgbClr val="FDDB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3"/>
          <p:cNvSpPr/>
          <p:nvPr/>
        </p:nvSpPr>
        <p:spPr>
          <a:xfrm>
            <a:off x="5002213" y="3025775"/>
            <a:ext cx="590550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3"/>
          <p:cNvSpPr/>
          <p:nvPr/>
        </p:nvSpPr>
        <p:spPr>
          <a:xfrm>
            <a:off x="5113338" y="3124200"/>
            <a:ext cx="37465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oto Sans Symbols"/>
              <a:buNone/>
            </a:pPr>
            <a:r>
              <a:rPr i="1"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902" name="Google Shape;902;p33"/>
          <p:cNvSpPr/>
          <p:nvPr/>
        </p:nvSpPr>
        <p:spPr>
          <a:xfrm>
            <a:off x="5619750" y="3025775"/>
            <a:ext cx="887413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3"/>
          <p:cNvSpPr/>
          <p:nvPr/>
        </p:nvSpPr>
        <p:spPr>
          <a:xfrm>
            <a:off x="5746750" y="3124200"/>
            <a:ext cx="622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.04</a:t>
            </a:r>
            <a:endParaRPr/>
          </a:p>
        </p:txBody>
      </p:sp>
      <p:sp>
        <p:nvSpPr>
          <p:cNvPr id="904" name="Google Shape;904;p33"/>
          <p:cNvSpPr/>
          <p:nvPr/>
        </p:nvSpPr>
        <p:spPr>
          <a:xfrm>
            <a:off x="6532563" y="3025775"/>
            <a:ext cx="947737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3"/>
          <p:cNvSpPr/>
          <p:nvPr/>
        </p:nvSpPr>
        <p:spPr>
          <a:xfrm>
            <a:off x="7507288" y="3025775"/>
            <a:ext cx="944562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3"/>
          <p:cNvSpPr/>
          <p:nvPr/>
        </p:nvSpPr>
        <p:spPr>
          <a:xfrm>
            <a:off x="7659688" y="3124200"/>
            <a:ext cx="622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.06</a:t>
            </a:r>
            <a:endParaRPr/>
          </a:p>
        </p:txBody>
      </p:sp>
      <p:sp>
        <p:nvSpPr>
          <p:cNvPr id="907" name="Google Shape;907;p33"/>
          <p:cNvSpPr/>
          <p:nvPr/>
        </p:nvSpPr>
        <p:spPr>
          <a:xfrm>
            <a:off x="4999038" y="3670300"/>
            <a:ext cx="593725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3"/>
          <p:cNvSpPr/>
          <p:nvPr/>
        </p:nvSpPr>
        <p:spPr>
          <a:xfrm>
            <a:off x="5602288" y="3381375"/>
            <a:ext cx="6350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3"/>
          <p:cNvSpPr/>
          <p:nvPr/>
        </p:nvSpPr>
        <p:spPr>
          <a:xfrm>
            <a:off x="5619750" y="3670300"/>
            <a:ext cx="887413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3"/>
          <p:cNvSpPr/>
          <p:nvPr/>
        </p:nvSpPr>
        <p:spPr>
          <a:xfrm>
            <a:off x="6516688" y="3381375"/>
            <a:ext cx="6350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3"/>
          <p:cNvSpPr/>
          <p:nvPr/>
        </p:nvSpPr>
        <p:spPr>
          <a:xfrm>
            <a:off x="6532563" y="3670300"/>
            <a:ext cx="947737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33"/>
          <p:cNvSpPr/>
          <p:nvPr/>
        </p:nvSpPr>
        <p:spPr>
          <a:xfrm>
            <a:off x="7489825" y="3670300"/>
            <a:ext cx="6350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3"/>
          <p:cNvSpPr/>
          <p:nvPr/>
        </p:nvSpPr>
        <p:spPr>
          <a:xfrm>
            <a:off x="7507288" y="3670300"/>
            <a:ext cx="944562" cy="6350"/>
          </a:xfrm>
          <a:prstGeom prst="rect">
            <a:avLst/>
          </a:prstGeom>
          <a:solidFill>
            <a:srgbClr val="D989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3"/>
          <p:cNvSpPr/>
          <p:nvPr/>
        </p:nvSpPr>
        <p:spPr>
          <a:xfrm>
            <a:off x="5002213" y="3686175"/>
            <a:ext cx="590550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3"/>
          <p:cNvSpPr/>
          <p:nvPr/>
        </p:nvSpPr>
        <p:spPr>
          <a:xfrm>
            <a:off x="4987925" y="3786188"/>
            <a:ext cx="622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1.6</a:t>
            </a:r>
            <a:endParaRPr/>
          </a:p>
        </p:txBody>
      </p:sp>
      <p:sp>
        <p:nvSpPr>
          <p:cNvPr id="916" name="Google Shape;916;p33"/>
          <p:cNvSpPr/>
          <p:nvPr/>
        </p:nvSpPr>
        <p:spPr>
          <a:xfrm>
            <a:off x="5568950" y="37861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9495</a:t>
            </a:r>
            <a:endParaRPr/>
          </a:p>
        </p:txBody>
      </p:sp>
      <p:sp>
        <p:nvSpPr>
          <p:cNvPr id="917" name="Google Shape;917;p33"/>
          <p:cNvSpPr/>
          <p:nvPr/>
        </p:nvSpPr>
        <p:spPr>
          <a:xfrm>
            <a:off x="6513513" y="3786188"/>
            <a:ext cx="984250" cy="479425"/>
          </a:xfrm>
          <a:prstGeom prst="rect">
            <a:avLst/>
          </a:prstGeom>
          <a:solidFill>
            <a:srgbClr val="FDDBE4"/>
          </a:solidFill>
          <a:ln cap="flat" cmpd="sng" w="9525">
            <a:solidFill>
              <a:srgbClr val="FFCD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9505</a:t>
            </a:r>
            <a:endParaRPr/>
          </a:p>
        </p:txBody>
      </p:sp>
      <p:sp>
        <p:nvSpPr>
          <p:cNvPr id="918" name="Google Shape;918;p33"/>
          <p:cNvSpPr/>
          <p:nvPr/>
        </p:nvSpPr>
        <p:spPr>
          <a:xfrm>
            <a:off x="7481888" y="37861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.9515</a:t>
            </a:r>
            <a:endParaRPr/>
          </a:p>
        </p:txBody>
      </p:sp>
      <p:sp>
        <p:nvSpPr>
          <p:cNvPr id="919" name="Google Shape;919;p33"/>
          <p:cNvSpPr/>
          <p:nvPr/>
        </p:nvSpPr>
        <p:spPr>
          <a:xfrm>
            <a:off x="5002213" y="4348163"/>
            <a:ext cx="590550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3"/>
          <p:cNvSpPr/>
          <p:nvPr/>
        </p:nvSpPr>
        <p:spPr>
          <a:xfrm>
            <a:off x="4987925" y="4446588"/>
            <a:ext cx="622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1.7</a:t>
            </a:r>
            <a:endParaRPr/>
          </a:p>
        </p:txBody>
      </p:sp>
      <p:sp>
        <p:nvSpPr>
          <p:cNvPr id="921" name="Google Shape;921;p33"/>
          <p:cNvSpPr/>
          <p:nvPr/>
        </p:nvSpPr>
        <p:spPr>
          <a:xfrm>
            <a:off x="5568950" y="44465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.9591</a:t>
            </a:r>
            <a:endParaRPr/>
          </a:p>
        </p:txBody>
      </p:sp>
      <p:sp>
        <p:nvSpPr>
          <p:cNvPr id="922" name="Google Shape;922;p33"/>
          <p:cNvSpPr/>
          <p:nvPr/>
        </p:nvSpPr>
        <p:spPr>
          <a:xfrm>
            <a:off x="6513513" y="44465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.9599</a:t>
            </a:r>
            <a:endParaRPr/>
          </a:p>
        </p:txBody>
      </p:sp>
      <p:sp>
        <p:nvSpPr>
          <p:cNvPr id="923" name="Google Shape;923;p33"/>
          <p:cNvSpPr/>
          <p:nvPr/>
        </p:nvSpPr>
        <p:spPr>
          <a:xfrm>
            <a:off x="7481888" y="44465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.9608</a:t>
            </a:r>
            <a:endParaRPr/>
          </a:p>
        </p:txBody>
      </p:sp>
      <p:sp>
        <p:nvSpPr>
          <p:cNvPr id="924" name="Google Shape;924;p33"/>
          <p:cNvSpPr/>
          <p:nvPr/>
        </p:nvSpPr>
        <p:spPr>
          <a:xfrm>
            <a:off x="5002213" y="5008563"/>
            <a:ext cx="590550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4987925" y="5106988"/>
            <a:ext cx="6223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1.8</a:t>
            </a:r>
            <a:endParaRPr/>
          </a:p>
        </p:txBody>
      </p:sp>
      <p:sp>
        <p:nvSpPr>
          <p:cNvPr id="926" name="Google Shape;926;p33"/>
          <p:cNvSpPr/>
          <p:nvPr/>
        </p:nvSpPr>
        <p:spPr>
          <a:xfrm>
            <a:off x="5568950" y="51069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.9671</a:t>
            </a:r>
            <a:endParaRPr/>
          </a:p>
        </p:txBody>
      </p:sp>
      <p:sp>
        <p:nvSpPr>
          <p:cNvPr id="927" name="Google Shape;927;p33"/>
          <p:cNvSpPr/>
          <p:nvPr/>
        </p:nvSpPr>
        <p:spPr>
          <a:xfrm>
            <a:off x="6513513" y="51069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.9678</a:t>
            </a:r>
            <a:endParaRPr/>
          </a:p>
        </p:txBody>
      </p:sp>
      <p:sp>
        <p:nvSpPr>
          <p:cNvPr id="928" name="Google Shape;928;p33"/>
          <p:cNvSpPr/>
          <p:nvPr/>
        </p:nvSpPr>
        <p:spPr>
          <a:xfrm>
            <a:off x="7481888" y="51069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.9686</a:t>
            </a:r>
            <a:endParaRPr/>
          </a:p>
        </p:txBody>
      </p:sp>
      <p:sp>
        <p:nvSpPr>
          <p:cNvPr id="929" name="Google Shape;929;p33"/>
          <p:cNvSpPr/>
          <p:nvPr/>
        </p:nvSpPr>
        <p:spPr>
          <a:xfrm>
            <a:off x="5002213" y="5668963"/>
            <a:ext cx="590550" cy="63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3"/>
          <p:cNvSpPr/>
          <p:nvPr/>
        </p:nvSpPr>
        <p:spPr>
          <a:xfrm>
            <a:off x="5568950" y="57673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.9738</a:t>
            </a:r>
            <a:endParaRPr/>
          </a:p>
        </p:txBody>
      </p:sp>
      <p:sp>
        <p:nvSpPr>
          <p:cNvPr id="931" name="Google Shape;931;p33"/>
          <p:cNvSpPr/>
          <p:nvPr/>
        </p:nvSpPr>
        <p:spPr>
          <a:xfrm>
            <a:off x="6532563" y="5668963"/>
            <a:ext cx="947737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7481888" y="5767388"/>
            <a:ext cx="97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.9750</a:t>
            </a:r>
            <a:endParaRPr/>
          </a:p>
        </p:txBody>
      </p:sp>
      <p:sp>
        <p:nvSpPr>
          <p:cNvPr id="933" name="Google Shape;933;p33"/>
          <p:cNvSpPr/>
          <p:nvPr/>
        </p:nvSpPr>
        <p:spPr>
          <a:xfrm>
            <a:off x="2708275" y="4464050"/>
            <a:ext cx="755650" cy="674688"/>
          </a:xfrm>
          <a:custGeom>
            <a:rect b="b" l="l" r="r" t="t"/>
            <a:pathLst>
              <a:path extrusionOk="0" h="425" w="476">
                <a:moveTo>
                  <a:pt x="475" y="416"/>
                </a:moveTo>
                <a:lnTo>
                  <a:pt x="317" y="354"/>
                </a:lnTo>
                <a:lnTo>
                  <a:pt x="217" y="287"/>
                </a:lnTo>
                <a:lnTo>
                  <a:pt x="137" y="196"/>
                </a:lnTo>
                <a:lnTo>
                  <a:pt x="59" y="78"/>
                </a:lnTo>
                <a:lnTo>
                  <a:pt x="0" y="0"/>
                </a:lnTo>
                <a:lnTo>
                  <a:pt x="0" y="424"/>
                </a:lnTo>
                <a:lnTo>
                  <a:pt x="475" y="424"/>
                </a:lnTo>
                <a:lnTo>
                  <a:pt x="475" y="416"/>
                </a:lnTo>
              </a:path>
            </a:pathLst>
          </a:custGeom>
          <a:solidFill>
            <a:srgbClr val="FF0000"/>
          </a:solidFill>
          <a:ln cap="rnd" cmpd="sng" w="12700">
            <a:solidFill>
              <a:srgbClr val="66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" name="Google Shape;934;p33"/>
          <p:cNvCxnSpPr/>
          <p:nvPr/>
        </p:nvCxnSpPr>
        <p:spPr>
          <a:xfrm>
            <a:off x="2057400" y="3684588"/>
            <a:ext cx="0" cy="1373187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5" name="Google Shape;935;p33"/>
          <p:cNvCxnSpPr/>
          <p:nvPr/>
        </p:nvCxnSpPr>
        <p:spPr>
          <a:xfrm>
            <a:off x="2708275" y="4567238"/>
            <a:ext cx="0" cy="5048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6" name="Google Shape;936;p33"/>
          <p:cNvSpPr/>
          <p:nvPr/>
        </p:nvSpPr>
        <p:spPr>
          <a:xfrm>
            <a:off x="2057400" y="3568700"/>
            <a:ext cx="1635125" cy="1573213"/>
          </a:xfrm>
          <a:custGeom>
            <a:rect b="b" l="l" r="r" t="t"/>
            <a:pathLst>
              <a:path extrusionOk="0" h="991" w="1030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3"/>
          <p:cNvSpPr/>
          <p:nvPr/>
        </p:nvSpPr>
        <p:spPr>
          <a:xfrm>
            <a:off x="420688" y="3565525"/>
            <a:ext cx="1638300" cy="1576388"/>
          </a:xfrm>
          <a:custGeom>
            <a:rect b="b" l="l" r="r" t="t"/>
            <a:pathLst>
              <a:path extrusionOk="0" h="991" w="1032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3"/>
          <p:cNvSpPr/>
          <p:nvPr/>
        </p:nvSpPr>
        <p:spPr>
          <a:xfrm>
            <a:off x="0" y="4281488"/>
            <a:ext cx="92075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3"/>
          <p:cNvSpPr/>
          <p:nvPr/>
        </p:nvSpPr>
        <p:spPr>
          <a:xfrm>
            <a:off x="3449638" y="5181600"/>
            <a:ext cx="436562" cy="59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None/>
            </a:pPr>
            <a:r>
              <a:rPr i="1" lang="en-US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940" name="Google Shape;940;p33"/>
          <p:cNvSpPr/>
          <p:nvPr/>
        </p:nvSpPr>
        <p:spPr>
          <a:xfrm>
            <a:off x="1863725" y="5122863"/>
            <a:ext cx="414338" cy="592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None/>
            </a:pPr>
            <a:r>
              <a:rPr lang="en-US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41" name="Google Shape;941;p33"/>
          <p:cNvSpPr/>
          <p:nvPr/>
        </p:nvSpPr>
        <p:spPr>
          <a:xfrm>
            <a:off x="2320925" y="5181600"/>
            <a:ext cx="981075" cy="51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1.645</a:t>
            </a:r>
            <a:endParaRPr/>
          </a:p>
        </p:txBody>
      </p:sp>
      <p:sp>
        <p:nvSpPr>
          <p:cNvPr id="942" name="Google Shape;942;p33"/>
          <p:cNvSpPr/>
          <p:nvPr/>
        </p:nvSpPr>
        <p:spPr>
          <a:xfrm>
            <a:off x="6689725" y="2974975"/>
            <a:ext cx="1079500" cy="671513"/>
          </a:xfrm>
          <a:prstGeom prst="rect">
            <a:avLst/>
          </a:prstGeom>
          <a:noFill/>
          <a:ln>
            <a:noFill/>
          </a:ln>
        </p:spPr>
        <p:txBody>
          <a:bodyPr anchorCtr="0" anchor="t" bIns="92075" lIns="92075" spcFirstLastPara="1" rIns="92075" wrap="square" tIns="9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943" name="Google Shape;943;p33"/>
          <p:cNvSpPr/>
          <p:nvPr/>
        </p:nvSpPr>
        <p:spPr>
          <a:xfrm>
            <a:off x="4994275" y="5775325"/>
            <a:ext cx="838200" cy="47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2075" spcFirstLastPara="1" rIns="920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1.9</a:t>
            </a:r>
            <a:endParaRPr/>
          </a:p>
        </p:txBody>
      </p:sp>
      <p:sp>
        <p:nvSpPr>
          <p:cNvPr id="944" name="Google Shape;944;p33"/>
          <p:cNvSpPr/>
          <p:nvPr/>
        </p:nvSpPr>
        <p:spPr>
          <a:xfrm>
            <a:off x="6513513" y="5770563"/>
            <a:ext cx="14573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.9744</a:t>
            </a:r>
            <a:endParaRPr/>
          </a:p>
        </p:txBody>
      </p:sp>
      <p:sp>
        <p:nvSpPr>
          <p:cNvPr id="945" name="Google Shape;945;p33"/>
          <p:cNvSpPr/>
          <p:nvPr/>
        </p:nvSpPr>
        <p:spPr>
          <a:xfrm>
            <a:off x="4876800" y="1676400"/>
            <a:ext cx="3930650" cy="118427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Contoh Tabel Kumulatif Distribusi Normal yang Standar</a:t>
            </a:r>
            <a:endParaRPr/>
          </a:p>
        </p:txBody>
      </p:sp>
      <p:grpSp>
        <p:nvGrpSpPr>
          <p:cNvPr id="946" name="Google Shape;946;p33"/>
          <p:cNvGrpSpPr/>
          <p:nvPr/>
        </p:nvGrpSpPr>
        <p:grpSpPr>
          <a:xfrm rot="-3039568">
            <a:off x="2478088" y="4819650"/>
            <a:ext cx="3016250" cy="1060450"/>
            <a:chOff x="1900" y="3416"/>
            <a:chExt cx="1229" cy="596"/>
          </a:xfrm>
        </p:grpSpPr>
        <p:sp>
          <p:nvSpPr>
            <p:cNvPr id="947" name="Google Shape;947;p33"/>
            <p:cNvSpPr/>
            <p:nvPr/>
          </p:nvSpPr>
          <p:spPr>
            <a:xfrm>
              <a:off x="1900" y="3416"/>
              <a:ext cx="1228" cy="573"/>
            </a:xfrm>
            <a:custGeom>
              <a:rect b="b" l="l" r="r" t="t"/>
              <a:pathLst>
                <a:path extrusionOk="0" h="573" w="1228">
                  <a:moveTo>
                    <a:pt x="1226" y="353"/>
                  </a:moveTo>
                  <a:lnTo>
                    <a:pt x="1227" y="381"/>
                  </a:lnTo>
                  <a:lnTo>
                    <a:pt x="1181" y="422"/>
                  </a:lnTo>
                  <a:lnTo>
                    <a:pt x="1154" y="446"/>
                  </a:lnTo>
                  <a:lnTo>
                    <a:pt x="1124" y="460"/>
                  </a:lnTo>
                  <a:lnTo>
                    <a:pt x="1100" y="477"/>
                  </a:lnTo>
                  <a:lnTo>
                    <a:pt x="1069" y="492"/>
                  </a:lnTo>
                  <a:lnTo>
                    <a:pt x="1041" y="505"/>
                  </a:lnTo>
                  <a:lnTo>
                    <a:pt x="1005" y="516"/>
                  </a:lnTo>
                  <a:lnTo>
                    <a:pt x="978" y="526"/>
                  </a:lnTo>
                  <a:lnTo>
                    <a:pt x="951" y="537"/>
                  </a:lnTo>
                  <a:lnTo>
                    <a:pt x="910" y="546"/>
                  </a:lnTo>
                  <a:lnTo>
                    <a:pt x="872" y="553"/>
                  </a:lnTo>
                  <a:lnTo>
                    <a:pt x="826" y="561"/>
                  </a:lnTo>
                  <a:lnTo>
                    <a:pt x="767" y="569"/>
                  </a:lnTo>
                  <a:lnTo>
                    <a:pt x="717" y="572"/>
                  </a:lnTo>
                  <a:lnTo>
                    <a:pt x="677" y="571"/>
                  </a:lnTo>
                  <a:lnTo>
                    <a:pt x="620" y="569"/>
                  </a:lnTo>
                  <a:lnTo>
                    <a:pt x="576" y="568"/>
                  </a:lnTo>
                  <a:lnTo>
                    <a:pt x="533" y="562"/>
                  </a:lnTo>
                  <a:lnTo>
                    <a:pt x="488" y="553"/>
                  </a:lnTo>
                  <a:lnTo>
                    <a:pt x="442" y="541"/>
                  </a:lnTo>
                  <a:lnTo>
                    <a:pt x="404" y="530"/>
                  </a:lnTo>
                  <a:lnTo>
                    <a:pt x="365" y="515"/>
                  </a:lnTo>
                  <a:lnTo>
                    <a:pt x="328" y="495"/>
                  </a:lnTo>
                  <a:lnTo>
                    <a:pt x="293" y="474"/>
                  </a:lnTo>
                  <a:lnTo>
                    <a:pt x="257" y="450"/>
                  </a:lnTo>
                  <a:lnTo>
                    <a:pt x="223" y="417"/>
                  </a:lnTo>
                  <a:lnTo>
                    <a:pt x="197" y="391"/>
                  </a:lnTo>
                  <a:lnTo>
                    <a:pt x="170" y="356"/>
                  </a:lnTo>
                  <a:lnTo>
                    <a:pt x="150" y="330"/>
                  </a:lnTo>
                  <a:lnTo>
                    <a:pt x="142" y="316"/>
                  </a:lnTo>
                  <a:lnTo>
                    <a:pt x="38" y="465"/>
                  </a:lnTo>
                  <a:lnTo>
                    <a:pt x="33" y="429"/>
                  </a:lnTo>
                  <a:lnTo>
                    <a:pt x="38" y="393"/>
                  </a:lnTo>
                  <a:lnTo>
                    <a:pt x="42" y="360"/>
                  </a:lnTo>
                  <a:lnTo>
                    <a:pt x="45" y="325"/>
                  </a:lnTo>
                  <a:lnTo>
                    <a:pt x="47" y="286"/>
                  </a:lnTo>
                  <a:lnTo>
                    <a:pt x="45" y="248"/>
                  </a:lnTo>
                  <a:lnTo>
                    <a:pt x="43" y="216"/>
                  </a:lnTo>
                  <a:lnTo>
                    <a:pt x="39" y="179"/>
                  </a:lnTo>
                  <a:lnTo>
                    <a:pt x="34" y="144"/>
                  </a:lnTo>
                  <a:lnTo>
                    <a:pt x="26" y="100"/>
                  </a:lnTo>
                  <a:lnTo>
                    <a:pt x="6" y="51"/>
                  </a:lnTo>
                  <a:lnTo>
                    <a:pt x="0" y="0"/>
                  </a:lnTo>
                  <a:lnTo>
                    <a:pt x="29" y="12"/>
                  </a:lnTo>
                  <a:lnTo>
                    <a:pt x="55" y="23"/>
                  </a:lnTo>
                  <a:lnTo>
                    <a:pt x="89" y="34"/>
                  </a:lnTo>
                  <a:lnTo>
                    <a:pt x="117" y="40"/>
                  </a:lnTo>
                  <a:lnTo>
                    <a:pt x="137" y="42"/>
                  </a:lnTo>
                  <a:lnTo>
                    <a:pt x="156" y="43"/>
                  </a:lnTo>
                  <a:lnTo>
                    <a:pt x="185" y="43"/>
                  </a:lnTo>
                  <a:lnTo>
                    <a:pt x="213" y="39"/>
                  </a:lnTo>
                  <a:lnTo>
                    <a:pt x="236" y="37"/>
                  </a:lnTo>
                  <a:lnTo>
                    <a:pt x="261" y="28"/>
                  </a:lnTo>
                  <a:lnTo>
                    <a:pt x="290" y="21"/>
                  </a:lnTo>
                  <a:lnTo>
                    <a:pt x="333" y="1"/>
                  </a:lnTo>
                  <a:lnTo>
                    <a:pt x="339" y="53"/>
                  </a:lnTo>
                  <a:lnTo>
                    <a:pt x="245" y="172"/>
                  </a:lnTo>
                  <a:lnTo>
                    <a:pt x="255" y="185"/>
                  </a:lnTo>
                  <a:lnTo>
                    <a:pt x="293" y="224"/>
                  </a:lnTo>
                  <a:lnTo>
                    <a:pt x="324" y="255"/>
                  </a:lnTo>
                  <a:lnTo>
                    <a:pt x="368" y="293"/>
                  </a:lnTo>
                  <a:lnTo>
                    <a:pt x="396" y="313"/>
                  </a:lnTo>
                  <a:lnTo>
                    <a:pt x="421" y="332"/>
                  </a:lnTo>
                  <a:lnTo>
                    <a:pt x="460" y="357"/>
                  </a:lnTo>
                  <a:lnTo>
                    <a:pt x="495" y="380"/>
                  </a:lnTo>
                  <a:lnTo>
                    <a:pt x="539" y="400"/>
                  </a:lnTo>
                  <a:lnTo>
                    <a:pt x="576" y="414"/>
                  </a:lnTo>
                  <a:lnTo>
                    <a:pt x="616" y="426"/>
                  </a:lnTo>
                  <a:lnTo>
                    <a:pt x="658" y="441"/>
                  </a:lnTo>
                  <a:lnTo>
                    <a:pt x="691" y="446"/>
                  </a:lnTo>
                  <a:lnTo>
                    <a:pt x="734" y="451"/>
                  </a:lnTo>
                  <a:lnTo>
                    <a:pt x="780" y="454"/>
                  </a:lnTo>
                  <a:lnTo>
                    <a:pt x="821" y="456"/>
                  </a:lnTo>
                  <a:lnTo>
                    <a:pt x="866" y="457"/>
                  </a:lnTo>
                  <a:lnTo>
                    <a:pt x="918" y="457"/>
                  </a:lnTo>
                  <a:lnTo>
                    <a:pt x="967" y="456"/>
                  </a:lnTo>
                  <a:lnTo>
                    <a:pt x="1013" y="447"/>
                  </a:lnTo>
                  <a:lnTo>
                    <a:pt x="1045" y="442"/>
                  </a:lnTo>
                  <a:lnTo>
                    <a:pt x="1078" y="434"/>
                  </a:lnTo>
                  <a:lnTo>
                    <a:pt x="1103" y="425"/>
                  </a:lnTo>
                  <a:lnTo>
                    <a:pt x="1127" y="413"/>
                  </a:lnTo>
                  <a:lnTo>
                    <a:pt x="1151" y="402"/>
                  </a:lnTo>
                  <a:lnTo>
                    <a:pt x="1226" y="353"/>
                  </a:lnTo>
                </a:path>
              </a:pathLst>
            </a:custGeom>
            <a:solidFill>
              <a:srgbClr val="FF0000"/>
            </a:solidFill>
            <a:ln cap="rnd" cmpd="sng" w="12700">
              <a:solidFill>
                <a:srgbClr val="00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1907" y="3471"/>
              <a:ext cx="1222" cy="541"/>
            </a:xfrm>
            <a:custGeom>
              <a:rect b="b" l="l" r="r" t="t"/>
              <a:pathLst>
                <a:path extrusionOk="0" h="541" w="1222">
                  <a:moveTo>
                    <a:pt x="1221" y="327"/>
                  </a:moveTo>
                  <a:lnTo>
                    <a:pt x="1169" y="387"/>
                  </a:lnTo>
                  <a:lnTo>
                    <a:pt x="1147" y="405"/>
                  </a:lnTo>
                  <a:lnTo>
                    <a:pt x="1119" y="424"/>
                  </a:lnTo>
                  <a:lnTo>
                    <a:pt x="1096" y="439"/>
                  </a:lnTo>
                  <a:lnTo>
                    <a:pt x="1065" y="455"/>
                  </a:lnTo>
                  <a:lnTo>
                    <a:pt x="1036" y="469"/>
                  </a:lnTo>
                  <a:lnTo>
                    <a:pt x="1000" y="485"/>
                  </a:lnTo>
                  <a:lnTo>
                    <a:pt x="972" y="493"/>
                  </a:lnTo>
                  <a:lnTo>
                    <a:pt x="945" y="504"/>
                  </a:lnTo>
                  <a:lnTo>
                    <a:pt x="905" y="516"/>
                  </a:lnTo>
                  <a:lnTo>
                    <a:pt x="868" y="520"/>
                  </a:lnTo>
                  <a:lnTo>
                    <a:pt x="821" y="528"/>
                  </a:lnTo>
                  <a:lnTo>
                    <a:pt x="762" y="537"/>
                  </a:lnTo>
                  <a:lnTo>
                    <a:pt x="713" y="540"/>
                  </a:lnTo>
                  <a:lnTo>
                    <a:pt x="673" y="540"/>
                  </a:lnTo>
                  <a:lnTo>
                    <a:pt x="616" y="540"/>
                  </a:lnTo>
                  <a:lnTo>
                    <a:pt x="571" y="537"/>
                  </a:lnTo>
                  <a:lnTo>
                    <a:pt x="528" y="531"/>
                  </a:lnTo>
                  <a:lnTo>
                    <a:pt x="483" y="525"/>
                  </a:lnTo>
                  <a:lnTo>
                    <a:pt x="439" y="513"/>
                  </a:lnTo>
                  <a:lnTo>
                    <a:pt x="400" y="502"/>
                  </a:lnTo>
                  <a:lnTo>
                    <a:pt x="360" y="488"/>
                  </a:lnTo>
                  <a:lnTo>
                    <a:pt x="325" y="471"/>
                  </a:lnTo>
                  <a:lnTo>
                    <a:pt x="289" y="452"/>
                  </a:lnTo>
                  <a:lnTo>
                    <a:pt x="253" y="427"/>
                  </a:lnTo>
                  <a:lnTo>
                    <a:pt x="220" y="397"/>
                  </a:lnTo>
                  <a:lnTo>
                    <a:pt x="195" y="372"/>
                  </a:lnTo>
                  <a:lnTo>
                    <a:pt x="169" y="340"/>
                  </a:lnTo>
                  <a:lnTo>
                    <a:pt x="149" y="316"/>
                  </a:lnTo>
                  <a:lnTo>
                    <a:pt x="122" y="281"/>
                  </a:lnTo>
                  <a:lnTo>
                    <a:pt x="31" y="411"/>
                  </a:lnTo>
                  <a:lnTo>
                    <a:pt x="37" y="376"/>
                  </a:lnTo>
                  <a:lnTo>
                    <a:pt x="41" y="343"/>
                  </a:lnTo>
                  <a:lnTo>
                    <a:pt x="44" y="311"/>
                  </a:lnTo>
                  <a:lnTo>
                    <a:pt x="45" y="275"/>
                  </a:lnTo>
                  <a:lnTo>
                    <a:pt x="43" y="239"/>
                  </a:lnTo>
                  <a:lnTo>
                    <a:pt x="42" y="208"/>
                  </a:lnTo>
                  <a:lnTo>
                    <a:pt x="38" y="173"/>
                  </a:lnTo>
                  <a:lnTo>
                    <a:pt x="32" y="140"/>
                  </a:lnTo>
                  <a:lnTo>
                    <a:pt x="25" y="96"/>
                  </a:lnTo>
                  <a:lnTo>
                    <a:pt x="16" y="59"/>
                  </a:lnTo>
                  <a:lnTo>
                    <a:pt x="8" y="33"/>
                  </a:lnTo>
                  <a:lnTo>
                    <a:pt x="0" y="0"/>
                  </a:lnTo>
                  <a:lnTo>
                    <a:pt x="28" y="12"/>
                  </a:lnTo>
                  <a:lnTo>
                    <a:pt x="55" y="23"/>
                  </a:lnTo>
                  <a:lnTo>
                    <a:pt x="88" y="34"/>
                  </a:lnTo>
                  <a:lnTo>
                    <a:pt x="118" y="39"/>
                  </a:lnTo>
                  <a:lnTo>
                    <a:pt x="136" y="41"/>
                  </a:lnTo>
                  <a:lnTo>
                    <a:pt x="155" y="42"/>
                  </a:lnTo>
                  <a:lnTo>
                    <a:pt x="184" y="41"/>
                  </a:lnTo>
                  <a:lnTo>
                    <a:pt x="212" y="39"/>
                  </a:lnTo>
                  <a:lnTo>
                    <a:pt x="233" y="35"/>
                  </a:lnTo>
                  <a:lnTo>
                    <a:pt x="261" y="26"/>
                  </a:lnTo>
                  <a:lnTo>
                    <a:pt x="290" y="18"/>
                  </a:lnTo>
                  <a:lnTo>
                    <a:pt x="332" y="1"/>
                  </a:lnTo>
                  <a:lnTo>
                    <a:pt x="221" y="144"/>
                  </a:lnTo>
                  <a:lnTo>
                    <a:pt x="252" y="177"/>
                  </a:lnTo>
                  <a:lnTo>
                    <a:pt x="290" y="213"/>
                  </a:lnTo>
                  <a:lnTo>
                    <a:pt x="322" y="242"/>
                  </a:lnTo>
                  <a:lnTo>
                    <a:pt x="366" y="278"/>
                  </a:lnTo>
                  <a:lnTo>
                    <a:pt x="393" y="297"/>
                  </a:lnTo>
                  <a:lnTo>
                    <a:pt x="419" y="316"/>
                  </a:lnTo>
                  <a:lnTo>
                    <a:pt x="456" y="339"/>
                  </a:lnTo>
                  <a:lnTo>
                    <a:pt x="493" y="360"/>
                  </a:lnTo>
                  <a:lnTo>
                    <a:pt x="536" y="378"/>
                  </a:lnTo>
                  <a:lnTo>
                    <a:pt x="573" y="390"/>
                  </a:lnTo>
                  <a:lnTo>
                    <a:pt x="613" y="402"/>
                  </a:lnTo>
                  <a:lnTo>
                    <a:pt x="655" y="414"/>
                  </a:lnTo>
                  <a:lnTo>
                    <a:pt x="688" y="420"/>
                  </a:lnTo>
                  <a:lnTo>
                    <a:pt x="731" y="423"/>
                  </a:lnTo>
                  <a:lnTo>
                    <a:pt x="776" y="426"/>
                  </a:lnTo>
                  <a:lnTo>
                    <a:pt x="817" y="429"/>
                  </a:lnTo>
                  <a:lnTo>
                    <a:pt x="863" y="429"/>
                  </a:lnTo>
                  <a:lnTo>
                    <a:pt x="913" y="428"/>
                  </a:lnTo>
                  <a:lnTo>
                    <a:pt x="961" y="426"/>
                  </a:lnTo>
                  <a:lnTo>
                    <a:pt x="1009" y="418"/>
                  </a:lnTo>
                  <a:lnTo>
                    <a:pt x="1040" y="414"/>
                  </a:lnTo>
                  <a:lnTo>
                    <a:pt x="1074" y="407"/>
                  </a:lnTo>
                  <a:lnTo>
                    <a:pt x="1100" y="397"/>
                  </a:lnTo>
                  <a:lnTo>
                    <a:pt x="1125" y="388"/>
                  </a:lnTo>
                  <a:lnTo>
                    <a:pt x="1146" y="375"/>
                  </a:lnTo>
                  <a:lnTo>
                    <a:pt x="1221" y="327"/>
                  </a:lnTo>
                </a:path>
              </a:pathLst>
            </a:custGeom>
            <a:solidFill>
              <a:srgbClr val="FF0000"/>
            </a:solidFill>
            <a:ln cap="rnd" cmpd="sng" w="12700">
              <a:solidFill>
                <a:srgbClr val="00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9" name="Google Shape;949;p33"/>
          <p:cNvSpPr/>
          <p:nvPr/>
        </p:nvSpPr>
        <p:spPr>
          <a:xfrm>
            <a:off x="152400" y="2057400"/>
            <a:ext cx="4421188" cy="4540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Berapa nilai </a:t>
            </a: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untuk </a:t>
            </a:r>
            <a:r>
              <a:rPr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0.05?</a:t>
            </a:r>
            <a:endParaRPr/>
          </a:p>
        </p:txBody>
      </p:sp>
      <p:grpSp>
        <p:nvGrpSpPr>
          <p:cNvPr id="950" name="Google Shape;950;p33"/>
          <p:cNvGrpSpPr/>
          <p:nvPr/>
        </p:nvGrpSpPr>
        <p:grpSpPr>
          <a:xfrm>
            <a:off x="2022475" y="3489325"/>
            <a:ext cx="4419600" cy="457200"/>
            <a:chOff x="1632" y="1536"/>
            <a:chExt cx="2016" cy="768"/>
          </a:xfrm>
        </p:grpSpPr>
        <p:sp>
          <p:nvSpPr>
            <p:cNvPr id="951" name="Google Shape;951;p33"/>
            <p:cNvSpPr/>
            <p:nvPr/>
          </p:nvSpPr>
          <p:spPr>
            <a:xfrm>
              <a:off x="1635" y="1538"/>
              <a:ext cx="2013" cy="766"/>
            </a:xfrm>
            <a:custGeom>
              <a:rect b="b" l="l" r="r" t="t"/>
              <a:pathLst>
                <a:path extrusionOk="0" h="766" w="2013">
                  <a:moveTo>
                    <a:pt x="13" y="701"/>
                  </a:moveTo>
                  <a:lnTo>
                    <a:pt x="0" y="665"/>
                  </a:lnTo>
                  <a:lnTo>
                    <a:pt x="50" y="589"/>
                  </a:lnTo>
                  <a:lnTo>
                    <a:pt x="84" y="545"/>
                  </a:lnTo>
                  <a:lnTo>
                    <a:pt x="122" y="509"/>
                  </a:lnTo>
                  <a:lnTo>
                    <a:pt x="151" y="477"/>
                  </a:lnTo>
                  <a:lnTo>
                    <a:pt x="191" y="441"/>
                  </a:lnTo>
                  <a:lnTo>
                    <a:pt x="227" y="409"/>
                  </a:lnTo>
                  <a:lnTo>
                    <a:pt x="275" y="379"/>
                  </a:lnTo>
                  <a:lnTo>
                    <a:pt x="313" y="352"/>
                  </a:lnTo>
                  <a:lnTo>
                    <a:pt x="353" y="324"/>
                  </a:lnTo>
                  <a:lnTo>
                    <a:pt x="410" y="292"/>
                  </a:lnTo>
                  <a:lnTo>
                    <a:pt x="463" y="266"/>
                  </a:lnTo>
                  <a:lnTo>
                    <a:pt x="528" y="236"/>
                  </a:lnTo>
                  <a:lnTo>
                    <a:pt x="616" y="196"/>
                  </a:lnTo>
                  <a:lnTo>
                    <a:pt x="688" y="169"/>
                  </a:lnTo>
                  <a:lnTo>
                    <a:pt x="749" y="151"/>
                  </a:lnTo>
                  <a:lnTo>
                    <a:pt x="837" y="127"/>
                  </a:lnTo>
                  <a:lnTo>
                    <a:pt x="902" y="109"/>
                  </a:lnTo>
                  <a:lnTo>
                    <a:pt x="971" y="99"/>
                  </a:lnTo>
                  <a:lnTo>
                    <a:pt x="1042" y="88"/>
                  </a:lnTo>
                  <a:lnTo>
                    <a:pt x="1116" y="85"/>
                  </a:lnTo>
                  <a:lnTo>
                    <a:pt x="1179" y="81"/>
                  </a:lnTo>
                  <a:lnTo>
                    <a:pt x="1245" y="83"/>
                  </a:lnTo>
                  <a:lnTo>
                    <a:pt x="1309" y="93"/>
                  </a:lnTo>
                  <a:lnTo>
                    <a:pt x="1371" y="103"/>
                  </a:lnTo>
                  <a:lnTo>
                    <a:pt x="1434" y="121"/>
                  </a:lnTo>
                  <a:lnTo>
                    <a:pt x="1499" y="150"/>
                  </a:lnTo>
                  <a:lnTo>
                    <a:pt x="1550" y="173"/>
                  </a:lnTo>
                  <a:lnTo>
                    <a:pt x="1607" y="209"/>
                  </a:lnTo>
                  <a:lnTo>
                    <a:pt x="1646" y="235"/>
                  </a:lnTo>
                  <a:lnTo>
                    <a:pt x="1666" y="251"/>
                  </a:lnTo>
                  <a:lnTo>
                    <a:pt x="1760" y="0"/>
                  </a:lnTo>
                  <a:lnTo>
                    <a:pt x="1780" y="43"/>
                  </a:lnTo>
                  <a:lnTo>
                    <a:pt x="1787" y="97"/>
                  </a:lnTo>
                  <a:lnTo>
                    <a:pt x="1796" y="146"/>
                  </a:lnTo>
                  <a:lnTo>
                    <a:pt x="1808" y="194"/>
                  </a:lnTo>
                  <a:lnTo>
                    <a:pt x="1821" y="246"/>
                  </a:lnTo>
                  <a:lnTo>
                    <a:pt x="1841" y="297"/>
                  </a:lnTo>
                  <a:lnTo>
                    <a:pt x="1855" y="339"/>
                  </a:lnTo>
                  <a:lnTo>
                    <a:pt x="1878" y="387"/>
                  </a:lnTo>
                  <a:lnTo>
                    <a:pt x="1899" y="431"/>
                  </a:lnTo>
                  <a:lnTo>
                    <a:pt x="1932" y="489"/>
                  </a:lnTo>
                  <a:lnTo>
                    <a:pt x="1980" y="547"/>
                  </a:lnTo>
                  <a:lnTo>
                    <a:pt x="2012" y="613"/>
                  </a:lnTo>
                  <a:lnTo>
                    <a:pt x="1965" y="608"/>
                  </a:lnTo>
                  <a:lnTo>
                    <a:pt x="1918" y="607"/>
                  </a:lnTo>
                  <a:lnTo>
                    <a:pt x="1866" y="608"/>
                  </a:lnTo>
                  <a:lnTo>
                    <a:pt x="1817" y="613"/>
                  </a:lnTo>
                  <a:lnTo>
                    <a:pt x="1789" y="619"/>
                  </a:lnTo>
                  <a:lnTo>
                    <a:pt x="1759" y="626"/>
                  </a:lnTo>
                  <a:lnTo>
                    <a:pt x="1715" y="639"/>
                  </a:lnTo>
                  <a:lnTo>
                    <a:pt x="1677" y="657"/>
                  </a:lnTo>
                  <a:lnTo>
                    <a:pt x="1641" y="673"/>
                  </a:lnTo>
                  <a:lnTo>
                    <a:pt x="1604" y="697"/>
                  </a:lnTo>
                  <a:lnTo>
                    <a:pt x="1563" y="720"/>
                  </a:lnTo>
                  <a:lnTo>
                    <a:pt x="1507" y="765"/>
                  </a:lnTo>
                  <a:lnTo>
                    <a:pt x="1477" y="699"/>
                  </a:lnTo>
                  <a:lnTo>
                    <a:pt x="1571" y="494"/>
                  </a:lnTo>
                  <a:lnTo>
                    <a:pt x="1549" y="479"/>
                  </a:lnTo>
                  <a:lnTo>
                    <a:pt x="1474" y="444"/>
                  </a:lnTo>
                  <a:lnTo>
                    <a:pt x="1413" y="417"/>
                  </a:lnTo>
                  <a:lnTo>
                    <a:pt x="1332" y="385"/>
                  </a:lnTo>
                  <a:lnTo>
                    <a:pt x="1284" y="371"/>
                  </a:lnTo>
                  <a:lnTo>
                    <a:pt x="1237" y="357"/>
                  </a:lnTo>
                  <a:lnTo>
                    <a:pt x="1168" y="341"/>
                  </a:lnTo>
                  <a:lnTo>
                    <a:pt x="1103" y="327"/>
                  </a:lnTo>
                  <a:lnTo>
                    <a:pt x="1030" y="321"/>
                  </a:lnTo>
                  <a:lnTo>
                    <a:pt x="969" y="319"/>
                  </a:lnTo>
                  <a:lnTo>
                    <a:pt x="902" y="321"/>
                  </a:lnTo>
                  <a:lnTo>
                    <a:pt x="834" y="321"/>
                  </a:lnTo>
                  <a:lnTo>
                    <a:pt x="782" y="329"/>
                  </a:lnTo>
                  <a:lnTo>
                    <a:pt x="714" y="342"/>
                  </a:lnTo>
                  <a:lnTo>
                    <a:pt x="645" y="359"/>
                  </a:lnTo>
                  <a:lnTo>
                    <a:pt x="582" y="375"/>
                  </a:lnTo>
                  <a:lnTo>
                    <a:pt x="512" y="395"/>
                  </a:lnTo>
                  <a:lnTo>
                    <a:pt x="436" y="419"/>
                  </a:lnTo>
                  <a:lnTo>
                    <a:pt x="360" y="444"/>
                  </a:lnTo>
                  <a:lnTo>
                    <a:pt x="294" y="477"/>
                  </a:lnTo>
                  <a:lnTo>
                    <a:pt x="247" y="497"/>
                  </a:lnTo>
                  <a:lnTo>
                    <a:pt x="202" y="525"/>
                  </a:lnTo>
                  <a:lnTo>
                    <a:pt x="169" y="548"/>
                  </a:lnTo>
                  <a:lnTo>
                    <a:pt x="135" y="575"/>
                  </a:lnTo>
                  <a:lnTo>
                    <a:pt x="105" y="602"/>
                  </a:lnTo>
                  <a:lnTo>
                    <a:pt x="13" y="701"/>
                  </a:lnTo>
                </a:path>
              </a:pathLst>
            </a:custGeom>
            <a:solidFill>
              <a:srgbClr val="FF0000"/>
            </a:solidFill>
            <a:ln cap="rnd" cmpd="sng" w="12700">
              <a:solidFill>
                <a:srgbClr val="00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1632" y="1536"/>
              <a:ext cx="1982" cy="698"/>
            </a:xfrm>
            <a:custGeom>
              <a:rect b="b" l="l" r="r" t="t"/>
              <a:pathLst>
                <a:path extrusionOk="0" h="698" w="1982">
                  <a:moveTo>
                    <a:pt x="0" y="668"/>
                  </a:moveTo>
                  <a:lnTo>
                    <a:pt x="52" y="562"/>
                  </a:lnTo>
                  <a:lnTo>
                    <a:pt x="79" y="527"/>
                  </a:lnTo>
                  <a:lnTo>
                    <a:pt x="113" y="489"/>
                  </a:lnTo>
                  <a:lnTo>
                    <a:pt x="141" y="459"/>
                  </a:lnTo>
                  <a:lnTo>
                    <a:pt x="181" y="421"/>
                  </a:lnTo>
                  <a:lnTo>
                    <a:pt x="218" y="387"/>
                  </a:lnTo>
                  <a:lnTo>
                    <a:pt x="265" y="351"/>
                  </a:lnTo>
                  <a:lnTo>
                    <a:pt x="303" y="326"/>
                  </a:lnTo>
                  <a:lnTo>
                    <a:pt x="342" y="298"/>
                  </a:lnTo>
                  <a:lnTo>
                    <a:pt x="399" y="266"/>
                  </a:lnTo>
                  <a:lnTo>
                    <a:pt x="453" y="239"/>
                  </a:lnTo>
                  <a:lnTo>
                    <a:pt x="518" y="209"/>
                  </a:lnTo>
                  <a:lnTo>
                    <a:pt x="605" y="169"/>
                  </a:lnTo>
                  <a:lnTo>
                    <a:pt x="677" y="143"/>
                  </a:lnTo>
                  <a:lnTo>
                    <a:pt x="738" y="123"/>
                  </a:lnTo>
                  <a:lnTo>
                    <a:pt x="825" y="98"/>
                  </a:lnTo>
                  <a:lnTo>
                    <a:pt x="893" y="80"/>
                  </a:lnTo>
                  <a:lnTo>
                    <a:pt x="958" y="69"/>
                  </a:lnTo>
                  <a:lnTo>
                    <a:pt x="1029" y="57"/>
                  </a:lnTo>
                  <a:lnTo>
                    <a:pt x="1103" y="52"/>
                  </a:lnTo>
                  <a:lnTo>
                    <a:pt x="1166" y="47"/>
                  </a:lnTo>
                  <a:lnTo>
                    <a:pt x="1230" y="49"/>
                  </a:lnTo>
                  <a:lnTo>
                    <a:pt x="1293" y="56"/>
                  </a:lnTo>
                  <a:lnTo>
                    <a:pt x="1354" y="65"/>
                  </a:lnTo>
                  <a:lnTo>
                    <a:pt x="1417" y="81"/>
                  </a:lnTo>
                  <a:lnTo>
                    <a:pt x="1481" y="105"/>
                  </a:lnTo>
                  <a:lnTo>
                    <a:pt x="1532" y="129"/>
                  </a:lnTo>
                  <a:lnTo>
                    <a:pt x="1586" y="160"/>
                  </a:lnTo>
                  <a:lnTo>
                    <a:pt x="1625" y="185"/>
                  </a:lnTo>
                  <a:lnTo>
                    <a:pt x="1680" y="219"/>
                  </a:lnTo>
                  <a:lnTo>
                    <a:pt x="1760" y="0"/>
                  </a:lnTo>
                  <a:lnTo>
                    <a:pt x="1766" y="50"/>
                  </a:lnTo>
                  <a:lnTo>
                    <a:pt x="1775" y="97"/>
                  </a:lnTo>
                  <a:lnTo>
                    <a:pt x="1785" y="143"/>
                  </a:lnTo>
                  <a:lnTo>
                    <a:pt x="1798" y="191"/>
                  </a:lnTo>
                  <a:lnTo>
                    <a:pt x="1816" y="241"/>
                  </a:lnTo>
                  <a:lnTo>
                    <a:pt x="1830" y="281"/>
                  </a:lnTo>
                  <a:lnTo>
                    <a:pt x="1852" y="327"/>
                  </a:lnTo>
                  <a:lnTo>
                    <a:pt x="1872" y="369"/>
                  </a:lnTo>
                  <a:lnTo>
                    <a:pt x="1902" y="424"/>
                  </a:lnTo>
                  <a:lnTo>
                    <a:pt x="1933" y="472"/>
                  </a:lnTo>
                  <a:lnTo>
                    <a:pt x="1954" y="504"/>
                  </a:lnTo>
                  <a:lnTo>
                    <a:pt x="1981" y="545"/>
                  </a:lnTo>
                  <a:lnTo>
                    <a:pt x="1936" y="539"/>
                  </a:lnTo>
                  <a:lnTo>
                    <a:pt x="1887" y="538"/>
                  </a:lnTo>
                  <a:lnTo>
                    <a:pt x="1835" y="540"/>
                  </a:lnTo>
                  <a:lnTo>
                    <a:pt x="1789" y="545"/>
                  </a:lnTo>
                  <a:lnTo>
                    <a:pt x="1759" y="551"/>
                  </a:lnTo>
                  <a:lnTo>
                    <a:pt x="1730" y="559"/>
                  </a:lnTo>
                  <a:lnTo>
                    <a:pt x="1686" y="573"/>
                  </a:lnTo>
                  <a:lnTo>
                    <a:pt x="1647" y="590"/>
                  </a:lnTo>
                  <a:lnTo>
                    <a:pt x="1614" y="605"/>
                  </a:lnTo>
                  <a:lnTo>
                    <a:pt x="1576" y="630"/>
                  </a:lnTo>
                  <a:lnTo>
                    <a:pt x="1535" y="653"/>
                  </a:lnTo>
                  <a:lnTo>
                    <a:pt x="1477" y="697"/>
                  </a:lnTo>
                  <a:lnTo>
                    <a:pt x="1587" y="451"/>
                  </a:lnTo>
                  <a:lnTo>
                    <a:pt x="1524" y="421"/>
                  </a:lnTo>
                  <a:lnTo>
                    <a:pt x="1452" y="389"/>
                  </a:lnTo>
                  <a:lnTo>
                    <a:pt x="1391" y="365"/>
                  </a:lnTo>
                  <a:lnTo>
                    <a:pt x="1312" y="337"/>
                  </a:lnTo>
                  <a:lnTo>
                    <a:pt x="1262" y="323"/>
                  </a:lnTo>
                  <a:lnTo>
                    <a:pt x="1216" y="309"/>
                  </a:lnTo>
                  <a:lnTo>
                    <a:pt x="1150" y="297"/>
                  </a:lnTo>
                  <a:lnTo>
                    <a:pt x="1085" y="285"/>
                  </a:lnTo>
                  <a:lnTo>
                    <a:pt x="1013" y="279"/>
                  </a:lnTo>
                  <a:lnTo>
                    <a:pt x="952" y="279"/>
                  </a:lnTo>
                  <a:lnTo>
                    <a:pt x="886" y="282"/>
                  </a:lnTo>
                  <a:lnTo>
                    <a:pt x="819" y="286"/>
                  </a:lnTo>
                  <a:lnTo>
                    <a:pt x="768" y="293"/>
                  </a:lnTo>
                  <a:lnTo>
                    <a:pt x="700" y="309"/>
                  </a:lnTo>
                  <a:lnTo>
                    <a:pt x="632" y="325"/>
                  </a:lnTo>
                  <a:lnTo>
                    <a:pt x="567" y="341"/>
                  </a:lnTo>
                  <a:lnTo>
                    <a:pt x="500" y="361"/>
                  </a:lnTo>
                  <a:lnTo>
                    <a:pt x="423" y="386"/>
                  </a:lnTo>
                  <a:lnTo>
                    <a:pt x="348" y="411"/>
                  </a:lnTo>
                  <a:lnTo>
                    <a:pt x="282" y="446"/>
                  </a:lnTo>
                  <a:lnTo>
                    <a:pt x="234" y="465"/>
                  </a:lnTo>
                  <a:lnTo>
                    <a:pt x="189" y="491"/>
                  </a:lnTo>
                  <a:lnTo>
                    <a:pt x="153" y="517"/>
                  </a:lnTo>
                  <a:lnTo>
                    <a:pt x="120" y="541"/>
                  </a:lnTo>
                  <a:lnTo>
                    <a:pt x="93" y="569"/>
                  </a:lnTo>
                  <a:lnTo>
                    <a:pt x="0" y="668"/>
                  </a:lnTo>
                </a:path>
              </a:pathLst>
            </a:custGeom>
            <a:solidFill>
              <a:srgbClr val="FF0000"/>
            </a:solidFill>
            <a:ln cap="rnd" cmpd="sng" w="12700">
              <a:solidFill>
                <a:srgbClr val="00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3" name="Google Shape;953;p33"/>
          <p:cNvSpPr/>
          <p:nvPr/>
        </p:nvSpPr>
        <p:spPr>
          <a:xfrm>
            <a:off x="2932113" y="4167188"/>
            <a:ext cx="1335087" cy="5159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.05</a:t>
            </a:r>
            <a:endParaRPr/>
          </a:p>
        </p:txBody>
      </p:sp>
      <p:cxnSp>
        <p:nvCxnSpPr>
          <p:cNvPr id="954" name="Google Shape;954;p33"/>
          <p:cNvCxnSpPr/>
          <p:nvPr/>
        </p:nvCxnSpPr>
        <p:spPr>
          <a:xfrm flipH="1">
            <a:off x="2895600" y="4648200"/>
            <a:ext cx="533400" cy="30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55" name="Google Shape;955;p33"/>
          <p:cNvSpPr/>
          <p:nvPr/>
        </p:nvSpPr>
        <p:spPr>
          <a:xfrm>
            <a:off x="493713" y="5638800"/>
            <a:ext cx="2066925" cy="81915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Nilai kritikal = 1.645</a:t>
            </a:r>
            <a:endParaRPr/>
          </a:p>
        </p:txBody>
      </p:sp>
      <p:sp>
        <p:nvSpPr>
          <p:cNvPr id="956" name="Google Shape;956;p33"/>
          <p:cNvSpPr txBox="1"/>
          <p:nvPr/>
        </p:nvSpPr>
        <p:spPr>
          <a:xfrm>
            <a:off x="1641475" y="3870325"/>
            <a:ext cx="6286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.95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7" name="Google Shape;957;p33"/>
          <p:cNvCxnSpPr/>
          <p:nvPr/>
        </p:nvCxnSpPr>
        <p:spPr>
          <a:xfrm>
            <a:off x="381000" y="5214938"/>
            <a:ext cx="335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958" name="Google Shape;9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0"/>
            <a:ext cx="1371600" cy="70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965" name="Google Shape;965;p3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6" name="Google Shape;966;p34"/>
          <p:cNvSpPr/>
          <p:nvPr/>
        </p:nvSpPr>
        <p:spPr>
          <a:xfrm>
            <a:off x="2971800" y="3505200"/>
            <a:ext cx="838200" cy="5334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4"/>
          <p:cNvSpPr txBox="1"/>
          <p:nvPr>
            <p:ph idx="1" type="body"/>
          </p:nvPr>
        </p:nvSpPr>
        <p:spPr>
          <a:xfrm>
            <a:off x="533400" y="2520950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= 25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Nilai Kritikal : 1.645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6248400" y="2597150"/>
            <a:ext cx="838200" cy="5334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2438400" y="5537200"/>
            <a:ext cx="838200" cy="5334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4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Uji Z untuk μ (</a:t>
            </a:r>
            <a:r>
              <a:rPr i="1" lang="en-US"/>
              <a:t>one-tail)</a:t>
            </a:r>
            <a:endParaRPr/>
          </a:p>
        </p:txBody>
      </p:sp>
      <p:sp>
        <p:nvSpPr>
          <p:cNvPr id="971" name="Google Shape;971;p34"/>
          <p:cNvSpPr/>
          <p:nvPr/>
        </p:nvSpPr>
        <p:spPr>
          <a:xfrm>
            <a:off x="4267200" y="198755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 Statistic: </a:t>
            </a:r>
            <a:endParaRPr/>
          </a:p>
          <a:p>
            <a:pPr indent="0" lvl="0" marL="0" marR="0" rtl="0" algn="l">
              <a:lnSpc>
                <a:spcPct val="0"/>
              </a:lnSpc>
              <a:spcBef>
                <a:spcPts val="1548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Keputusan :</a:t>
            </a:r>
            <a:endParaRPr/>
          </a:p>
          <a:p>
            <a:pPr indent="0" lvl="0" marL="0" marR="0" rtl="0" algn="l">
              <a:lnSpc>
                <a:spcPct val="1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Kesimpulan :</a:t>
            </a:r>
            <a:endParaRPr/>
          </a:p>
          <a:p>
            <a:pPr indent="0" lvl="0" marL="0" marR="0" rtl="0" algn="l">
              <a:lnSpc>
                <a:spcPct val="3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4267200" y="4443413"/>
            <a:ext cx="48101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 menolak pada </a:t>
            </a:r>
            <a:r>
              <a:rPr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.05</a:t>
            </a:r>
            <a:endParaRPr/>
          </a:p>
        </p:txBody>
      </p:sp>
      <p:sp>
        <p:nvSpPr>
          <p:cNvPr id="973" name="Google Shape;973;p34"/>
          <p:cNvSpPr/>
          <p:nvPr/>
        </p:nvSpPr>
        <p:spPr>
          <a:xfrm>
            <a:off x="4343400" y="5464175"/>
            <a:ext cx="4724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 ada bukti yang cukup kuat bahwa mean &gt; 368</a:t>
            </a:r>
            <a:endParaRPr/>
          </a:p>
        </p:txBody>
      </p:sp>
      <p:cxnSp>
        <p:nvCxnSpPr>
          <p:cNvPr id="974" name="Google Shape;974;p34"/>
          <p:cNvCxnSpPr/>
          <p:nvPr/>
        </p:nvCxnSpPr>
        <p:spPr>
          <a:xfrm>
            <a:off x="2174875" y="4316413"/>
            <a:ext cx="0" cy="11287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5" name="Google Shape;975;p34"/>
          <p:cNvSpPr/>
          <p:nvPr/>
        </p:nvSpPr>
        <p:spPr>
          <a:xfrm>
            <a:off x="2701925" y="4848225"/>
            <a:ext cx="642938" cy="650875"/>
          </a:xfrm>
          <a:custGeom>
            <a:rect b="b" l="l" r="r" t="t"/>
            <a:pathLst>
              <a:path extrusionOk="0" h="410" w="405">
                <a:moveTo>
                  <a:pt x="0" y="0"/>
                </a:moveTo>
                <a:lnTo>
                  <a:pt x="0" y="409"/>
                </a:lnTo>
                <a:lnTo>
                  <a:pt x="404" y="409"/>
                </a:lnTo>
                <a:lnTo>
                  <a:pt x="356" y="388"/>
                </a:lnTo>
                <a:lnTo>
                  <a:pt x="307" y="364"/>
                </a:lnTo>
                <a:lnTo>
                  <a:pt x="263" y="333"/>
                </a:lnTo>
                <a:lnTo>
                  <a:pt x="221" y="302"/>
                </a:lnTo>
                <a:lnTo>
                  <a:pt x="179" y="267"/>
                </a:lnTo>
                <a:lnTo>
                  <a:pt x="141" y="228"/>
                </a:lnTo>
                <a:lnTo>
                  <a:pt x="106" y="187"/>
                </a:lnTo>
                <a:lnTo>
                  <a:pt x="75" y="144"/>
                </a:lnTo>
                <a:lnTo>
                  <a:pt x="47" y="98"/>
                </a:lnTo>
                <a:lnTo>
                  <a:pt x="22" y="49"/>
                </a:lnTo>
                <a:lnTo>
                  <a:pt x="0" y="0"/>
                </a:lnTo>
              </a:path>
            </a:pathLst>
          </a:custGeom>
          <a:solidFill>
            <a:srgbClr val="FFFF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4"/>
          <p:cNvSpPr/>
          <p:nvPr/>
        </p:nvSpPr>
        <p:spPr>
          <a:xfrm>
            <a:off x="2174875" y="4189413"/>
            <a:ext cx="1389063" cy="1338262"/>
          </a:xfrm>
          <a:custGeom>
            <a:rect b="b" l="l" r="r" t="t"/>
            <a:pathLst>
              <a:path extrusionOk="0" h="843" w="875">
                <a:moveTo>
                  <a:pt x="874" y="842"/>
                </a:moveTo>
                <a:lnTo>
                  <a:pt x="782" y="831"/>
                </a:lnTo>
                <a:lnTo>
                  <a:pt x="735" y="822"/>
                </a:lnTo>
                <a:lnTo>
                  <a:pt x="690" y="808"/>
                </a:lnTo>
                <a:lnTo>
                  <a:pt x="643" y="789"/>
                </a:lnTo>
                <a:lnTo>
                  <a:pt x="598" y="763"/>
                </a:lnTo>
                <a:lnTo>
                  <a:pt x="551" y="729"/>
                </a:lnTo>
                <a:lnTo>
                  <a:pt x="459" y="631"/>
                </a:lnTo>
                <a:lnTo>
                  <a:pt x="368" y="493"/>
                </a:lnTo>
                <a:lnTo>
                  <a:pt x="276" y="329"/>
                </a:lnTo>
                <a:lnTo>
                  <a:pt x="230" y="245"/>
                </a:lnTo>
                <a:lnTo>
                  <a:pt x="183" y="165"/>
                </a:lnTo>
                <a:lnTo>
                  <a:pt x="137" y="98"/>
                </a:lnTo>
                <a:lnTo>
                  <a:pt x="92" y="45"/>
                </a:lnTo>
                <a:lnTo>
                  <a:pt x="45" y="11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4"/>
          <p:cNvSpPr/>
          <p:nvPr/>
        </p:nvSpPr>
        <p:spPr>
          <a:xfrm>
            <a:off x="787400" y="4189413"/>
            <a:ext cx="1389063" cy="1338262"/>
          </a:xfrm>
          <a:custGeom>
            <a:rect b="b" l="l" r="r" t="t"/>
            <a:pathLst>
              <a:path extrusionOk="0" h="843" w="875">
                <a:moveTo>
                  <a:pt x="0" y="842"/>
                </a:moveTo>
                <a:lnTo>
                  <a:pt x="92" y="831"/>
                </a:lnTo>
                <a:lnTo>
                  <a:pt x="137" y="822"/>
                </a:lnTo>
                <a:lnTo>
                  <a:pt x="183" y="808"/>
                </a:lnTo>
                <a:lnTo>
                  <a:pt x="229" y="789"/>
                </a:lnTo>
                <a:lnTo>
                  <a:pt x="276" y="763"/>
                </a:lnTo>
                <a:lnTo>
                  <a:pt x="321" y="729"/>
                </a:lnTo>
                <a:lnTo>
                  <a:pt x="414" y="631"/>
                </a:lnTo>
                <a:lnTo>
                  <a:pt x="506" y="493"/>
                </a:lnTo>
                <a:lnTo>
                  <a:pt x="598" y="329"/>
                </a:lnTo>
                <a:lnTo>
                  <a:pt x="643" y="245"/>
                </a:lnTo>
                <a:lnTo>
                  <a:pt x="690" y="165"/>
                </a:lnTo>
                <a:lnTo>
                  <a:pt x="735" y="98"/>
                </a:lnTo>
                <a:lnTo>
                  <a:pt x="782" y="45"/>
                </a:lnTo>
                <a:lnTo>
                  <a:pt x="827" y="11"/>
                </a:lnTo>
                <a:lnTo>
                  <a:pt x="874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4"/>
          <p:cNvSpPr/>
          <p:nvPr/>
        </p:nvSpPr>
        <p:spPr>
          <a:xfrm>
            <a:off x="787400" y="4424363"/>
            <a:ext cx="2828925" cy="1096962"/>
          </a:xfrm>
          <a:custGeom>
            <a:rect b="b" l="l" r="r" t="t"/>
            <a:pathLst>
              <a:path extrusionOk="0" h="691" w="1782">
                <a:moveTo>
                  <a:pt x="0" y="0"/>
                </a:moveTo>
                <a:lnTo>
                  <a:pt x="0" y="690"/>
                </a:lnTo>
                <a:lnTo>
                  <a:pt x="1781" y="690"/>
                </a:lnTo>
              </a:path>
            </a:pathLst>
          </a:custGeom>
          <a:noFill/>
          <a:ln cap="rnd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4"/>
          <p:cNvSpPr/>
          <p:nvPr/>
        </p:nvSpPr>
        <p:spPr>
          <a:xfrm>
            <a:off x="3270250" y="5540375"/>
            <a:ext cx="4064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980" name="Google Shape;980;p34"/>
          <p:cNvSpPr/>
          <p:nvPr/>
        </p:nvSpPr>
        <p:spPr>
          <a:xfrm>
            <a:off x="1974850" y="5464175"/>
            <a:ext cx="385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81" name="Google Shape;981;p34"/>
          <p:cNvSpPr/>
          <p:nvPr/>
        </p:nvSpPr>
        <p:spPr>
          <a:xfrm>
            <a:off x="2438400" y="5540375"/>
            <a:ext cx="8667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1.645</a:t>
            </a:r>
            <a:endParaRPr/>
          </a:p>
        </p:txBody>
      </p:sp>
      <p:sp>
        <p:nvSpPr>
          <p:cNvPr id="982" name="Google Shape;982;p34"/>
          <p:cNvSpPr/>
          <p:nvPr/>
        </p:nvSpPr>
        <p:spPr>
          <a:xfrm>
            <a:off x="2890838" y="4541838"/>
            <a:ext cx="5619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.05</a:t>
            </a:r>
            <a:endParaRPr/>
          </a:p>
        </p:txBody>
      </p:sp>
      <p:sp>
        <p:nvSpPr>
          <p:cNvPr id="983" name="Google Shape;983;p34"/>
          <p:cNvSpPr/>
          <p:nvPr/>
        </p:nvSpPr>
        <p:spPr>
          <a:xfrm>
            <a:off x="2860675" y="4979988"/>
            <a:ext cx="455613" cy="301625"/>
          </a:xfrm>
          <a:custGeom>
            <a:rect b="b" l="l" r="r" t="t"/>
            <a:pathLst>
              <a:path extrusionOk="0" h="190" w="287">
                <a:moveTo>
                  <a:pt x="286" y="0"/>
                </a:moveTo>
                <a:lnTo>
                  <a:pt x="282" y="23"/>
                </a:lnTo>
                <a:lnTo>
                  <a:pt x="275" y="45"/>
                </a:lnTo>
                <a:lnTo>
                  <a:pt x="264" y="66"/>
                </a:lnTo>
                <a:lnTo>
                  <a:pt x="247" y="84"/>
                </a:lnTo>
                <a:lnTo>
                  <a:pt x="229" y="99"/>
                </a:lnTo>
                <a:lnTo>
                  <a:pt x="208" y="109"/>
                </a:lnTo>
                <a:lnTo>
                  <a:pt x="186" y="116"/>
                </a:lnTo>
                <a:lnTo>
                  <a:pt x="161" y="119"/>
                </a:lnTo>
                <a:lnTo>
                  <a:pt x="138" y="116"/>
                </a:lnTo>
                <a:lnTo>
                  <a:pt x="115" y="113"/>
                </a:lnTo>
                <a:lnTo>
                  <a:pt x="91" y="115"/>
                </a:lnTo>
                <a:lnTo>
                  <a:pt x="68" y="122"/>
                </a:lnTo>
                <a:lnTo>
                  <a:pt x="47" y="133"/>
                </a:lnTo>
                <a:lnTo>
                  <a:pt x="28" y="148"/>
                </a:lnTo>
                <a:lnTo>
                  <a:pt x="13" y="165"/>
                </a:lnTo>
                <a:lnTo>
                  <a:pt x="1" y="186"/>
                </a:lnTo>
                <a:lnTo>
                  <a:pt x="0" y="189"/>
                </a:lnTo>
              </a:path>
            </a:pathLst>
          </a:custGeom>
          <a:noFill/>
          <a:ln cap="rnd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4"/>
          <p:cNvSpPr/>
          <p:nvPr/>
        </p:nvSpPr>
        <p:spPr>
          <a:xfrm>
            <a:off x="2825750" y="5270500"/>
            <a:ext cx="61913" cy="71438"/>
          </a:xfrm>
          <a:custGeom>
            <a:rect b="b" l="l" r="r" t="t"/>
            <a:pathLst>
              <a:path extrusionOk="0" h="45" w="39">
                <a:moveTo>
                  <a:pt x="38" y="9"/>
                </a:moveTo>
                <a:lnTo>
                  <a:pt x="11" y="44"/>
                </a:lnTo>
                <a:lnTo>
                  <a:pt x="0" y="0"/>
                </a:lnTo>
                <a:lnTo>
                  <a:pt x="38" y="9"/>
                </a:lnTo>
              </a:path>
            </a:pathLst>
          </a:custGeom>
          <a:solidFill>
            <a:srgbClr val="1699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4"/>
          <p:cNvSpPr/>
          <p:nvPr/>
        </p:nvSpPr>
        <p:spPr>
          <a:xfrm>
            <a:off x="2671763" y="4044950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cxnSp>
        <p:nvCxnSpPr>
          <p:cNvPr id="986" name="Google Shape;986;p34"/>
          <p:cNvCxnSpPr/>
          <p:nvPr/>
        </p:nvCxnSpPr>
        <p:spPr>
          <a:xfrm rot="10800000">
            <a:off x="2713038" y="4492625"/>
            <a:ext cx="639762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7" name="Google Shape;987;p34"/>
          <p:cNvSpPr/>
          <p:nvPr/>
        </p:nvSpPr>
        <p:spPr>
          <a:xfrm>
            <a:off x="3341688" y="4460875"/>
            <a:ext cx="87312" cy="85725"/>
          </a:xfrm>
          <a:custGeom>
            <a:rect b="b" l="l" r="r" t="t"/>
            <a:pathLst>
              <a:path extrusionOk="0" h="54" w="55">
                <a:moveTo>
                  <a:pt x="0" y="53"/>
                </a:moveTo>
                <a:lnTo>
                  <a:pt x="54" y="26"/>
                </a:lnTo>
                <a:lnTo>
                  <a:pt x="0" y="0"/>
                </a:lnTo>
                <a:lnTo>
                  <a:pt x="0" y="53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8" name="Google Shape;988;p34"/>
          <p:cNvCxnSpPr/>
          <p:nvPr/>
        </p:nvCxnSpPr>
        <p:spPr>
          <a:xfrm rot="10800000">
            <a:off x="2701925" y="4421188"/>
            <a:ext cx="0" cy="1223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9" name="Google Shape;989;p34"/>
          <p:cNvSpPr/>
          <p:nvPr/>
        </p:nvSpPr>
        <p:spPr>
          <a:xfrm>
            <a:off x="527050" y="1524000"/>
            <a:ext cx="22987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≤ 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368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 368</a:t>
            </a:r>
            <a:endParaRPr/>
          </a:p>
        </p:txBody>
      </p:sp>
      <p:pic>
        <p:nvPicPr>
          <p:cNvPr id="990" name="Google Shape;9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292350"/>
            <a:ext cx="25908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34"/>
          <p:cNvSpPr txBox="1"/>
          <p:nvPr/>
        </p:nvSpPr>
        <p:spPr>
          <a:xfrm>
            <a:off x="3108325" y="263842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34"/>
          <p:cNvSpPr txBox="1"/>
          <p:nvPr/>
        </p:nvSpPr>
        <p:spPr>
          <a:xfrm>
            <a:off x="2057400" y="6102350"/>
            <a:ext cx="838200" cy="4572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1.50</a:t>
            </a:r>
            <a:endParaRPr/>
          </a:p>
        </p:txBody>
      </p:sp>
      <p:cxnSp>
        <p:nvCxnSpPr>
          <p:cNvPr id="993" name="Google Shape;993;p34"/>
          <p:cNvCxnSpPr/>
          <p:nvPr/>
        </p:nvCxnSpPr>
        <p:spPr>
          <a:xfrm rot="10800000">
            <a:off x="2514600" y="5568950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994" name="Google Shape;9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000" name="Google Shape;1000;p3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01" name="Google Shape;1001;p35"/>
          <p:cNvSpPr txBox="1"/>
          <p:nvPr>
            <p:ph type="title"/>
          </p:nvPr>
        </p:nvSpPr>
        <p:spPr>
          <a:xfrm>
            <a:off x="228600" y="45720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</a:t>
            </a:r>
            <a:r>
              <a:rPr i="1" lang="en-US"/>
              <a:t>p </a:t>
            </a:r>
            <a:r>
              <a:rPr lang="en-US"/>
              <a:t>-Value untuk μ (</a:t>
            </a:r>
            <a:r>
              <a:rPr i="1" lang="en-US"/>
              <a:t>one-tail)</a:t>
            </a:r>
            <a:endParaRPr/>
          </a:p>
        </p:txBody>
      </p:sp>
      <p:sp>
        <p:nvSpPr>
          <p:cNvPr id="1002" name="Google Shape;1002;p35"/>
          <p:cNvSpPr/>
          <p:nvPr/>
        </p:nvSpPr>
        <p:spPr>
          <a:xfrm flipH="1">
            <a:off x="4489450" y="2743200"/>
            <a:ext cx="838200" cy="2209800"/>
          </a:xfrm>
          <a:custGeom>
            <a:rect b="b" l="l" r="r" t="t"/>
            <a:pathLst>
              <a:path extrusionOk="0" h="1392" w="576">
                <a:moveTo>
                  <a:pt x="0" y="720"/>
                </a:moveTo>
                <a:lnTo>
                  <a:pt x="0" y="1392"/>
                </a:lnTo>
                <a:lnTo>
                  <a:pt x="576" y="1392"/>
                </a:lnTo>
                <a:lnTo>
                  <a:pt x="576" y="0"/>
                </a:lnTo>
                <a:lnTo>
                  <a:pt x="432" y="48"/>
                </a:lnTo>
                <a:lnTo>
                  <a:pt x="288" y="192"/>
                </a:lnTo>
                <a:lnTo>
                  <a:pt x="192" y="384"/>
                </a:lnTo>
                <a:lnTo>
                  <a:pt x="48" y="624"/>
                </a:lnTo>
                <a:lnTo>
                  <a:pt x="0" y="720"/>
                </a:lnTo>
                <a:close/>
              </a:path>
            </a:pathLst>
          </a:cu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5"/>
          <p:cNvSpPr/>
          <p:nvPr/>
        </p:nvSpPr>
        <p:spPr>
          <a:xfrm>
            <a:off x="3575050" y="2743200"/>
            <a:ext cx="914400" cy="2209800"/>
          </a:xfrm>
          <a:custGeom>
            <a:rect b="b" l="l" r="r" t="t"/>
            <a:pathLst>
              <a:path extrusionOk="0" h="1392" w="576">
                <a:moveTo>
                  <a:pt x="0" y="720"/>
                </a:moveTo>
                <a:lnTo>
                  <a:pt x="0" y="1392"/>
                </a:lnTo>
                <a:lnTo>
                  <a:pt x="576" y="1392"/>
                </a:lnTo>
                <a:lnTo>
                  <a:pt x="576" y="0"/>
                </a:lnTo>
                <a:lnTo>
                  <a:pt x="432" y="48"/>
                </a:lnTo>
                <a:lnTo>
                  <a:pt x="288" y="192"/>
                </a:lnTo>
                <a:lnTo>
                  <a:pt x="192" y="384"/>
                </a:lnTo>
                <a:lnTo>
                  <a:pt x="48" y="624"/>
                </a:lnTo>
                <a:lnTo>
                  <a:pt x="0" y="720"/>
                </a:lnTo>
                <a:close/>
              </a:path>
            </a:pathLst>
          </a:cu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5"/>
          <p:cNvSpPr/>
          <p:nvPr/>
        </p:nvSpPr>
        <p:spPr>
          <a:xfrm flipH="1">
            <a:off x="2509838" y="3876675"/>
            <a:ext cx="1065212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DDB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5" name="Google Shape;1005;p35"/>
          <p:cNvCxnSpPr/>
          <p:nvPr/>
        </p:nvCxnSpPr>
        <p:spPr>
          <a:xfrm>
            <a:off x="4467225" y="2990850"/>
            <a:ext cx="0" cy="1814513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06" name="Google Shape;1006;p35"/>
          <p:cNvSpPr/>
          <p:nvPr/>
        </p:nvSpPr>
        <p:spPr>
          <a:xfrm>
            <a:off x="5338763" y="3852863"/>
            <a:ext cx="1065212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FF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5"/>
          <p:cNvSpPr/>
          <p:nvPr/>
        </p:nvSpPr>
        <p:spPr>
          <a:xfrm>
            <a:off x="4467225" y="2768600"/>
            <a:ext cx="2287588" cy="2200275"/>
          </a:xfrm>
          <a:custGeom>
            <a:rect b="b" l="l" r="r" t="t"/>
            <a:pathLst>
              <a:path extrusionOk="0" h="1386" w="1441">
                <a:moveTo>
                  <a:pt x="1440" y="1385"/>
                </a:moveTo>
                <a:lnTo>
                  <a:pt x="1289" y="1368"/>
                </a:lnTo>
                <a:lnTo>
                  <a:pt x="1214" y="1352"/>
                </a:lnTo>
                <a:lnTo>
                  <a:pt x="1137" y="1329"/>
                </a:lnTo>
                <a:lnTo>
                  <a:pt x="1062" y="1299"/>
                </a:lnTo>
                <a:lnTo>
                  <a:pt x="985" y="1255"/>
                </a:lnTo>
                <a:lnTo>
                  <a:pt x="910" y="1199"/>
                </a:lnTo>
                <a:lnTo>
                  <a:pt x="759" y="1038"/>
                </a:lnTo>
                <a:lnTo>
                  <a:pt x="607" y="811"/>
                </a:lnTo>
                <a:lnTo>
                  <a:pt x="455" y="541"/>
                </a:lnTo>
                <a:lnTo>
                  <a:pt x="380" y="403"/>
                </a:lnTo>
                <a:lnTo>
                  <a:pt x="304" y="272"/>
                </a:lnTo>
                <a:lnTo>
                  <a:pt x="229" y="161"/>
                </a:lnTo>
                <a:lnTo>
                  <a:pt x="152" y="73"/>
                </a:lnTo>
                <a:lnTo>
                  <a:pt x="77" y="19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5"/>
          <p:cNvSpPr/>
          <p:nvPr/>
        </p:nvSpPr>
        <p:spPr>
          <a:xfrm>
            <a:off x="2181225" y="2768600"/>
            <a:ext cx="2287588" cy="2200275"/>
          </a:xfrm>
          <a:custGeom>
            <a:rect b="b" l="l" r="r" t="t"/>
            <a:pathLst>
              <a:path extrusionOk="0" h="1386" w="1441">
                <a:moveTo>
                  <a:pt x="0" y="1385"/>
                </a:moveTo>
                <a:lnTo>
                  <a:pt x="152" y="1368"/>
                </a:lnTo>
                <a:lnTo>
                  <a:pt x="229" y="1352"/>
                </a:lnTo>
                <a:lnTo>
                  <a:pt x="303" y="1329"/>
                </a:lnTo>
                <a:lnTo>
                  <a:pt x="378" y="1299"/>
                </a:lnTo>
                <a:lnTo>
                  <a:pt x="455" y="1255"/>
                </a:lnTo>
                <a:lnTo>
                  <a:pt x="530" y="1199"/>
                </a:lnTo>
                <a:lnTo>
                  <a:pt x="684" y="1038"/>
                </a:lnTo>
                <a:lnTo>
                  <a:pt x="833" y="811"/>
                </a:lnTo>
                <a:lnTo>
                  <a:pt x="985" y="541"/>
                </a:lnTo>
                <a:lnTo>
                  <a:pt x="1062" y="403"/>
                </a:lnTo>
                <a:lnTo>
                  <a:pt x="1137" y="272"/>
                </a:lnTo>
                <a:lnTo>
                  <a:pt x="1214" y="161"/>
                </a:lnTo>
                <a:lnTo>
                  <a:pt x="1288" y="73"/>
                </a:lnTo>
                <a:lnTo>
                  <a:pt x="1365" y="19"/>
                </a:lnTo>
                <a:lnTo>
                  <a:pt x="144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5"/>
          <p:cNvSpPr/>
          <p:nvPr/>
        </p:nvSpPr>
        <p:spPr>
          <a:xfrm>
            <a:off x="2181225" y="2765425"/>
            <a:ext cx="4659313" cy="2263775"/>
          </a:xfrm>
          <a:custGeom>
            <a:rect b="b" l="l" r="r" t="t"/>
            <a:pathLst>
              <a:path extrusionOk="0" h="1426" w="2935">
                <a:moveTo>
                  <a:pt x="0" y="0"/>
                </a:moveTo>
                <a:lnTo>
                  <a:pt x="0" y="1425"/>
                </a:lnTo>
                <a:lnTo>
                  <a:pt x="2934" y="1425"/>
                </a:lnTo>
              </a:path>
            </a:pathLst>
          </a:custGeom>
          <a:noFill/>
          <a:ln cap="rnd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5"/>
          <p:cNvSpPr/>
          <p:nvPr/>
        </p:nvSpPr>
        <p:spPr>
          <a:xfrm>
            <a:off x="1747838" y="3736975"/>
            <a:ext cx="92075" cy="1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5"/>
          <p:cNvSpPr/>
          <p:nvPr/>
        </p:nvSpPr>
        <p:spPr>
          <a:xfrm>
            <a:off x="6540500" y="4992688"/>
            <a:ext cx="38258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i="1"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012" name="Google Shape;1012;p35"/>
          <p:cNvSpPr/>
          <p:nvPr/>
        </p:nvSpPr>
        <p:spPr>
          <a:xfrm>
            <a:off x="4330700" y="5068888"/>
            <a:ext cx="365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3" name="Google Shape;1013;p35"/>
          <p:cNvSpPr/>
          <p:nvPr/>
        </p:nvSpPr>
        <p:spPr>
          <a:xfrm>
            <a:off x="4867275" y="5092700"/>
            <a:ext cx="825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1.50</a:t>
            </a:r>
            <a:endParaRPr/>
          </a:p>
        </p:txBody>
      </p:sp>
      <p:sp>
        <p:nvSpPr>
          <p:cNvPr id="1014" name="Google Shape;1014;p35"/>
          <p:cNvSpPr/>
          <p:nvPr/>
        </p:nvSpPr>
        <p:spPr>
          <a:xfrm>
            <a:off x="5562600" y="3127375"/>
            <a:ext cx="2128838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=.0668</a:t>
            </a:r>
            <a:endParaRPr/>
          </a:p>
        </p:txBody>
      </p:sp>
      <p:sp>
        <p:nvSpPr>
          <p:cNvPr id="1015" name="Google Shape;1015;p35"/>
          <p:cNvSpPr/>
          <p:nvPr/>
        </p:nvSpPr>
        <p:spPr>
          <a:xfrm>
            <a:off x="6964363" y="3179763"/>
            <a:ext cx="184150" cy="9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5"/>
          <p:cNvSpPr/>
          <p:nvPr/>
        </p:nvSpPr>
        <p:spPr>
          <a:xfrm>
            <a:off x="6753225" y="3636963"/>
            <a:ext cx="184150" cy="9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5"/>
          <p:cNvSpPr/>
          <p:nvPr/>
        </p:nvSpPr>
        <p:spPr>
          <a:xfrm>
            <a:off x="5602288" y="3836988"/>
            <a:ext cx="860425" cy="723900"/>
          </a:xfrm>
          <a:custGeom>
            <a:rect b="b" l="l" r="r" t="t"/>
            <a:pathLst>
              <a:path extrusionOk="0" h="456" w="542">
                <a:moveTo>
                  <a:pt x="541" y="0"/>
                </a:moveTo>
                <a:lnTo>
                  <a:pt x="531" y="46"/>
                </a:lnTo>
                <a:lnTo>
                  <a:pt x="516" y="91"/>
                </a:lnTo>
                <a:lnTo>
                  <a:pt x="495" y="133"/>
                </a:lnTo>
                <a:lnTo>
                  <a:pt x="466" y="169"/>
                </a:lnTo>
                <a:lnTo>
                  <a:pt x="434" y="200"/>
                </a:lnTo>
                <a:lnTo>
                  <a:pt x="395" y="227"/>
                </a:lnTo>
                <a:lnTo>
                  <a:pt x="353" y="246"/>
                </a:lnTo>
                <a:lnTo>
                  <a:pt x="307" y="259"/>
                </a:lnTo>
                <a:lnTo>
                  <a:pt x="261" y="265"/>
                </a:lnTo>
                <a:lnTo>
                  <a:pt x="215" y="271"/>
                </a:lnTo>
                <a:lnTo>
                  <a:pt x="170" y="284"/>
                </a:lnTo>
                <a:lnTo>
                  <a:pt x="128" y="303"/>
                </a:lnTo>
                <a:lnTo>
                  <a:pt x="90" y="328"/>
                </a:lnTo>
                <a:lnTo>
                  <a:pt x="55" y="361"/>
                </a:lnTo>
                <a:lnTo>
                  <a:pt x="28" y="397"/>
                </a:lnTo>
                <a:lnTo>
                  <a:pt x="5" y="440"/>
                </a:lnTo>
                <a:lnTo>
                  <a:pt x="0" y="455"/>
                </a:lnTo>
              </a:path>
            </a:pathLst>
          </a:custGeom>
          <a:noFill/>
          <a:ln cap="rnd" cmpd="sng" w="2540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5"/>
          <p:cNvSpPr/>
          <p:nvPr/>
        </p:nvSpPr>
        <p:spPr>
          <a:xfrm>
            <a:off x="5543550" y="4546600"/>
            <a:ext cx="107950" cy="120650"/>
          </a:xfrm>
          <a:custGeom>
            <a:rect b="b" l="l" r="r" t="t"/>
            <a:pathLst>
              <a:path extrusionOk="0" h="76" w="68">
                <a:moveTo>
                  <a:pt x="67" y="17"/>
                </a:moveTo>
                <a:lnTo>
                  <a:pt x="17" y="75"/>
                </a:lnTo>
                <a:lnTo>
                  <a:pt x="0" y="0"/>
                </a:lnTo>
                <a:lnTo>
                  <a:pt x="67" y="17"/>
                </a:lnTo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5"/>
          <p:cNvSpPr/>
          <p:nvPr/>
        </p:nvSpPr>
        <p:spPr>
          <a:xfrm>
            <a:off x="6010275" y="5632450"/>
            <a:ext cx="3133725" cy="81915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Nilai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dari statistik sampel</a:t>
            </a:r>
            <a:endParaRPr/>
          </a:p>
        </p:txBody>
      </p:sp>
      <p:cxnSp>
        <p:nvCxnSpPr>
          <p:cNvPr id="1020" name="Google Shape;1020;p35"/>
          <p:cNvCxnSpPr/>
          <p:nvPr/>
        </p:nvCxnSpPr>
        <p:spPr>
          <a:xfrm flipH="1">
            <a:off x="3651250" y="4495800"/>
            <a:ext cx="503238" cy="1066800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021" name="Google Shape;1021;p35"/>
          <p:cNvSpPr/>
          <p:nvPr/>
        </p:nvSpPr>
        <p:spPr>
          <a:xfrm>
            <a:off x="1524000" y="5562600"/>
            <a:ext cx="3959225" cy="81915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Dari Tabel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mencari pada 1.50 untuk mendapat .9332</a:t>
            </a:r>
            <a:endParaRPr/>
          </a:p>
        </p:txBody>
      </p:sp>
      <p:cxnSp>
        <p:nvCxnSpPr>
          <p:cNvPr id="1022" name="Google Shape;1022;p35"/>
          <p:cNvCxnSpPr/>
          <p:nvPr/>
        </p:nvCxnSpPr>
        <p:spPr>
          <a:xfrm>
            <a:off x="5638800" y="5486400"/>
            <a:ext cx="374650" cy="381000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023" name="Google Shape;1023;p35"/>
          <p:cNvSpPr/>
          <p:nvPr/>
        </p:nvSpPr>
        <p:spPr>
          <a:xfrm>
            <a:off x="152400" y="2438400"/>
            <a:ext cx="2828925" cy="15494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 alternatif hipotesa untuk mencari arah dari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rejection region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35"/>
          <p:cNvSpPr/>
          <p:nvPr/>
        </p:nvSpPr>
        <p:spPr>
          <a:xfrm>
            <a:off x="7454900" y="3630613"/>
            <a:ext cx="1460500" cy="1246187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1.0000</a:t>
            </a:r>
            <a:b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.9332</a:t>
            </a:r>
            <a:b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.0668</a:t>
            </a:r>
            <a:endParaRPr/>
          </a:p>
        </p:txBody>
      </p:sp>
      <p:sp>
        <p:nvSpPr>
          <p:cNvPr id="1025" name="Google Shape;1025;p35"/>
          <p:cNvSpPr/>
          <p:nvPr/>
        </p:nvSpPr>
        <p:spPr>
          <a:xfrm>
            <a:off x="914400" y="1824038"/>
            <a:ext cx="7467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Nilai 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adalah 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1.50) = 0.0668</a:t>
            </a:r>
            <a:endParaRPr/>
          </a:p>
        </p:txBody>
      </p:sp>
      <p:cxnSp>
        <p:nvCxnSpPr>
          <p:cNvPr id="1026" name="Google Shape;1026;p35"/>
          <p:cNvCxnSpPr/>
          <p:nvPr/>
        </p:nvCxnSpPr>
        <p:spPr>
          <a:xfrm>
            <a:off x="7599363" y="4468813"/>
            <a:ext cx="123983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35"/>
          <p:cNvCxnSpPr>
            <a:stCxn id="1020" idx="0"/>
            <a:endCxn id="1009" idx="1"/>
          </p:cNvCxnSpPr>
          <p:nvPr/>
        </p:nvCxnSpPr>
        <p:spPr>
          <a:xfrm flipH="1">
            <a:off x="2155675" y="4481513"/>
            <a:ext cx="2000400" cy="546000"/>
          </a:xfrm>
          <a:prstGeom prst="curvedConnector4">
            <a:avLst>
              <a:gd fmla="val 0" name="adj1"/>
              <a:gd fmla="val 0" name="adj2"/>
            </a:avLst>
          </a:prstGeom>
          <a:noFill/>
          <a:ln>
            <a:noFill/>
          </a:ln>
        </p:spPr>
      </p:cxnSp>
      <p:pic>
        <p:nvPicPr>
          <p:cNvPr id="1028" name="Google Shape;10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034" name="Google Shape;1034;p3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35" name="Google Shape;1035;p36"/>
          <p:cNvSpPr txBox="1"/>
          <p:nvPr>
            <p:ph type="title"/>
          </p:nvPr>
        </p:nvSpPr>
        <p:spPr>
          <a:xfrm>
            <a:off x="228600" y="457200"/>
            <a:ext cx="8458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</a:t>
            </a:r>
            <a:r>
              <a:rPr i="1" lang="en-US"/>
              <a:t>p </a:t>
            </a:r>
            <a:r>
              <a:rPr lang="en-US"/>
              <a:t>-Value untuk μ (</a:t>
            </a:r>
            <a:r>
              <a:rPr i="1" lang="en-US"/>
              <a:t>one-tail)</a:t>
            </a:r>
            <a:endParaRPr/>
          </a:p>
        </p:txBody>
      </p:sp>
      <p:sp>
        <p:nvSpPr>
          <p:cNvPr id="1036" name="Google Shape;1036;p36"/>
          <p:cNvSpPr txBox="1"/>
          <p:nvPr/>
        </p:nvSpPr>
        <p:spPr>
          <a:xfrm>
            <a:off x="7669213" y="1219200"/>
            <a:ext cx="14747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i="1" lang="en-US" sz="2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(continued)</a:t>
            </a:r>
            <a:endParaRPr/>
          </a:p>
        </p:txBody>
      </p:sp>
      <p:cxnSp>
        <p:nvCxnSpPr>
          <p:cNvPr id="1037" name="Google Shape;1037;p36"/>
          <p:cNvCxnSpPr/>
          <p:nvPr/>
        </p:nvCxnSpPr>
        <p:spPr>
          <a:xfrm>
            <a:off x="4473575" y="3071813"/>
            <a:ext cx="0" cy="18145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8" name="Google Shape;1038;p36"/>
          <p:cNvSpPr/>
          <p:nvPr/>
        </p:nvSpPr>
        <p:spPr>
          <a:xfrm>
            <a:off x="5334000" y="3967163"/>
            <a:ext cx="1065213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9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6"/>
          <p:cNvSpPr/>
          <p:nvPr/>
        </p:nvSpPr>
        <p:spPr>
          <a:xfrm>
            <a:off x="4260850" y="5173663"/>
            <a:ext cx="392113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40" name="Google Shape;1040;p36"/>
          <p:cNvSpPr/>
          <p:nvPr/>
        </p:nvSpPr>
        <p:spPr>
          <a:xfrm>
            <a:off x="4648200" y="5595938"/>
            <a:ext cx="725488" cy="4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1.50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6"/>
          <p:cNvSpPr/>
          <p:nvPr/>
        </p:nvSpPr>
        <p:spPr>
          <a:xfrm>
            <a:off x="5875338" y="4805363"/>
            <a:ext cx="601662" cy="341312"/>
          </a:xfrm>
          <a:custGeom>
            <a:rect b="b" l="l" r="r" t="t"/>
            <a:pathLst>
              <a:path extrusionOk="0" h="215" w="379">
                <a:moveTo>
                  <a:pt x="0" y="0"/>
                </a:moveTo>
                <a:lnTo>
                  <a:pt x="0" y="214"/>
                </a:lnTo>
                <a:lnTo>
                  <a:pt x="378" y="214"/>
                </a:lnTo>
                <a:lnTo>
                  <a:pt x="144" y="107"/>
                </a:lnTo>
                <a:lnTo>
                  <a:pt x="0" y="0"/>
                </a:lnTo>
              </a:path>
            </a:pathLst>
          </a:custGeom>
          <a:solidFill>
            <a:srgbClr val="FFFF99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6"/>
          <p:cNvSpPr/>
          <p:nvPr/>
        </p:nvSpPr>
        <p:spPr>
          <a:xfrm>
            <a:off x="4473575" y="2849563"/>
            <a:ext cx="2287588" cy="2200275"/>
          </a:xfrm>
          <a:custGeom>
            <a:rect b="b" l="l" r="r" t="t"/>
            <a:pathLst>
              <a:path extrusionOk="0" h="1386" w="1441">
                <a:moveTo>
                  <a:pt x="1440" y="1385"/>
                </a:moveTo>
                <a:lnTo>
                  <a:pt x="1289" y="1368"/>
                </a:lnTo>
                <a:lnTo>
                  <a:pt x="1214" y="1352"/>
                </a:lnTo>
                <a:lnTo>
                  <a:pt x="1137" y="1329"/>
                </a:lnTo>
                <a:lnTo>
                  <a:pt x="1062" y="1299"/>
                </a:lnTo>
                <a:lnTo>
                  <a:pt x="985" y="1255"/>
                </a:lnTo>
                <a:lnTo>
                  <a:pt x="910" y="1199"/>
                </a:lnTo>
                <a:lnTo>
                  <a:pt x="759" y="1038"/>
                </a:lnTo>
                <a:lnTo>
                  <a:pt x="607" y="811"/>
                </a:lnTo>
                <a:lnTo>
                  <a:pt x="455" y="541"/>
                </a:lnTo>
                <a:lnTo>
                  <a:pt x="380" y="403"/>
                </a:lnTo>
                <a:lnTo>
                  <a:pt x="304" y="272"/>
                </a:lnTo>
                <a:lnTo>
                  <a:pt x="229" y="161"/>
                </a:lnTo>
                <a:lnTo>
                  <a:pt x="152" y="73"/>
                </a:lnTo>
                <a:lnTo>
                  <a:pt x="77" y="19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6"/>
          <p:cNvSpPr/>
          <p:nvPr/>
        </p:nvSpPr>
        <p:spPr>
          <a:xfrm>
            <a:off x="2187575" y="2849563"/>
            <a:ext cx="2287588" cy="2200275"/>
          </a:xfrm>
          <a:custGeom>
            <a:rect b="b" l="l" r="r" t="t"/>
            <a:pathLst>
              <a:path extrusionOk="0" h="1386" w="1441">
                <a:moveTo>
                  <a:pt x="0" y="1385"/>
                </a:moveTo>
                <a:lnTo>
                  <a:pt x="152" y="1368"/>
                </a:lnTo>
                <a:lnTo>
                  <a:pt x="229" y="1352"/>
                </a:lnTo>
                <a:lnTo>
                  <a:pt x="303" y="1329"/>
                </a:lnTo>
                <a:lnTo>
                  <a:pt x="378" y="1299"/>
                </a:lnTo>
                <a:lnTo>
                  <a:pt x="455" y="1255"/>
                </a:lnTo>
                <a:lnTo>
                  <a:pt x="530" y="1199"/>
                </a:lnTo>
                <a:lnTo>
                  <a:pt x="684" y="1038"/>
                </a:lnTo>
                <a:lnTo>
                  <a:pt x="833" y="811"/>
                </a:lnTo>
                <a:lnTo>
                  <a:pt x="985" y="541"/>
                </a:lnTo>
                <a:lnTo>
                  <a:pt x="1062" y="403"/>
                </a:lnTo>
                <a:lnTo>
                  <a:pt x="1137" y="272"/>
                </a:lnTo>
                <a:lnTo>
                  <a:pt x="1214" y="161"/>
                </a:lnTo>
                <a:lnTo>
                  <a:pt x="1288" y="73"/>
                </a:lnTo>
                <a:lnTo>
                  <a:pt x="1365" y="19"/>
                </a:lnTo>
                <a:lnTo>
                  <a:pt x="144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6"/>
          <p:cNvSpPr/>
          <p:nvPr/>
        </p:nvSpPr>
        <p:spPr>
          <a:xfrm>
            <a:off x="7205663" y="5173663"/>
            <a:ext cx="41433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045" name="Google Shape;1045;p36"/>
          <p:cNvSpPr/>
          <p:nvPr/>
        </p:nvSpPr>
        <p:spPr>
          <a:xfrm>
            <a:off x="6089650" y="3503613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sp>
        <p:nvSpPr>
          <p:cNvPr id="1046" name="Google Shape;1046;p36"/>
          <p:cNvSpPr/>
          <p:nvPr/>
        </p:nvSpPr>
        <p:spPr>
          <a:xfrm>
            <a:off x="5867400" y="4021138"/>
            <a:ext cx="893763" cy="1165225"/>
          </a:xfrm>
          <a:custGeom>
            <a:rect b="b" l="l" r="r" t="t"/>
            <a:pathLst>
              <a:path extrusionOk="0" h="686" w="563">
                <a:moveTo>
                  <a:pt x="0" y="685"/>
                </a:moveTo>
                <a:lnTo>
                  <a:pt x="0" y="0"/>
                </a:lnTo>
                <a:lnTo>
                  <a:pt x="562" y="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6"/>
          <p:cNvSpPr/>
          <p:nvPr/>
        </p:nvSpPr>
        <p:spPr>
          <a:xfrm>
            <a:off x="6711950" y="3967163"/>
            <a:ext cx="147638" cy="147637"/>
          </a:xfrm>
          <a:custGeom>
            <a:rect b="b" l="l" r="r" t="t"/>
            <a:pathLst>
              <a:path extrusionOk="0" h="93" w="93">
                <a:moveTo>
                  <a:pt x="0" y="0"/>
                </a:moveTo>
                <a:lnTo>
                  <a:pt x="92" y="45"/>
                </a:lnTo>
                <a:lnTo>
                  <a:pt x="0" y="92"/>
                </a:lnTo>
                <a:lnTo>
                  <a:pt x="4" y="85"/>
                </a:lnTo>
                <a:lnTo>
                  <a:pt x="5" y="78"/>
                </a:lnTo>
                <a:lnTo>
                  <a:pt x="7" y="72"/>
                </a:lnTo>
                <a:lnTo>
                  <a:pt x="8" y="65"/>
                </a:lnTo>
                <a:lnTo>
                  <a:pt x="10" y="58"/>
                </a:lnTo>
                <a:lnTo>
                  <a:pt x="10" y="49"/>
                </a:lnTo>
                <a:lnTo>
                  <a:pt x="10" y="42"/>
                </a:lnTo>
                <a:lnTo>
                  <a:pt x="10" y="35"/>
                </a:lnTo>
                <a:lnTo>
                  <a:pt x="8" y="27"/>
                </a:lnTo>
                <a:lnTo>
                  <a:pt x="7" y="20"/>
                </a:lnTo>
                <a:lnTo>
                  <a:pt x="5" y="13"/>
                </a:lnTo>
                <a:lnTo>
                  <a:pt x="4" y="8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6"/>
          <p:cNvSpPr/>
          <p:nvPr/>
        </p:nvSpPr>
        <p:spPr>
          <a:xfrm>
            <a:off x="1004888" y="1600200"/>
            <a:ext cx="7096125" cy="10636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0.0668) </a:t>
            </a:r>
            <a:r>
              <a:rPr b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0.05)  </a:t>
            </a:r>
            <a:b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 ditolak 🡪diterima</a:t>
            </a: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5634038" y="2857500"/>
            <a:ext cx="2366962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0.0668</a:t>
            </a:r>
            <a:endParaRPr/>
          </a:p>
        </p:txBody>
      </p:sp>
      <p:sp>
        <p:nvSpPr>
          <p:cNvPr id="1050" name="Google Shape;1050;p36"/>
          <p:cNvSpPr/>
          <p:nvPr/>
        </p:nvSpPr>
        <p:spPr>
          <a:xfrm>
            <a:off x="6619875" y="4275138"/>
            <a:ext cx="1304925" cy="454025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0.05</a:t>
            </a:r>
            <a:endParaRPr/>
          </a:p>
        </p:txBody>
      </p:sp>
      <p:cxnSp>
        <p:nvCxnSpPr>
          <p:cNvPr id="1051" name="Google Shape;1051;p36"/>
          <p:cNvCxnSpPr/>
          <p:nvPr/>
        </p:nvCxnSpPr>
        <p:spPr>
          <a:xfrm flipH="1">
            <a:off x="5424488" y="3460750"/>
            <a:ext cx="373062" cy="1109663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2" name="Google Shape;1052;p36"/>
          <p:cNvCxnSpPr/>
          <p:nvPr/>
        </p:nvCxnSpPr>
        <p:spPr>
          <a:xfrm flipH="1">
            <a:off x="6019800" y="4729163"/>
            <a:ext cx="685800" cy="30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53" name="Google Shape;1053;p36"/>
          <p:cNvSpPr/>
          <p:nvPr/>
        </p:nvSpPr>
        <p:spPr>
          <a:xfrm>
            <a:off x="762000" y="6019800"/>
            <a:ext cx="7772400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Nilai 1.50 berada di daerah not Reject Region</a:t>
            </a:r>
            <a:endParaRPr/>
          </a:p>
        </p:txBody>
      </p:sp>
      <p:sp>
        <p:nvSpPr>
          <p:cNvPr id="1054" name="Google Shape;1054;p36"/>
          <p:cNvSpPr/>
          <p:nvPr/>
        </p:nvSpPr>
        <p:spPr>
          <a:xfrm>
            <a:off x="2514600" y="5108575"/>
            <a:ext cx="3273425" cy="153988"/>
          </a:xfrm>
          <a:custGeom>
            <a:rect b="b" l="l" r="r" t="t"/>
            <a:pathLst>
              <a:path extrusionOk="0" h="97" w="2062">
                <a:moveTo>
                  <a:pt x="0" y="48"/>
                </a:moveTo>
                <a:lnTo>
                  <a:pt x="412" y="96"/>
                </a:lnTo>
                <a:lnTo>
                  <a:pt x="412" y="72"/>
                </a:lnTo>
                <a:lnTo>
                  <a:pt x="1649" y="72"/>
                </a:lnTo>
                <a:lnTo>
                  <a:pt x="1649" y="96"/>
                </a:lnTo>
                <a:lnTo>
                  <a:pt x="2061" y="48"/>
                </a:lnTo>
                <a:lnTo>
                  <a:pt x="1649" y="0"/>
                </a:lnTo>
                <a:lnTo>
                  <a:pt x="1649" y="24"/>
                </a:lnTo>
                <a:lnTo>
                  <a:pt x="412" y="24"/>
                </a:lnTo>
                <a:lnTo>
                  <a:pt x="412" y="0"/>
                </a:lnTo>
                <a:lnTo>
                  <a:pt x="0" y="48"/>
                </a:lnTo>
              </a:path>
            </a:pathLst>
          </a:custGeom>
          <a:solidFill>
            <a:srgbClr val="C9C9F1"/>
          </a:solidFill>
          <a:ln cap="rnd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5" name="Google Shape;1055;p36"/>
          <p:cNvCxnSpPr/>
          <p:nvPr/>
        </p:nvCxnSpPr>
        <p:spPr>
          <a:xfrm>
            <a:off x="5910263" y="4805363"/>
            <a:ext cx="15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36"/>
          <p:cNvCxnSpPr/>
          <p:nvPr/>
        </p:nvCxnSpPr>
        <p:spPr>
          <a:xfrm>
            <a:off x="5949950" y="4881563"/>
            <a:ext cx="63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7" name="Google Shape;1057;p36"/>
          <p:cNvSpPr txBox="1"/>
          <p:nvPr/>
        </p:nvSpPr>
        <p:spPr>
          <a:xfrm>
            <a:off x="5867400" y="5414963"/>
            <a:ext cx="86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1.645</a:t>
            </a:r>
            <a:endParaRPr/>
          </a:p>
        </p:txBody>
      </p:sp>
      <p:cxnSp>
        <p:nvCxnSpPr>
          <p:cNvPr id="1058" name="Google Shape;1058;p36"/>
          <p:cNvCxnSpPr/>
          <p:nvPr/>
        </p:nvCxnSpPr>
        <p:spPr>
          <a:xfrm flipH="1" rot="4099552">
            <a:off x="5854700" y="5207000"/>
            <a:ext cx="449263" cy="271463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9" name="Google Shape;1059;p36"/>
          <p:cNvCxnSpPr/>
          <p:nvPr/>
        </p:nvCxnSpPr>
        <p:spPr>
          <a:xfrm rot="-4099552">
            <a:off x="4870450" y="5410200"/>
            <a:ext cx="457200" cy="15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60" name="Google Shape;1060;p36"/>
          <p:cNvCxnSpPr/>
          <p:nvPr/>
        </p:nvCxnSpPr>
        <p:spPr>
          <a:xfrm>
            <a:off x="1981200" y="5186363"/>
            <a:ext cx="5562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61" name="Google Shape;10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067" name="Google Shape;1067;p3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68" name="Google Shape;1068;p3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Contoh: Uji Z untuk μ (</a:t>
            </a:r>
            <a:r>
              <a:rPr i="1" lang="en-US"/>
              <a:t>two-tail)</a:t>
            </a:r>
            <a:endParaRPr i="1"/>
          </a:p>
        </p:txBody>
      </p:sp>
      <p:sp>
        <p:nvSpPr>
          <p:cNvPr id="1069" name="Google Shape;1069;p37"/>
          <p:cNvSpPr/>
          <p:nvPr/>
        </p:nvSpPr>
        <p:spPr>
          <a:xfrm>
            <a:off x="5943600" y="2057400"/>
            <a:ext cx="2057400" cy="2438400"/>
          </a:xfrm>
          <a:prstGeom prst="cube">
            <a:avLst>
              <a:gd fmla="val 12569" name="adj"/>
            </a:avLst>
          </a:prstGeom>
          <a:solidFill>
            <a:srgbClr val="B50069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0" name="Google Shape;10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438400"/>
            <a:ext cx="16764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37"/>
          <p:cNvSpPr/>
          <p:nvPr/>
        </p:nvSpPr>
        <p:spPr>
          <a:xfrm>
            <a:off x="6248400" y="3048000"/>
            <a:ext cx="914400" cy="838200"/>
          </a:xfrm>
          <a:prstGeom prst="star16">
            <a:avLst>
              <a:gd fmla="val 37500" name="adj"/>
            </a:avLst>
          </a:prstGeom>
          <a:solidFill>
            <a:srgbClr val="EAEC5E"/>
          </a:solidFill>
          <a:ln cap="flat" cmpd="sng" w="12700">
            <a:solidFill>
              <a:srgbClr val="EAEC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7"/>
          <p:cNvSpPr/>
          <p:nvPr/>
        </p:nvSpPr>
        <p:spPr>
          <a:xfrm>
            <a:off x="6165850" y="4032250"/>
            <a:ext cx="1612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368 gm.</a:t>
            </a:r>
            <a:endParaRPr/>
          </a:p>
        </p:txBody>
      </p:sp>
      <p:sp>
        <p:nvSpPr>
          <p:cNvPr id="1073" name="Google Shape;1073;p37"/>
          <p:cNvSpPr/>
          <p:nvPr/>
        </p:nvSpPr>
        <p:spPr>
          <a:xfrm>
            <a:off x="5938838" y="4948238"/>
            <a:ext cx="22955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368 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≠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368</a:t>
            </a:r>
            <a:endParaRPr/>
          </a:p>
        </p:txBody>
      </p:sp>
      <p:sp>
        <p:nvSpPr>
          <p:cNvPr id="1074" name="Google Shape;1074;p37"/>
          <p:cNvSpPr txBox="1"/>
          <p:nvPr>
            <p:ph idx="1" type="body"/>
          </p:nvPr>
        </p:nvSpPr>
        <p:spPr>
          <a:xfrm>
            <a:off x="609600" y="1905000"/>
            <a:ext cx="4114800" cy="3429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Q. Apakah rata-rata kotak sereal berisi lebih dari 368 gr sereal?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Random sampel dari 25 kotak menunjukkan     = 372.5.  Perusahaan menetapkan </a:t>
            </a:r>
            <a:r>
              <a:rPr b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σ =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15 gr.  Uji pada signifikan level </a:t>
            </a:r>
            <a:r>
              <a:rPr b="1" i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 </a:t>
            </a:r>
            <a:r>
              <a:rPr b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0.05.</a:t>
            </a:r>
            <a:endParaRPr/>
          </a:p>
        </p:txBody>
      </p:sp>
      <p:pic>
        <p:nvPicPr>
          <p:cNvPr id="1075" name="Google Shape;107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081" name="Google Shape;1081;p3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82" name="Google Shape;1082;p38"/>
          <p:cNvSpPr/>
          <p:nvPr/>
        </p:nvSpPr>
        <p:spPr>
          <a:xfrm>
            <a:off x="2971800" y="3581400"/>
            <a:ext cx="838200" cy="4572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8"/>
          <p:cNvSpPr txBox="1"/>
          <p:nvPr>
            <p:ph idx="1" type="body"/>
          </p:nvPr>
        </p:nvSpPr>
        <p:spPr>
          <a:xfrm>
            <a:off x="533400" y="2519363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0.05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= 25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Nilai Kritikal : ±1.96</a:t>
            </a:r>
            <a:endParaRPr/>
          </a:p>
        </p:txBody>
      </p:sp>
      <p:sp>
        <p:nvSpPr>
          <p:cNvPr id="1084" name="Google Shape;1084;p38"/>
          <p:cNvSpPr/>
          <p:nvPr/>
        </p:nvSpPr>
        <p:spPr>
          <a:xfrm>
            <a:off x="914400" y="5795963"/>
            <a:ext cx="838200" cy="3810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8"/>
          <p:cNvSpPr/>
          <p:nvPr/>
        </p:nvSpPr>
        <p:spPr>
          <a:xfrm>
            <a:off x="2514600" y="5795963"/>
            <a:ext cx="838200" cy="3810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8"/>
          <p:cNvSpPr/>
          <p:nvPr/>
        </p:nvSpPr>
        <p:spPr>
          <a:xfrm>
            <a:off x="8229600" y="2519363"/>
            <a:ext cx="685800" cy="4572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8825" y="2290763"/>
            <a:ext cx="4346575" cy="1290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3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Uji Z untuk μ (</a:t>
            </a:r>
            <a:r>
              <a:rPr i="1" lang="en-US"/>
              <a:t>two-tail)</a:t>
            </a:r>
            <a:endParaRPr/>
          </a:p>
        </p:txBody>
      </p:sp>
      <p:sp>
        <p:nvSpPr>
          <p:cNvPr id="1089" name="Google Shape;1089;p38"/>
          <p:cNvSpPr/>
          <p:nvPr/>
        </p:nvSpPr>
        <p:spPr>
          <a:xfrm>
            <a:off x="914400" y="5110163"/>
            <a:ext cx="685800" cy="609600"/>
          </a:xfrm>
          <a:custGeom>
            <a:rect b="b" l="l" r="r" t="t"/>
            <a:pathLst>
              <a:path extrusionOk="0" h="384" w="432">
                <a:moveTo>
                  <a:pt x="0" y="376"/>
                </a:moveTo>
                <a:lnTo>
                  <a:pt x="144" y="320"/>
                </a:lnTo>
                <a:lnTo>
                  <a:pt x="234" y="259"/>
                </a:lnTo>
                <a:lnTo>
                  <a:pt x="304" y="177"/>
                </a:lnTo>
                <a:lnTo>
                  <a:pt x="377" y="70"/>
                </a:lnTo>
                <a:lnTo>
                  <a:pt x="431" y="0"/>
                </a:lnTo>
                <a:lnTo>
                  <a:pt x="431" y="383"/>
                </a:lnTo>
                <a:lnTo>
                  <a:pt x="0" y="383"/>
                </a:lnTo>
                <a:lnTo>
                  <a:pt x="0" y="376"/>
                </a:lnTo>
              </a:path>
            </a:pathLst>
          </a:custGeom>
          <a:solidFill>
            <a:srgbClr val="FFFF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8"/>
          <p:cNvSpPr/>
          <p:nvPr/>
        </p:nvSpPr>
        <p:spPr>
          <a:xfrm>
            <a:off x="4724400" y="160496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Uji statistik: </a:t>
            </a:r>
            <a:endParaRPr/>
          </a:p>
          <a:p>
            <a:pPr indent="0" lvl="0" marL="0" marR="0" rtl="0" algn="l">
              <a:spcBef>
                <a:spcPts val="120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Keputusan: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Kesimpulan: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1" name="Google Shape;1091;p38"/>
          <p:cNvSpPr/>
          <p:nvPr/>
        </p:nvSpPr>
        <p:spPr>
          <a:xfrm>
            <a:off x="4791075" y="4343400"/>
            <a:ext cx="42005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 menolak pada </a:t>
            </a:r>
            <a:r>
              <a:rPr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.05</a:t>
            </a:r>
            <a:endParaRPr/>
          </a:p>
        </p:txBody>
      </p:sp>
      <p:sp>
        <p:nvSpPr>
          <p:cNvPr id="1092" name="Google Shape;1092;p38"/>
          <p:cNvSpPr/>
          <p:nvPr/>
        </p:nvSpPr>
        <p:spPr>
          <a:xfrm>
            <a:off x="4800600" y="5310188"/>
            <a:ext cx="42672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 ada bukti yang cukup kuat bahwa mean &gt; 368</a:t>
            </a:r>
            <a:endParaRPr/>
          </a:p>
        </p:txBody>
      </p:sp>
      <p:cxnSp>
        <p:nvCxnSpPr>
          <p:cNvPr id="1093" name="Google Shape;1093;p38"/>
          <p:cNvCxnSpPr/>
          <p:nvPr/>
        </p:nvCxnSpPr>
        <p:spPr>
          <a:xfrm>
            <a:off x="2133600" y="4498975"/>
            <a:ext cx="0" cy="11287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94" name="Google Shape;1094;p38"/>
          <p:cNvSpPr/>
          <p:nvPr/>
        </p:nvSpPr>
        <p:spPr>
          <a:xfrm>
            <a:off x="2701925" y="5030788"/>
            <a:ext cx="642938" cy="650875"/>
          </a:xfrm>
          <a:custGeom>
            <a:rect b="b" l="l" r="r" t="t"/>
            <a:pathLst>
              <a:path extrusionOk="0" h="410" w="405">
                <a:moveTo>
                  <a:pt x="0" y="0"/>
                </a:moveTo>
                <a:lnTo>
                  <a:pt x="0" y="409"/>
                </a:lnTo>
                <a:lnTo>
                  <a:pt x="404" y="409"/>
                </a:lnTo>
                <a:lnTo>
                  <a:pt x="356" y="388"/>
                </a:lnTo>
                <a:lnTo>
                  <a:pt x="307" y="364"/>
                </a:lnTo>
                <a:lnTo>
                  <a:pt x="263" y="333"/>
                </a:lnTo>
                <a:lnTo>
                  <a:pt x="221" y="302"/>
                </a:lnTo>
                <a:lnTo>
                  <a:pt x="179" y="267"/>
                </a:lnTo>
                <a:lnTo>
                  <a:pt x="141" y="228"/>
                </a:lnTo>
                <a:lnTo>
                  <a:pt x="106" y="187"/>
                </a:lnTo>
                <a:lnTo>
                  <a:pt x="75" y="144"/>
                </a:lnTo>
                <a:lnTo>
                  <a:pt x="47" y="98"/>
                </a:lnTo>
                <a:lnTo>
                  <a:pt x="22" y="49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8"/>
          <p:cNvSpPr/>
          <p:nvPr/>
        </p:nvSpPr>
        <p:spPr>
          <a:xfrm>
            <a:off x="2133600" y="4348163"/>
            <a:ext cx="1430338" cy="1362075"/>
          </a:xfrm>
          <a:custGeom>
            <a:rect b="b" l="l" r="r" t="t"/>
            <a:pathLst>
              <a:path extrusionOk="0" h="843" w="875">
                <a:moveTo>
                  <a:pt x="874" y="842"/>
                </a:moveTo>
                <a:lnTo>
                  <a:pt x="782" y="831"/>
                </a:lnTo>
                <a:lnTo>
                  <a:pt x="735" y="822"/>
                </a:lnTo>
                <a:lnTo>
                  <a:pt x="690" y="808"/>
                </a:lnTo>
                <a:lnTo>
                  <a:pt x="643" y="789"/>
                </a:lnTo>
                <a:lnTo>
                  <a:pt x="598" y="763"/>
                </a:lnTo>
                <a:lnTo>
                  <a:pt x="551" y="729"/>
                </a:lnTo>
                <a:lnTo>
                  <a:pt x="459" y="631"/>
                </a:lnTo>
                <a:lnTo>
                  <a:pt x="368" y="493"/>
                </a:lnTo>
                <a:lnTo>
                  <a:pt x="276" y="329"/>
                </a:lnTo>
                <a:lnTo>
                  <a:pt x="230" y="245"/>
                </a:lnTo>
                <a:lnTo>
                  <a:pt x="183" y="165"/>
                </a:lnTo>
                <a:lnTo>
                  <a:pt x="137" y="98"/>
                </a:lnTo>
                <a:lnTo>
                  <a:pt x="92" y="45"/>
                </a:lnTo>
                <a:lnTo>
                  <a:pt x="45" y="11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8"/>
          <p:cNvSpPr/>
          <p:nvPr/>
        </p:nvSpPr>
        <p:spPr>
          <a:xfrm>
            <a:off x="762000" y="4348163"/>
            <a:ext cx="1389063" cy="1338262"/>
          </a:xfrm>
          <a:custGeom>
            <a:rect b="b" l="l" r="r" t="t"/>
            <a:pathLst>
              <a:path extrusionOk="0" h="843" w="875">
                <a:moveTo>
                  <a:pt x="0" y="842"/>
                </a:moveTo>
                <a:lnTo>
                  <a:pt x="92" y="831"/>
                </a:lnTo>
                <a:lnTo>
                  <a:pt x="137" y="822"/>
                </a:lnTo>
                <a:lnTo>
                  <a:pt x="183" y="808"/>
                </a:lnTo>
                <a:lnTo>
                  <a:pt x="229" y="789"/>
                </a:lnTo>
                <a:lnTo>
                  <a:pt x="276" y="763"/>
                </a:lnTo>
                <a:lnTo>
                  <a:pt x="321" y="729"/>
                </a:lnTo>
                <a:lnTo>
                  <a:pt x="414" y="631"/>
                </a:lnTo>
                <a:lnTo>
                  <a:pt x="506" y="493"/>
                </a:lnTo>
                <a:lnTo>
                  <a:pt x="598" y="329"/>
                </a:lnTo>
                <a:lnTo>
                  <a:pt x="643" y="245"/>
                </a:lnTo>
                <a:lnTo>
                  <a:pt x="690" y="165"/>
                </a:lnTo>
                <a:lnTo>
                  <a:pt x="735" y="98"/>
                </a:lnTo>
                <a:lnTo>
                  <a:pt x="782" y="45"/>
                </a:lnTo>
                <a:lnTo>
                  <a:pt x="827" y="11"/>
                </a:lnTo>
                <a:lnTo>
                  <a:pt x="874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8"/>
          <p:cNvSpPr/>
          <p:nvPr/>
        </p:nvSpPr>
        <p:spPr>
          <a:xfrm>
            <a:off x="787400" y="4652963"/>
            <a:ext cx="2828925" cy="1096962"/>
          </a:xfrm>
          <a:custGeom>
            <a:rect b="b" l="l" r="r" t="t"/>
            <a:pathLst>
              <a:path extrusionOk="0" h="691" w="1782">
                <a:moveTo>
                  <a:pt x="0" y="0"/>
                </a:moveTo>
                <a:lnTo>
                  <a:pt x="0" y="690"/>
                </a:lnTo>
                <a:lnTo>
                  <a:pt x="1781" y="690"/>
                </a:lnTo>
              </a:path>
            </a:pathLst>
          </a:custGeom>
          <a:noFill/>
          <a:ln cap="rnd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8"/>
          <p:cNvSpPr/>
          <p:nvPr/>
        </p:nvSpPr>
        <p:spPr>
          <a:xfrm>
            <a:off x="3352800" y="5719763"/>
            <a:ext cx="4064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099" name="Google Shape;1099;p38"/>
          <p:cNvSpPr/>
          <p:nvPr/>
        </p:nvSpPr>
        <p:spPr>
          <a:xfrm>
            <a:off x="1981200" y="5722938"/>
            <a:ext cx="3571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00" name="Google Shape;1100;p38"/>
          <p:cNvSpPr/>
          <p:nvPr/>
        </p:nvSpPr>
        <p:spPr>
          <a:xfrm>
            <a:off x="2486025" y="5722938"/>
            <a:ext cx="714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1.96</a:t>
            </a:r>
            <a:endParaRPr/>
          </a:p>
        </p:txBody>
      </p:sp>
      <p:sp>
        <p:nvSpPr>
          <p:cNvPr id="1101" name="Google Shape;1101;p38"/>
          <p:cNvSpPr/>
          <p:nvPr/>
        </p:nvSpPr>
        <p:spPr>
          <a:xfrm>
            <a:off x="2890838" y="4724400"/>
            <a:ext cx="714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.025</a:t>
            </a:r>
            <a:endParaRPr/>
          </a:p>
        </p:txBody>
      </p:sp>
      <p:sp>
        <p:nvSpPr>
          <p:cNvPr id="1102" name="Google Shape;1102;p38"/>
          <p:cNvSpPr/>
          <p:nvPr/>
        </p:nvSpPr>
        <p:spPr>
          <a:xfrm>
            <a:off x="2895600" y="5186363"/>
            <a:ext cx="455613" cy="301625"/>
          </a:xfrm>
          <a:custGeom>
            <a:rect b="b" l="l" r="r" t="t"/>
            <a:pathLst>
              <a:path extrusionOk="0" h="190" w="287">
                <a:moveTo>
                  <a:pt x="286" y="0"/>
                </a:moveTo>
                <a:lnTo>
                  <a:pt x="282" y="23"/>
                </a:lnTo>
                <a:lnTo>
                  <a:pt x="275" y="45"/>
                </a:lnTo>
                <a:lnTo>
                  <a:pt x="264" y="66"/>
                </a:lnTo>
                <a:lnTo>
                  <a:pt x="247" y="84"/>
                </a:lnTo>
                <a:lnTo>
                  <a:pt x="229" y="99"/>
                </a:lnTo>
                <a:lnTo>
                  <a:pt x="208" y="109"/>
                </a:lnTo>
                <a:lnTo>
                  <a:pt x="186" y="116"/>
                </a:lnTo>
                <a:lnTo>
                  <a:pt x="161" y="119"/>
                </a:lnTo>
                <a:lnTo>
                  <a:pt x="138" y="116"/>
                </a:lnTo>
                <a:lnTo>
                  <a:pt x="115" y="113"/>
                </a:lnTo>
                <a:lnTo>
                  <a:pt x="91" y="115"/>
                </a:lnTo>
                <a:lnTo>
                  <a:pt x="68" y="122"/>
                </a:lnTo>
                <a:lnTo>
                  <a:pt x="47" y="133"/>
                </a:lnTo>
                <a:lnTo>
                  <a:pt x="28" y="148"/>
                </a:lnTo>
                <a:lnTo>
                  <a:pt x="13" y="165"/>
                </a:lnTo>
                <a:lnTo>
                  <a:pt x="1" y="186"/>
                </a:lnTo>
                <a:lnTo>
                  <a:pt x="0" y="189"/>
                </a:lnTo>
              </a:path>
            </a:pathLst>
          </a:custGeom>
          <a:noFill/>
          <a:ln cap="rnd" cmpd="sng" w="12700">
            <a:solidFill>
              <a:srgbClr val="1699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38"/>
          <p:cNvSpPr/>
          <p:nvPr/>
        </p:nvSpPr>
        <p:spPr>
          <a:xfrm>
            <a:off x="2825750" y="5453063"/>
            <a:ext cx="61913" cy="71437"/>
          </a:xfrm>
          <a:custGeom>
            <a:rect b="b" l="l" r="r" t="t"/>
            <a:pathLst>
              <a:path extrusionOk="0" h="45" w="39">
                <a:moveTo>
                  <a:pt x="38" y="9"/>
                </a:moveTo>
                <a:lnTo>
                  <a:pt x="11" y="44"/>
                </a:lnTo>
                <a:lnTo>
                  <a:pt x="0" y="0"/>
                </a:lnTo>
                <a:lnTo>
                  <a:pt x="38" y="9"/>
                </a:lnTo>
              </a:path>
            </a:pathLst>
          </a:custGeom>
          <a:solidFill>
            <a:srgbClr val="1699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8"/>
          <p:cNvSpPr/>
          <p:nvPr/>
        </p:nvSpPr>
        <p:spPr>
          <a:xfrm>
            <a:off x="2743200" y="4195763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cxnSp>
        <p:nvCxnSpPr>
          <p:cNvPr id="1105" name="Google Shape;1105;p38"/>
          <p:cNvCxnSpPr/>
          <p:nvPr/>
        </p:nvCxnSpPr>
        <p:spPr>
          <a:xfrm rot="10800000">
            <a:off x="2701925" y="4603750"/>
            <a:ext cx="0" cy="1223963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p38"/>
          <p:cNvSpPr/>
          <p:nvPr/>
        </p:nvSpPr>
        <p:spPr>
          <a:xfrm>
            <a:off x="936625" y="5719763"/>
            <a:ext cx="8159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-1.96</a:t>
            </a:r>
            <a:endParaRPr/>
          </a:p>
        </p:txBody>
      </p:sp>
      <p:sp>
        <p:nvSpPr>
          <p:cNvPr id="1107" name="Google Shape;1107;p38"/>
          <p:cNvSpPr/>
          <p:nvPr/>
        </p:nvSpPr>
        <p:spPr>
          <a:xfrm>
            <a:off x="755650" y="4799013"/>
            <a:ext cx="714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.025</a:t>
            </a:r>
            <a:endParaRPr/>
          </a:p>
        </p:txBody>
      </p:sp>
      <p:cxnSp>
        <p:nvCxnSpPr>
          <p:cNvPr id="1108" name="Google Shape;1108;p38"/>
          <p:cNvCxnSpPr/>
          <p:nvPr/>
        </p:nvCxnSpPr>
        <p:spPr>
          <a:xfrm rot="10800000">
            <a:off x="1600200" y="4592638"/>
            <a:ext cx="0" cy="1223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38"/>
          <p:cNvCxnSpPr/>
          <p:nvPr/>
        </p:nvCxnSpPr>
        <p:spPr>
          <a:xfrm rot="10800000">
            <a:off x="939800" y="4652963"/>
            <a:ext cx="660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10" name="Google Shape;1110;p38"/>
          <p:cNvSpPr/>
          <p:nvPr/>
        </p:nvSpPr>
        <p:spPr>
          <a:xfrm>
            <a:off x="452438" y="1447800"/>
            <a:ext cx="22955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=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368  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≠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368</a:t>
            </a:r>
            <a:endParaRPr/>
          </a:p>
        </p:txBody>
      </p:sp>
      <p:cxnSp>
        <p:nvCxnSpPr>
          <p:cNvPr id="1111" name="Google Shape;1111;p38"/>
          <p:cNvCxnSpPr/>
          <p:nvPr/>
        </p:nvCxnSpPr>
        <p:spPr>
          <a:xfrm>
            <a:off x="2743200" y="4652963"/>
            <a:ext cx="7620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112" name="Google Shape;1112;p38"/>
          <p:cNvSpPr/>
          <p:nvPr/>
        </p:nvSpPr>
        <p:spPr>
          <a:xfrm>
            <a:off x="2057400" y="6103938"/>
            <a:ext cx="714375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1.50</a:t>
            </a:r>
            <a:endParaRPr/>
          </a:p>
        </p:txBody>
      </p:sp>
      <p:cxnSp>
        <p:nvCxnSpPr>
          <p:cNvPr id="1113" name="Google Shape;1113;p38"/>
          <p:cNvCxnSpPr/>
          <p:nvPr/>
        </p:nvCxnSpPr>
        <p:spPr>
          <a:xfrm rot="10800000">
            <a:off x="2438400" y="5795963"/>
            <a:ext cx="0" cy="3048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114" name="Google Shape;111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120" name="Google Shape;1120;p3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21" name="Google Shape;1121;p39"/>
          <p:cNvSpPr txBox="1"/>
          <p:nvPr>
            <p:ph type="title"/>
          </p:nvPr>
        </p:nvSpPr>
        <p:spPr>
          <a:xfrm>
            <a:off x="457200" y="457200"/>
            <a:ext cx="8534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</a:t>
            </a:r>
            <a:r>
              <a:rPr i="1" lang="en-US"/>
              <a:t>p </a:t>
            </a:r>
            <a:r>
              <a:rPr lang="en-US"/>
              <a:t>-Value untuk μ (</a:t>
            </a:r>
            <a:r>
              <a:rPr i="1" lang="en-US"/>
              <a:t>two-tail)</a:t>
            </a:r>
            <a:endParaRPr/>
          </a:p>
        </p:txBody>
      </p:sp>
      <p:sp>
        <p:nvSpPr>
          <p:cNvPr id="1122" name="Google Shape;1122;p39"/>
          <p:cNvSpPr/>
          <p:nvPr/>
        </p:nvSpPr>
        <p:spPr>
          <a:xfrm flipH="1">
            <a:off x="2514600" y="4043363"/>
            <a:ext cx="1065213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9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9"/>
          <p:cNvSpPr/>
          <p:nvPr/>
        </p:nvSpPr>
        <p:spPr>
          <a:xfrm>
            <a:off x="1385888" y="1676400"/>
            <a:ext cx="6538912" cy="10636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0.1336) </a:t>
            </a:r>
            <a:r>
              <a:rPr b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0.05)  </a:t>
            </a:r>
            <a:b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tidak ditolak 🡪diterima.</a:t>
            </a:r>
            <a:endParaRPr/>
          </a:p>
        </p:txBody>
      </p:sp>
      <p:cxnSp>
        <p:nvCxnSpPr>
          <p:cNvPr id="1124" name="Google Shape;1124;p39"/>
          <p:cNvCxnSpPr/>
          <p:nvPr/>
        </p:nvCxnSpPr>
        <p:spPr>
          <a:xfrm>
            <a:off x="4495800" y="2976563"/>
            <a:ext cx="0" cy="22098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25" name="Google Shape;1125;p39"/>
          <p:cNvSpPr/>
          <p:nvPr/>
        </p:nvSpPr>
        <p:spPr>
          <a:xfrm>
            <a:off x="5334000" y="4043363"/>
            <a:ext cx="1065213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9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9"/>
          <p:cNvSpPr/>
          <p:nvPr/>
        </p:nvSpPr>
        <p:spPr>
          <a:xfrm>
            <a:off x="4260850" y="5249863"/>
            <a:ext cx="392113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7" name="Google Shape;1127;p39"/>
          <p:cNvSpPr/>
          <p:nvPr/>
        </p:nvSpPr>
        <p:spPr>
          <a:xfrm>
            <a:off x="4648200" y="5524500"/>
            <a:ext cx="72548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1.50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9"/>
          <p:cNvSpPr/>
          <p:nvPr/>
        </p:nvSpPr>
        <p:spPr>
          <a:xfrm>
            <a:off x="5875338" y="4881563"/>
            <a:ext cx="601662" cy="341312"/>
          </a:xfrm>
          <a:custGeom>
            <a:rect b="b" l="l" r="r" t="t"/>
            <a:pathLst>
              <a:path extrusionOk="0" h="215" w="379">
                <a:moveTo>
                  <a:pt x="0" y="0"/>
                </a:moveTo>
                <a:lnTo>
                  <a:pt x="0" y="214"/>
                </a:lnTo>
                <a:lnTo>
                  <a:pt x="378" y="214"/>
                </a:lnTo>
                <a:lnTo>
                  <a:pt x="144" y="107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9"/>
          <p:cNvSpPr/>
          <p:nvPr/>
        </p:nvSpPr>
        <p:spPr>
          <a:xfrm>
            <a:off x="4473575" y="2925763"/>
            <a:ext cx="2287588" cy="2200275"/>
          </a:xfrm>
          <a:custGeom>
            <a:rect b="b" l="l" r="r" t="t"/>
            <a:pathLst>
              <a:path extrusionOk="0" h="1386" w="1441">
                <a:moveTo>
                  <a:pt x="1440" y="1385"/>
                </a:moveTo>
                <a:lnTo>
                  <a:pt x="1289" y="1368"/>
                </a:lnTo>
                <a:lnTo>
                  <a:pt x="1214" y="1352"/>
                </a:lnTo>
                <a:lnTo>
                  <a:pt x="1137" y="1329"/>
                </a:lnTo>
                <a:lnTo>
                  <a:pt x="1062" y="1299"/>
                </a:lnTo>
                <a:lnTo>
                  <a:pt x="985" y="1255"/>
                </a:lnTo>
                <a:lnTo>
                  <a:pt x="910" y="1199"/>
                </a:lnTo>
                <a:lnTo>
                  <a:pt x="759" y="1038"/>
                </a:lnTo>
                <a:lnTo>
                  <a:pt x="607" y="811"/>
                </a:lnTo>
                <a:lnTo>
                  <a:pt x="455" y="541"/>
                </a:lnTo>
                <a:lnTo>
                  <a:pt x="380" y="403"/>
                </a:lnTo>
                <a:lnTo>
                  <a:pt x="304" y="272"/>
                </a:lnTo>
                <a:lnTo>
                  <a:pt x="229" y="161"/>
                </a:lnTo>
                <a:lnTo>
                  <a:pt x="152" y="73"/>
                </a:lnTo>
                <a:lnTo>
                  <a:pt x="77" y="19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9"/>
          <p:cNvSpPr/>
          <p:nvPr/>
        </p:nvSpPr>
        <p:spPr>
          <a:xfrm>
            <a:off x="2187575" y="2925763"/>
            <a:ext cx="2287588" cy="2200275"/>
          </a:xfrm>
          <a:custGeom>
            <a:rect b="b" l="l" r="r" t="t"/>
            <a:pathLst>
              <a:path extrusionOk="0" h="1386" w="1441">
                <a:moveTo>
                  <a:pt x="0" y="1385"/>
                </a:moveTo>
                <a:lnTo>
                  <a:pt x="152" y="1368"/>
                </a:lnTo>
                <a:lnTo>
                  <a:pt x="229" y="1352"/>
                </a:lnTo>
                <a:lnTo>
                  <a:pt x="303" y="1329"/>
                </a:lnTo>
                <a:lnTo>
                  <a:pt x="378" y="1299"/>
                </a:lnTo>
                <a:lnTo>
                  <a:pt x="455" y="1255"/>
                </a:lnTo>
                <a:lnTo>
                  <a:pt x="530" y="1199"/>
                </a:lnTo>
                <a:lnTo>
                  <a:pt x="684" y="1038"/>
                </a:lnTo>
                <a:lnTo>
                  <a:pt x="833" y="811"/>
                </a:lnTo>
                <a:lnTo>
                  <a:pt x="985" y="541"/>
                </a:lnTo>
                <a:lnTo>
                  <a:pt x="1062" y="403"/>
                </a:lnTo>
                <a:lnTo>
                  <a:pt x="1137" y="272"/>
                </a:lnTo>
                <a:lnTo>
                  <a:pt x="1214" y="161"/>
                </a:lnTo>
                <a:lnTo>
                  <a:pt x="1288" y="73"/>
                </a:lnTo>
                <a:lnTo>
                  <a:pt x="1365" y="19"/>
                </a:lnTo>
                <a:lnTo>
                  <a:pt x="144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1" name="Google Shape;1131;p39"/>
          <p:cNvCxnSpPr/>
          <p:nvPr/>
        </p:nvCxnSpPr>
        <p:spPr>
          <a:xfrm>
            <a:off x="2160588" y="2852738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39"/>
          <p:cNvCxnSpPr/>
          <p:nvPr/>
        </p:nvCxnSpPr>
        <p:spPr>
          <a:xfrm>
            <a:off x="2160588" y="3081338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39"/>
          <p:cNvCxnSpPr/>
          <p:nvPr/>
        </p:nvCxnSpPr>
        <p:spPr>
          <a:xfrm>
            <a:off x="2160588" y="3309938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39"/>
          <p:cNvCxnSpPr/>
          <p:nvPr/>
        </p:nvCxnSpPr>
        <p:spPr>
          <a:xfrm>
            <a:off x="2160588" y="3535363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39"/>
          <p:cNvCxnSpPr/>
          <p:nvPr/>
        </p:nvCxnSpPr>
        <p:spPr>
          <a:xfrm>
            <a:off x="2160588" y="3763963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39"/>
          <p:cNvCxnSpPr/>
          <p:nvPr/>
        </p:nvCxnSpPr>
        <p:spPr>
          <a:xfrm>
            <a:off x="2160588" y="4216400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39"/>
          <p:cNvCxnSpPr/>
          <p:nvPr/>
        </p:nvCxnSpPr>
        <p:spPr>
          <a:xfrm>
            <a:off x="2160588" y="4441825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39"/>
          <p:cNvCxnSpPr/>
          <p:nvPr/>
        </p:nvCxnSpPr>
        <p:spPr>
          <a:xfrm>
            <a:off x="2160588" y="4670425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39"/>
          <p:cNvCxnSpPr/>
          <p:nvPr/>
        </p:nvCxnSpPr>
        <p:spPr>
          <a:xfrm>
            <a:off x="2160588" y="4895850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39"/>
          <p:cNvCxnSpPr/>
          <p:nvPr/>
        </p:nvCxnSpPr>
        <p:spPr>
          <a:xfrm>
            <a:off x="6845300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1" name="Google Shape;1141;p39"/>
          <p:cNvCxnSpPr/>
          <p:nvPr/>
        </p:nvCxnSpPr>
        <p:spPr>
          <a:xfrm>
            <a:off x="6381750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2" name="Google Shape;1142;p39"/>
          <p:cNvCxnSpPr/>
          <p:nvPr/>
        </p:nvCxnSpPr>
        <p:spPr>
          <a:xfrm>
            <a:off x="5915025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3" name="Google Shape;1143;p39"/>
          <p:cNvCxnSpPr/>
          <p:nvPr/>
        </p:nvCxnSpPr>
        <p:spPr>
          <a:xfrm>
            <a:off x="5449888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4" name="Google Shape;1144;p39"/>
          <p:cNvCxnSpPr/>
          <p:nvPr/>
        </p:nvCxnSpPr>
        <p:spPr>
          <a:xfrm>
            <a:off x="4983163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39"/>
          <p:cNvCxnSpPr/>
          <p:nvPr/>
        </p:nvCxnSpPr>
        <p:spPr>
          <a:xfrm>
            <a:off x="4516438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39"/>
          <p:cNvCxnSpPr/>
          <p:nvPr/>
        </p:nvCxnSpPr>
        <p:spPr>
          <a:xfrm>
            <a:off x="4049713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39"/>
          <p:cNvCxnSpPr/>
          <p:nvPr/>
        </p:nvCxnSpPr>
        <p:spPr>
          <a:xfrm>
            <a:off x="3586163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8" name="Google Shape;1148;p39"/>
          <p:cNvCxnSpPr/>
          <p:nvPr/>
        </p:nvCxnSpPr>
        <p:spPr>
          <a:xfrm>
            <a:off x="3121025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9" name="Google Shape;1149;p39"/>
          <p:cNvCxnSpPr/>
          <p:nvPr/>
        </p:nvCxnSpPr>
        <p:spPr>
          <a:xfrm>
            <a:off x="2654300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p39"/>
          <p:cNvSpPr/>
          <p:nvPr/>
        </p:nvSpPr>
        <p:spPr>
          <a:xfrm>
            <a:off x="7281863" y="5262563"/>
            <a:ext cx="41433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51" name="Google Shape;1151;p39"/>
          <p:cNvSpPr/>
          <p:nvPr/>
        </p:nvSpPr>
        <p:spPr>
          <a:xfrm>
            <a:off x="6089650" y="3579813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sp>
        <p:nvSpPr>
          <p:cNvPr id="1152" name="Google Shape;1152;p39"/>
          <p:cNvSpPr/>
          <p:nvPr/>
        </p:nvSpPr>
        <p:spPr>
          <a:xfrm>
            <a:off x="5867400" y="4097338"/>
            <a:ext cx="893763" cy="1165225"/>
          </a:xfrm>
          <a:custGeom>
            <a:rect b="b" l="l" r="r" t="t"/>
            <a:pathLst>
              <a:path extrusionOk="0" h="686" w="563">
                <a:moveTo>
                  <a:pt x="0" y="685"/>
                </a:moveTo>
                <a:lnTo>
                  <a:pt x="0" y="0"/>
                </a:lnTo>
                <a:lnTo>
                  <a:pt x="562" y="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9"/>
          <p:cNvSpPr/>
          <p:nvPr/>
        </p:nvSpPr>
        <p:spPr>
          <a:xfrm>
            <a:off x="6711950" y="4043363"/>
            <a:ext cx="147638" cy="147637"/>
          </a:xfrm>
          <a:custGeom>
            <a:rect b="b" l="l" r="r" t="t"/>
            <a:pathLst>
              <a:path extrusionOk="0" h="93" w="93">
                <a:moveTo>
                  <a:pt x="0" y="0"/>
                </a:moveTo>
                <a:lnTo>
                  <a:pt x="92" y="45"/>
                </a:lnTo>
                <a:lnTo>
                  <a:pt x="0" y="92"/>
                </a:lnTo>
                <a:lnTo>
                  <a:pt x="4" y="85"/>
                </a:lnTo>
                <a:lnTo>
                  <a:pt x="5" y="78"/>
                </a:lnTo>
                <a:lnTo>
                  <a:pt x="7" y="72"/>
                </a:lnTo>
                <a:lnTo>
                  <a:pt x="8" y="65"/>
                </a:lnTo>
                <a:lnTo>
                  <a:pt x="10" y="58"/>
                </a:lnTo>
                <a:lnTo>
                  <a:pt x="10" y="49"/>
                </a:lnTo>
                <a:lnTo>
                  <a:pt x="10" y="42"/>
                </a:lnTo>
                <a:lnTo>
                  <a:pt x="10" y="35"/>
                </a:lnTo>
                <a:lnTo>
                  <a:pt x="8" y="27"/>
                </a:lnTo>
                <a:lnTo>
                  <a:pt x="7" y="20"/>
                </a:lnTo>
                <a:lnTo>
                  <a:pt x="5" y="13"/>
                </a:lnTo>
                <a:lnTo>
                  <a:pt x="4" y="8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9"/>
          <p:cNvSpPr/>
          <p:nvPr/>
        </p:nvSpPr>
        <p:spPr>
          <a:xfrm>
            <a:off x="6619875" y="4351338"/>
            <a:ext cx="1304925" cy="454025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0.05</a:t>
            </a:r>
            <a:endParaRPr/>
          </a:p>
        </p:txBody>
      </p:sp>
      <p:cxnSp>
        <p:nvCxnSpPr>
          <p:cNvPr id="1155" name="Google Shape;1155;p39"/>
          <p:cNvCxnSpPr/>
          <p:nvPr/>
        </p:nvCxnSpPr>
        <p:spPr>
          <a:xfrm flipH="1">
            <a:off x="5424488" y="3536950"/>
            <a:ext cx="373062" cy="1109663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6" name="Google Shape;1156;p39"/>
          <p:cNvCxnSpPr/>
          <p:nvPr/>
        </p:nvCxnSpPr>
        <p:spPr>
          <a:xfrm flipH="1">
            <a:off x="6019800" y="4805363"/>
            <a:ext cx="685800" cy="30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57" name="Google Shape;1157;p39"/>
          <p:cNvSpPr/>
          <p:nvPr/>
        </p:nvSpPr>
        <p:spPr>
          <a:xfrm>
            <a:off x="3048000" y="5184775"/>
            <a:ext cx="2740025" cy="153988"/>
          </a:xfrm>
          <a:custGeom>
            <a:rect b="b" l="l" r="r" t="t"/>
            <a:pathLst>
              <a:path extrusionOk="0" h="97" w="2062">
                <a:moveTo>
                  <a:pt x="0" y="48"/>
                </a:moveTo>
                <a:lnTo>
                  <a:pt x="412" y="96"/>
                </a:lnTo>
                <a:lnTo>
                  <a:pt x="412" y="72"/>
                </a:lnTo>
                <a:lnTo>
                  <a:pt x="1649" y="72"/>
                </a:lnTo>
                <a:lnTo>
                  <a:pt x="1649" y="96"/>
                </a:lnTo>
                <a:lnTo>
                  <a:pt x="2061" y="48"/>
                </a:lnTo>
                <a:lnTo>
                  <a:pt x="1649" y="0"/>
                </a:lnTo>
                <a:lnTo>
                  <a:pt x="1649" y="24"/>
                </a:lnTo>
                <a:lnTo>
                  <a:pt x="412" y="24"/>
                </a:lnTo>
                <a:lnTo>
                  <a:pt x="412" y="0"/>
                </a:lnTo>
                <a:lnTo>
                  <a:pt x="0" y="48"/>
                </a:lnTo>
              </a:path>
            </a:pathLst>
          </a:custGeom>
          <a:solidFill>
            <a:srgbClr val="E4E4F8"/>
          </a:solidFill>
          <a:ln cap="rnd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8" name="Google Shape;1158;p39"/>
          <p:cNvCxnSpPr/>
          <p:nvPr/>
        </p:nvCxnSpPr>
        <p:spPr>
          <a:xfrm>
            <a:off x="5910263" y="4881563"/>
            <a:ext cx="15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39"/>
          <p:cNvCxnSpPr/>
          <p:nvPr/>
        </p:nvCxnSpPr>
        <p:spPr>
          <a:xfrm>
            <a:off x="5949950" y="4957763"/>
            <a:ext cx="63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0" name="Google Shape;1160;p39"/>
          <p:cNvSpPr txBox="1"/>
          <p:nvPr/>
        </p:nvSpPr>
        <p:spPr>
          <a:xfrm>
            <a:off x="5943600" y="5491163"/>
            <a:ext cx="717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1.96</a:t>
            </a:r>
            <a:endParaRPr/>
          </a:p>
        </p:txBody>
      </p:sp>
      <p:cxnSp>
        <p:nvCxnSpPr>
          <p:cNvPr id="1161" name="Google Shape;1161;p39"/>
          <p:cNvCxnSpPr/>
          <p:nvPr/>
        </p:nvCxnSpPr>
        <p:spPr>
          <a:xfrm flipH="1" rot="4099552">
            <a:off x="5854700" y="5283200"/>
            <a:ext cx="449263" cy="271463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62" name="Google Shape;1162;p39"/>
          <p:cNvCxnSpPr/>
          <p:nvPr/>
        </p:nvCxnSpPr>
        <p:spPr>
          <a:xfrm rot="-4099552">
            <a:off x="4870450" y="5414963"/>
            <a:ext cx="457200" cy="15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63" name="Google Shape;1163;p39"/>
          <p:cNvCxnSpPr/>
          <p:nvPr/>
        </p:nvCxnSpPr>
        <p:spPr>
          <a:xfrm>
            <a:off x="1981200" y="5262563"/>
            <a:ext cx="5562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4" name="Google Shape;1164;p39"/>
          <p:cNvSpPr/>
          <p:nvPr/>
        </p:nvSpPr>
        <p:spPr>
          <a:xfrm flipH="1">
            <a:off x="2446338" y="4881563"/>
            <a:ext cx="601662" cy="341312"/>
          </a:xfrm>
          <a:custGeom>
            <a:rect b="b" l="l" r="r" t="t"/>
            <a:pathLst>
              <a:path extrusionOk="0" h="215" w="379">
                <a:moveTo>
                  <a:pt x="0" y="0"/>
                </a:moveTo>
                <a:lnTo>
                  <a:pt x="0" y="214"/>
                </a:lnTo>
                <a:lnTo>
                  <a:pt x="378" y="214"/>
                </a:lnTo>
                <a:lnTo>
                  <a:pt x="144" y="107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9"/>
          <p:cNvSpPr/>
          <p:nvPr/>
        </p:nvSpPr>
        <p:spPr>
          <a:xfrm>
            <a:off x="5634038" y="2933700"/>
            <a:ext cx="3133725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2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0.0668</a:t>
            </a:r>
            <a:endParaRPr/>
          </a:p>
        </p:txBody>
      </p:sp>
      <p:cxnSp>
        <p:nvCxnSpPr>
          <p:cNvPr id="1166" name="Google Shape;1166;p39"/>
          <p:cNvCxnSpPr/>
          <p:nvPr/>
        </p:nvCxnSpPr>
        <p:spPr>
          <a:xfrm flipH="1">
            <a:off x="3429000" y="3433763"/>
            <a:ext cx="2201863" cy="1371600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67" name="Google Shape;1167;p39"/>
          <p:cNvCxnSpPr/>
          <p:nvPr/>
        </p:nvCxnSpPr>
        <p:spPr>
          <a:xfrm flipH="1">
            <a:off x="2895600" y="4652963"/>
            <a:ext cx="3733800" cy="45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68" name="Google Shape;1168;p39"/>
          <p:cNvSpPr/>
          <p:nvPr/>
        </p:nvSpPr>
        <p:spPr>
          <a:xfrm>
            <a:off x="914400" y="5961063"/>
            <a:ext cx="8001000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Nilai 1.50 berada di daerah not Reject Region</a:t>
            </a:r>
            <a:endParaRPr/>
          </a:p>
        </p:txBody>
      </p:sp>
      <p:sp>
        <p:nvSpPr>
          <p:cNvPr id="1169" name="Google Shape;1169;p39"/>
          <p:cNvSpPr/>
          <p:nvPr/>
        </p:nvSpPr>
        <p:spPr>
          <a:xfrm flipH="1">
            <a:off x="2209800" y="4119563"/>
            <a:ext cx="893763" cy="1165225"/>
          </a:xfrm>
          <a:custGeom>
            <a:rect b="b" l="l" r="r" t="t"/>
            <a:pathLst>
              <a:path extrusionOk="0" h="686" w="563">
                <a:moveTo>
                  <a:pt x="0" y="685"/>
                </a:moveTo>
                <a:lnTo>
                  <a:pt x="0" y="0"/>
                </a:lnTo>
                <a:lnTo>
                  <a:pt x="562" y="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9"/>
          <p:cNvSpPr/>
          <p:nvPr/>
        </p:nvSpPr>
        <p:spPr>
          <a:xfrm>
            <a:off x="1905000" y="3586163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sp>
        <p:nvSpPr>
          <p:cNvPr id="1171" name="Google Shape;1171;p39"/>
          <p:cNvSpPr/>
          <p:nvPr/>
        </p:nvSpPr>
        <p:spPr>
          <a:xfrm flipH="1">
            <a:off x="2057400" y="4043363"/>
            <a:ext cx="147638" cy="147637"/>
          </a:xfrm>
          <a:custGeom>
            <a:rect b="b" l="l" r="r" t="t"/>
            <a:pathLst>
              <a:path extrusionOk="0" h="93" w="93">
                <a:moveTo>
                  <a:pt x="0" y="0"/>
                </a:moveTo>
                <a:lnTo>
                  <a:pt x="92" y="45"/>
                </a:lnTo>
                <a:lnTo>
                  <a:pt x="0" y="92"/>
                </a:lnTo>
                <a:lnTo>
                  <a:pt x="4" y="85"/>
                </a:lnTo>
                <a:lnTo>
                  <a:pt x="5" y="78"/>
                </a:lnTo>
                <a:lnTo>
                  <a:pt x="7" y="72"/>
                </a:lnTo>
                <a:lnTo>
                  <a:pt x="8" y="65"/>
                </a:lnTo>
                <a:lnTo>
                  <a:pt x="10" y="58"/>
                </a:lnTo>
                <a:lnTo>
                  <a:pt x="10" y="49"/>
                </a:lnTo>
                <a:lnTo>
                  <a:pt x="10" y="42"/>
                </a:lnTo>
                <a:lnTo>
                  <a:pt x="10" y="35"/>
                </a:lnTo>
                <a:lnTo>
                  <a:pt x="8" y="27"/>
                </a:lnTo>
                <a:lnTo>
                  <a:pt x="7" y="20"/>
                </a:lnTo>
                <a:lnTo>
                  <a:pt x="5" y="13"/>
                </a:lnTo>
                <a:lnTo>
                  <a:pt x="4" y="8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2" name="Google Shape;11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178" name="Google Shape;1178;p4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79" name="Google Shape;1179;p40"/>
          <p:cNvSpPr/>
          <p:nvPr/>
        </p:nvSpPr>
        <p:spPr>
          <a:xfrm>
            <a:off x="381000" y="4800600"/>
            <a:ext cx="8458200" cy="15240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0"/>
          <p:cNvSpPr/>
          <p:nvPr/>
        </p:nvSpPr>
        <p:spPr>
          <a:xfrm>
            <a:off x="381000" y="2133600"/>
            <a:ext cx="8458200" cy="2667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1" name="Google Shape;118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09800"/>
            <a:ext cx="7010400" cy="420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40"/>
          <p:cNvSpPr txBox="1"/>
          <p:nvPr>
            <p:ph type="title"/>
          </p:nvPr>
        </p:nvSpPr>
        <p:spPr>
          <a:xfrm>
            <a:off x="304800" y="6096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Hubungan dengan Confidence Interval</a:t>
            </a:r>
            <a:endParaRPr/>
          </a:p>
        </p:txBody>
      </p:sp>
      <p:pic>
        <p:nvPicPr>
          <p:cNvPr id="1183" name="Google Shape;118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189" name="Google Shape;1189;p4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0" name="Google Shape;1190;p4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Uji </a:t>
            </a:r>
            <a:r>
              <a:rPr i="1" lang="en-US"/>
              <a:t>t </a:t>
            </a:r>
            <a:r>
              <a:rPr lang="en-US"/>
              <a:t>(</a:t>
            </a:r>
            <a:r>
              <a:rPr i="1" lang="en-US"/>
              <a:t>one-tail</a:t>
            </a:r>
            <a:r>
              <a:rPr lang="en-US"/>
              <a:t>) untuk Mean </a:t>
            </a:r>
            <a:br>
              <a:rPr lang="en-US"/>
            </a:br>
            <a:r>
              <a:rPr lang="en-US"/>
              <a:t>(σ tidak diketahui)</a:t>
            </a:r>
            <a:endParaRPr/>
          </a:p>
        </p:txBody>
      </p:sp>
      <p:sp>
        <p:nvSpPr>
          <p:cNvPr id="1191" name="Google Shape;1191;p41"/>
          <p:cNvSpPr txBox="1"/>
          <p:nvPr>
            <p:ph idx="1" type="body"/>
          </p:nvPr>
        </p:nvSpPr>
        <p:spPr>
          <a:xfrm>
            <a:off x="381000" y="2209800"/>
            <a:ext cx="84582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/>
              <a:t>Assumption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Populasi terdistribusi secara normal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Jika populasi tidak normal, gunakan sampel besar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400"/>
              <a:buChar char="■"/>
            </a:pPr>
            <a:r>
              <a:rPr lang="en-US"/>
              <a:t>Statistik uji </a:t>
            </a:r>
            <a:r>
              <a:rPr i="1" lang="en-US"/>
              <a:t>t</a:t>
            </a:r>
            <a:r>
              <a:rPr lang="en-US"/>
              <a:t> dengan </a:t>
            </a:r>
            <a:r>
              <a:rPr i="1" lang="en-US"/>
              <a:t>n-1</a:t>
            </a:r>
            <a:r>
              <a:rPr lang="en-US"/>
              <a:t> derajat kebebasan</a:t>
            </a:r>
            <a:endParaRPr/>
          </a:p>
          <a:p>
            <a:pPr indent="-143510" lvl="1" marL="742950" rtl="0" algn="l">
              <a:spcBef>
                <a:spcPts val="56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i="1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240"/>
              <a:buChar char="◻"/>
            </a:pPr>
            <a:r>
              <a:rPr i="1" lang="en-US"/>
              <a:t>  </a:t>
            </a:r>
            <a:endParaRPr/>
          </a:p>
        </p:txBody>
      </p:sp>
      <p:pic>
        <p:nvPicPr>
          <p:cNvPr id="1192" name="Google Shape;11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4419600"/>
            <a:ext cx="2057400" cy="1366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199" name="Google Shape;1199;p4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00" name="Google Shape;1200;p42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Contoh: Uji t untuk μ (</a:t>
            </a:r>
            <a:r>
              <a:rPr i="1" lang="en-US"/>
              <a:t>one-tail)</a:t>
            </a:r>
            <a:endParaRPr/>
          </a:p>
        </p:txBody>
      </p:sp>
      <p:sp>
        <p:nvSpPr>
          <p:cNvPr id="1201" name="Google Shape;1201;p42"/>
          <p:cNvSpPr/>
          <p:nvPr/>
        </p:nvSpPr>
        <p:spPr>
          <a:xfrm>
            <a:off x="5943600" y="2057400"/>
            <a:ext cx="2057400" cy="2438400"/>
          </a:xfrm>
          <a:prstGeom prst="cube">
            <a:avLst>
              <a:gd fmla="val 12569" name="adj"/>
            </a:avLst>
          </a:prstGeom>
          <a:solidFill>
            <a:srgbClr val="B50069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2" name="Google Shape;12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438400"/>
            <a:ext cx="16764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42"/>
          <p:cNvSpPr/>
          <p:nvPr/>
        </p:nvSpPr>
        <p:spPr>
          <a:xfrm>
            <a:off x="6248400" y="3048000"/>
            <a:ext cx="914400" cy="838200"/>
          </a:xfrm>
          <a:prstGeom prst="star16">
            <a:avLst>
              <a:gd fmla="val 37500" name="adj"/>
            </a:avLst>
          </a:prstGeom>
          <a:solidFill>
            <a:srgbClr val="EAEC5E"/>
          </a:solidFill>
          <a:ln cap="flat" cmpd="sng" w="12700">
            <a:solidFill>
              <a:srgbClr val="EAEC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42"/>
          <p:cNvSpPr/>
          <p:nvPr/>
        </p:nvSpPr>
        <p:spPr>
          <a:xfrm>
            <a:off x="6165850" y="4032250"/>
            <a:ext cx="161290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368 gm.</a:t>
            </a:r>
            <a:endParaRPr/>
          </a:p>
        </p:txBody>
      </p:sp>
      <p:sp>
        <p:nvSpPr>
          <p:cNvPr id="1205" name="Google Shape;1205;p42"/>
          <p:cNvSpPr/>
          <p:nvPr/>
        </p:nvSpPr>
        <p:spPr>
          <a:xfrm>
            <a:off x="5715000" y="4953000"/>
            <a:ext cx="2286000" cy="955675"/>
          </a:xfrm>
          <a:prstGeom prst="rect">
            <a:avLst/>
          </a:prstGeom>
          <a:solidFill>
            <a:srgbClr val="E4E4F8"/>
          </a:solidFill>
          <a:ln cap="flat" cmpd="sng" w="12700">
            <a:solidFill>
              <a:srgbClr val="FF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 ≤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368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 &gt;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368</a:t>
            </a:r>
            <a:endParaRPr/>
          </a:p>
        </p:txBody>
      </p:sp>
      <p:sp>
        <p:nvSpPr>
          <p:cNvPr id="1206" name="Google Shape;1206;p42"/>
          <p:cNvSpPr/>
          <p:nvPr/>
        </p:nvSpPr>
        <p:spPr>
          <a:xfrm>
            <a:off x="609600" y="5029200"/>
            <a:ext cx="4133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2"/>
          <p:cNvSpPr/>
          <p:nvPr/>
        </p:nvSpPr>
        <p:spPr>
          <a:xfrm>
            <a:off x="685800" y="5562600"/>
            <a:ext cx="3352800" cy="576263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 diketahui</a:t>
            </a:r>
            <a:endParaRPr/>
          </a:p>
        </p:txBody>
      </p:sp>
      <p:sp>
        <p:nvSpPr>
          <p:cNvPr id="1208" name="Google Shape;1208;p42"/>
          <p:cNvSpPr txBox="1"/>
          <p:nvPr>
            <p:ph idx="1" type="body"/>
          </p:nvPr>
        </p:nvSpPr>
        <p:spPr>
          <a:xfrm>
            <a:off x="304800" y="1981200"/>
            <a:ext cx="4114800" cy="34290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Q. Apakah rata-rata kotak sereal berisi lebih dari 368 gr sereal?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Random sampel dari 36 kotak menunjukkan     = 372.5 dan s </a:t>
            </a:r>
            <a:r>
              <a:rPr b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15 gr.  Uji pada signifikan level </a:t>
            </a:r>
            <a:r>
              <a:rPr b="1" i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 </a:t>
            </a:r>
            <a:r>
              <a:rPr b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0.01.</a:t>
            </a:r>
            <a:endParaRPr/>
          </a:p>
        </p:txBody>
      </p:sp>
      <p:pic>
        <p:nvPicPr>
          <p:cNvPr id="1209" name="Google Shape;120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3657600"/>
            <a:ext cx="42703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216" name="Google Shape;1216;p4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17" name="Google Shape;1217;p43"/>
          <p:cNvSpPr/>
          <p:nvPr/>
        </p:nvSpPr>
        <p:spPr>
          <a:xfrm>
            <a:off x="2921000" y="3771900"/>
            <a:ext cx="990600" cy="4572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3"/>
          <p:cNvSpPr txBox="1"/>
          <p:nvPr>
            <p:ph idx="1" type="body"/>
          </p:nvPr>
        </p:nvSpPr>
        <p:spPr>
          <a:xfrm>
            <a:off x="533400" y="2743200"/>
            <a:ext cx="3848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 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= 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0.01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= 36, df = 35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Nilai Kritikal : 2.4377</a:t>
            </a:r>
            <a:endParaRPr/>
          </a:p>
        </p:txBody>
      </p:sp>
      <p:sp>
        <p:nvSpPr>
          <p:cNvPr id="1219" name="Google Shape;1219;p43"/>
          <p:cNvSpPr/>
          <p:nvPr/>
        </p:nvSpPr>
        <p:spPr>
          <a:xfrm>
            <a:off x="1981200" y="6248400"/>
            <a:ext cx="838200" cy="3810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3"/>
          <p:cNvSpPr/>
          <p:nvPr/>
        </p:nvSpPr>
        <p:spPr>
          <a:xfrm>
            <a:off x="8229600" y="2743200"/>
            <a:ext cx="762000" cy="4572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Uji t untuk μ (</a:t>
            </a:r>
            <a:r>
              <a:rPr i="1" lang="en-US"/>
              <a:t>one-tail)</a:t>
            </a:r>
            <a:endParaRPr/>
          </a:p>
        </p:txBody>
      </p:sp>
      <p:sp>
        <p:nvSpPr>
          <p:cNvPr id="1222" name="Google Shape;1222;p43"/>
          <p:cNvSpPr/>
          <p:nvPr/>
        </p:nvSpPr>
        <p:spPr>
          <a:xfrm>
            <a:off x="4724400" y="18288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Uji statistik: </a:t>
            </a:r>
            <a:endParaRPr/>
          </a:p>
          <a:p>
            <a:pPr indent="0" lvl="0" marL="0" marR="0" rtl="0" algn="l">
              <a:spcBef>
                <a:spcPts val="120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Keputusan: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Kesimpulan: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3" name="Google Shape;1223;p43"/>
          <p:cNvSpPr/>
          <p:nvPr/>
        </p:nvSpPr>
        <p:spPr>
          <a:xfrm>
            <a:off x="4719638" y="4567238"/>
            <a:ext cx="4200525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 menolak pada </a:t>
            </a:r>
            <a:r>
              <a:rPr i="1"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.01 (menerima)</a:t>
            </a:r>
            <a:endParaRPr/>
          </a:p>
        </p:txBody>
      </p:sp>
      <p:sp>
        <p:nvSpPr>
          <p:cNvPr id="1224" name="Google Shape;1224;p43"/>
          <p:cNvSpPr/>
          <p:nvPr/>
        </p:nvSpPr>
        <p:spPr>
          <a:xfrm>
            <a:off x="4724400" y="5562600"/>
            <a:ext cx="4343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Tidak ada bukti yang cukup kuat bahwa mean &gt; 368</a:t>
            </a:r>
            <a:endParaRPr/>
          </a:p>
        </p:txBody>
      </p:sp>
      <p:cxnSp>
        <p:nvCxnSpPr>
          <p:cNvPr id="1225" name="Google Shape;1225;p43"/>
          <p:cNvCxnSpPr/>
          <p:nvPr/>
        </p:nvCxnSpPr>
        <p:spPr>
          <a:xfrm>
            <a:off x="4343400" y="3810000"/>
            <a:ext cx="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43"/>
          <p:cNvCxnSpPr/>
          <p:nvPr/>
        </p:nvCxnSpPr>
        <p:spPr>
          <a:xfrm>
            <a:off x="2174875" y="4538663"/>
            <a:ext cx="0" cy="1128712"/>
          </a:xfrm>
          <a:prstGeom prst="straightConnector1">
            <a:avLst/>
          </a:prstGeom>
          <a:noFill/>
          <a:ln cap="flat" cmpd="sng" w="12700">
            <a:solidFill>
              <a:srgbClr val="FFFF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43"/>
          <p:cNvSpPr/>
          <p:nvPr/>
        </p:nvSpPr>
        <p:spPr>
          <a:xfrm>
            <a:off x="2701925" y="5070475"/>
            <a:ext cx="642938" cy="650875"/>
          </a:xfrm>
          <a:custGeom>
            <a:rect b="b" l="l" r="r" t="t"/>
            <a:pathLst>
              <a:path extrusionOk="0" h="410" w="405">
                <a:moveTo>
                  <a:pt x="0" y="0"/>
                </a:moveTo>
                <a:lnTo>
                  <a:pt x="0" y="409"/>
                </a:lnTo>
                <a:lnTo>
                  <a:pt x="404" y="409"/>
                </a:lnTo>
                <a:lnTo>
                  <a:pt x="356" y="388"/>
                </a:lnTo>
                <a:lnTo>
                  <a:pt x="307" y="364"/>
                </a:lnTo>
                <a:lnTo>
                  <a:pt x="263" y="333"/>
                </a:lnTo>
                <a:lnTo>
                  <a:pt x="221" y="302"/>
                </a:lnTo>
                <a:lnTo>
                  <a:pt x="179" y="267"/>
                </a:lnTo>
                <a:lnTo>
                  <a:pt x="141" y="228"/>
                </a:lnTo>
                <a:lnTo>
                  <a:pt x="106" y="187"/>
                </a:lnTo>
                <a:lnTo>
                  <a:pt x="75" y="144"/>
                </a:lnTo>
                <a:lnTo>
                  <a:pt x="47" y="98"/>
                </a:lnTo>
                <a:lnTo>
                  <a:pt x="22" y="49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3"/>
          <p:cNvSpPr/>
          <p:nvPr/>
        </p:nvSpPr>
        <p:spPr>
          <a:xfrm>
            <a:off x="2174875" y="4411663"/>
            <a:ext cx="1389063" cy="1338262"/>
          </a:xfrm>
          <a:custGeom>
            <a:rect b="b" l="l" r="r" t="t"/>
            <a:pathLst>
              <a:path extrusionOk="0" h="843" w="875">
                <a:moveTo>
                  <a:pt x="874" y="842"/>
                </a:moveTo>
                <a:lnTo>
                  <a:pt x="782" y="831"/>
                </a:lnTo>
                <a:lnTo>
                  <a:pt x="735" y="822"/>
                </a:lnTo>
                <a:lnTo>
                  <a:pt x="690" y="808"/>
                </a:lnTo>
                <a:lnTo>
                  <a:pt x="643" y="789"/>
                </a:lnTo>
                <a:lnTo>
                  <a:pt x="598" y="763"/>
                </a:lnTo>
                <a:lnTo>
                  <a:pt x="551" y="729"/>
                </a:lnTo>
                <a:lnTo>
                  <a:pt x="459" y="631"/>
                </a:lnTo>
                <a:lnTo>
                  <a:pt x="368" y="493"/>
                </a:lnTo>
                <a:lnTo>
                  <a:pt x="276" y="329"/>
                </a:lnTo>
                <a:lnTo>
                  <a:pt x="230" y="245"/>
                </a:lnTo>
                <a:lnTo>
                  <a:pt x="183" y="165"/>
                </a:lnTo>
                <a:lnTo>
                  <a:pt x="137" y="98"/>
                </a:lnTo>
                <a:lnTo>
                  <a:pt x="92" y="45"/>
                </a:lnTo>
                <a:lnTo>
                  <a:pt x="45" y="11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3"/>
          <p:cNvSpPr/>
          <p:nvPr/>
        </p:nvSpPr>
        <p:spPr>
          <a:xfrm>
            <a:off x="787400" y="4411663"/>
            <a:ext cx="1389063" cy="1338262"/>
          </a:xfrm>
          <a:custGeom>
            <a:rect b="b" l="l" r="r" t="t"/>
            <a:pathLst>
              <a:path extrusionOk="0" h="843" w="875">
                <a:moveTo>
                  <a:pt x="0" y="842"/>
                </a:moveTo>
                <a:lnTo>
                  <a:pt x="92" y="831"/>
                </a:lnTo>
                <a:lnTo>
                  <a:pt x="137" y="822"/>
                </a:lnTo>
                <a:lnTo>
                  <a:pt x="183" y="808"/>
                </a:lnTo>
                <a:lnTo>
                  <a:pt x="229" y="789"/>
                </a:lnTo>
                <a:lnTo>
                  <a:pt x="276" y="763"/>
                </a:lnTo>
                <a:lnTo>
                  <a:pt x="321" y="729"/>
                </a:lnTo>
                <a:lnTo>
                  <a:pt x="414" y="631"/>
                </a:lnTo>
                <a:lnTo>
                  <a:pt x="506" y="493"/>
                </a:lnTo>
                <a:lnTo>
                  <a:pt x="598" y="329"/>
                </a:lnTo>
                <a:lnTo>
                  <a:pt x="643" y="245"/>
                </a:lnTo>
                <a:lnTo>
                  <a:pt x="690" y="165"/>
                </a:lnTo>
                <a:lnTo>
                  <a:pt x="735" y="98"/>
                </a:lnTo>
                <a:lnTo>
                  <a:pt x="782" y="45"/>
                </a:lnTo>
                <a:lnTo>
                  <a:pt x="827" y="11"/>
                </a:lnTo>
                <a:lnTo>
                  <a:pt x="874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3"/>
          <p:cNvSpPr/>
          <p:nvPr/>
        </p:nvSpPr>
        <p:spPr>
          <a:xfrm>
            <a:off x="3429000" y="5867400"/>
            <a:ext cx="55245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1" i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3"/>
          <p:cNvSpPr/>
          <p:nvPr/>
        </p:nvSpPr>
        <p:spPr>
          <a:xfrm>
            <a:off x="1974850" y="5784850"/>
            <a:ext cx="385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2" name="Google Shape;1232;p43"/>
          <p:cNvSpPr/>
          <p:nvPr/>
        </p:nvSpPr>
        <p:spPr>
          <a:xfrm>
            <a:off x="2362200" y="5791200"/>
            <a:ext cx="1019175" cy="454025"/>
          </a:xfrm>
          <a:prstGeom prst="rect">
            <a:avLst/>
          </a:prstGeom>
          <a:solidFill>
            <a:srgbClr val="FFCDFF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2.4377</a:t>
            </a:r>
            <a:endParaRPr/>
          </a:p>
        </p:txBody>
      </p:sp>
      <p:sp>
        <p:nvSpPr>
          <p:cNvPr id="1233" name="Google Shape;1233;p43"/>
          <p:cNvSpPr/>
          <p:nvPr/>
        </p:nvSpPr>
        <p:spPr>
          <a:xfrm>
            <a:off x="3095625" y="4803775"/>
            <a:ext cx="5619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.01</a:t>
            </a:r>
            <a:endParaRPr/>
          </a:p>
        </p:txBody>
      </p:sp>
      <p:sp>
        <p:nvSpPr>
          <p:cNvPr id="1234" name="Google Shape;1234;p43"/>
          <p:cNvSpPr/>
          <p:nvPr/>
        </p:nvSpPr>
        <p:spPr>
          <a:xfrm>
            <a:off x="2860675" y="5202238"/>
            <a:ext cx="455613" cy="301625"/>
          </a:xfrm>
          <a:custGeom>
            <a:rect b="b" l="l" r="r" t="t"/>
            <a:pathLst>
              <a:path extrusionOk="0" h="190" w="287">
                <a:moveTo>
                  <a:pt x="286" y="0"/>
                </a:moveTo>
                <a:lnTo>
                  <a:pt x="282" y="23"/>
                </a:lnTo>
                <a:lnTo>
                  <a:pt x="275" y="45"/>
                </a:lnTo>
                <a:lnTo>
                  <a:pt x="264" y="66"/>
                </a:lnTo>
                <a:lnTo>
                  <a:pt x="247" y="84"/>
                </a:lnTo>
                <a:lnTo>
                  <a:pt x="229" y="99"/>
                </a:lnTo>
                <a:lnTo>
                  <a:pt x="208" y="109"/>
                </a:lnTo>
                <a:lnTo>
                  <a:pt x="186" y="116"/>
                </a:lnTo>
                <a:lnTo>
                  <a:pt x="161" y="119"/>
                </a:lnTo>
                <a:lnTo>
                  <a:pt x="138" y="116"/>
                </a:lnTo>
                <a:lnTo>
                  <a:pt x="115" y="113"/>
                </a:lnTo>
                <a:lnTo>
                  <a:pt x="91" y="115"/>
                </a:lnTo>
                <a:lnTo>
                  <a:pt x="68" y="122"/>
                </a:lnTo>
                <a:lnTo>
                  <a:pt x="47" y="133"/>
                </a:lnTo>
                <a:lnTo>
                  <a:pt x="28" y="148"/>
                </a:lnTo>
                <a:lnTo>
                  <a:pt x="13" y="165"/>
                </a:lnTo>
                <a:lnTo>
                  <a:pt x="1" y="186"/>
                </a:lnTo>
                <a:lnTo>
                  <a:pt x="0" y="189"/>
                </a:lnTo>
              </a:path>
            </a:pathLst>
          </a:custGeom>
          <a:noFill/>
          <a:ln cap="rnd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3"/>
          <p:cNvSpPr/>
          <p:nvPr/>
        </p:nvSpPr>
        <p:spPr>
          <a:xfrm>
            <a:off x="2671763" y="4267200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cxnSp>
        <p:nvCxnSpPr>
          <p:cNvPr id="1236" name="Google Shape;1236;p43"/>
          <p:cNvCxnSpPr/>
          <p:nvPr/>
        </p:nvCxnSpPr>
        <p:spPr>
          <a:xfrm rot="10800000">
            <a:off x="2640013" y="4714875"/>
            <a:ext cx="639762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43"/>
          <p:cNvSpPr/>
          <p:nvPr/>
        </p:nvSpPr>
        <p:spPr>
          <a:xfrm>
            <a:off x="3197225" y="4668838"/>
            <a:ext cx="87313" cy="85725"/>
          </a:xfrm>
          <a:custGeom>
            <a:rect b="b" l="l" r="r" t="t"/>
            <a:pathLst>
              <a:path extrusionOk="0" h="54" w="55">
                <a:moveTo>
                  <a:pt x="0" y="53"/>
                </a:moveTo>
                <a:lnTo>
                  <a:pt x="54" y="26"/>
                </a:lnTo>
                <a:lnTo>
                  <a:pt x="0" y="0"/>
                </a:lnTo>
                <a:lnTo>
                  <a:pt x="0" y="53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8" name="Google Shape;1238;p43"/>
          <p:cNvCxnSpPr/>
          <p:nvPr/>
        </p:nvCxnSpPr>
        <p:spPr>
          <a:xfrm rot="10800000">
            <a:off x="2667000" y="4665663"/>
            <a:ext cx="0" cy="1120775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9" name="Google Shape;1239;p43"/>
          <p:cNvSpPr/>
          <p:nvPr/>
        </p:nvSpPr>
        <p:spPr>
          <a:xfrm>
            <a:off x="527050" y="1746250"/>
            <a:ext cx="22987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 ≤ 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368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  &gt;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368</a:t>
            </a:r>
            <a:endParaRPr/>
          </a:p>
        </p:txBody>
      </p:sp>
      <p:pic>
        <p:nvPicPr>
          <p:cNvPr id="1240" name="Google Shape;124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438400"/>
            <a:ext cx="4572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43"/>
          <p:cNvSpPr txBox="1"/>
          <p:nvPr/>
        </p:nvSpPr>
        <p:spPr>
          <a:xfrm>
            <a:off x="1981200" y="6213475"/>
            <a:ext cx="717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1.80</a:t>
            </a:r>
            <a:endParaRPr/>
          </a:p>
        </p:txBody>
      </p:sp>
      <p:cxnSp>
        <p:nvCxnSpPr>
          <p:cNvPr id="1242" name="Google Shape;1242;p43"/>
          <p:cNvCxnSpPr/>
          <p:nvPr/>
        </p:nvCxnSpPr>
        <p:spPr>
          <a:xfrm>
            <a:off x="762000" y="5821363"/>
            <a:ext cx="2819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43" name="Google Shape;1243;p43"/>
          <p:cNvSpPr/>
          <p:nvPr/>
        </p:nvSpPr>
        <p:spPr>
          <a:xfrm>
            <a:off x="2743200" y="5486400"/>
            <a:ext cx="157163" cy="152400"/>
          </a:xfrm>
          <a:custGeom>
            <a:rect b="b" l="l" r="r" t="t"/>
            <a:pathLst>
              <a:path extrusionOk="0" h="45" w="39">
                <a:moveTo>
                  <a:pt x="38" y="9"/>
                </a:moveTo>
                <a:lnTo>
                  <a:pt x="11" y="44"/>
                </a:lnTo>
                <a:lnTo>
                  <a:pt x="0" y="0"/>
                </a:lnTo>
                <a:lnTo>
                  <a:pt x="38" y="9"/>
                </a:lnTo>
              </a:path>
            </a:pathLst>
          </a:custGeom>
          <a:solidFill>
            <a:schemeClr val="dk2"/>
          </a:solidFill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4" name="Google Shape;124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250" name="Google Shape;1250;p4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51" name="Google Shape;1251;p44"/>
          <p:cNvSpPr txBox="1"/>
          <p:nvPr>
            <p:ph type="title"/>
          </p:nvPr>
        </p:nvSpPr>
        <p:spPr>
          <a:xfrm>
            <a:off x="152400" y="457200"/>
            <a:ext cx="883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</a:t>
            </a:r>
            <a:r>
              <a:rPr i="1" lang="en-US"/>
              <a:t>p </a:t>
            </a:r>
            <a:r>
              <a:rPr lang="en-US"/>
              <a:t>-Value untuk μ (</a:t>
            </a:r>
            <a:r>
              <a:rPr i="1" lang="en-US"/>
              <a:t>one-tail)</a:t>
            </a:r>
            <a:endParaRPr/>
          </a:p>
        </p:txBody>
      </p:sp>
      <p:cxnSp>
        <p:nvCxnSpPr>
          <p:cNvPr id="1252" name="Google Shape;1252;p44"/>
          <p:cNvCxnSpPr/>
          <p:nvPr/>
        </p:nvCxnSpPr>
        <p:spPr>
          <a:xfrm>
            <a:off x="4473575" y="3295650"/>
            <a:ext cx="0" cy="19621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53" name="Google Shape;1253;p44"/>
          <p:cNvSpPr/>
          <p:nvPr/>
        </p:nvSpPr>
        <p:spPr>
          <a:xfrm>
            <a:off x="5334000" y="4191000"/>
            <a:ext cx="1065213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9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4"/>
          <p:cNvSpPr/>
          <p:nvPr/>
        </p:nvSpPr>
        <p:spPr>
          <a:xfrm>
            <a:off x="4260850" y="5397500"/>
            <a:ext cx="392113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55" name="Google Shape;1255;p44"/>
          <p:cNvSpPr/>
          <p:nvPr/>
        </p:nvSpPr>
        <p:spPr>
          <a:xfrm>
            <a:off x="4648200" y="5672138"/>
            <a:ext cx="725488" cy="42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1.80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44"/>
          <p:cNvSpPr/>
          <p:nvPr/>
        </p:nvSpPr>
        <p:spPr>
          <a:xfrm>
            <a:off x="5875338" y="5029200"/>
            <a:ext cx="601662" cy="341313"/>
          </a:xfrm>
          <a:custGeom>
            <a:rect b="b" l="l" r="r" t="t"/>
            <a:pathLst>
              <a:path extrusionOk="0" h="215" w="379">
                <a:moveTo>
                  <a:pt x="0" y="0"/>
                </a:moveTo>
                <a:lnTo>
                  <a:pt x="0" y="214"/>
                </a:lnTo>
                <a:lnTo>
                  <a:pt x="378" y="214"/>
                </a:lnTo>
                <a:lnTo>
                  <a:pt x="144" y="107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4"/>
          <p:cNvSpPr/>
          <p:nvPr/>
        </p:nvSpPr>
        <p:spPr>
          <a:xfrm>
            <a:off x="4473575" y="3073400"/>
            <a:ext cx="2287588" cy="2200275"/>
          </a:xfrm>
          <a:custGeom>
            <a:rect b="b" l="l" r="r" t="t"/>
            <a:pathLst>
              <a:path extrusionOk="0" h="1386" w="1441">
                <a:moveTo>
                  <a:pt x="1440" y="1385"/>
                </a:moveTo>
                <a:lnTo>
                  <a:pt x="1289" y="1368"/>
                </a:lnTo>
                <a:lnTo>
                  <a:pt x="1214" y="1352"/>
                </a:lnTo>
                <a:lnTo>
                  <a:pt x="1137" y="1329"/>
                </a:lnTo>
                <a:lnTo>
                  <a:pt x="1062" y="1299"/>
                </a:lnTo>
                <a:lnTo>
                  <a:pt x="985" y="1255"/>
                </a:lnTo>
                <a:lnTo>
                  <a:pt x="910" y="1199"/>
                </a:lnTo>
                <a:lnTo>
                  <a:pt x="759" y="1038"/>
                </a:lnTo>
                <a:lnTo>
                  <a:pt x="607" y="811"/>
                </a:lnTo>
                <a:lnTo>
                  <a:pt x="455" y="541"/>
                </a:lnTo>
                <a:lnTo>
                  <a:pt x="380" y="403"/>
                </a:lnTo>
                <a:lnTo>
                  <a:pt x="304" y="272"/>
                </a:lnTo>
                <a:lnTo>
                  <a:pt x="229" y="161"/>
                </a:lnTo>
                <a:lnTo>
                  <a:pt x="152" y="73"/>
                </a:lnTo>
                <a:lnTo>
                  <a:pt x="77" y="19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4"/>
          <p:cNvSpPr/>
          <p:nvPr/>
        </p:nvSpPr>
        <p:spPr>
          <a:xfrm>
            <a:off x="2187575" y="3073400"/>
            <a:ext cx="2287588" cy="2200275"/>
          </a:xfrm>
          <a:custGeom>
            <a:rect b="b" l="l" r="r" t="t"/>
            <a:pathLst>
              <a:path extrusionOk="0" h="1386" w="1441">
                <a:moveTo>
                  <a:pt x="0" y="1385"/>
                </a:moveTo>
                <a:lnTo>
                  <a:pt x="152" y="1368"/>
                </a:lnTo>
                <a:lnTo>
                  <a:pt x="229" y="1352"/>
                </a:lnTo>
                <a:lnTo>
                  <a:pt x="303" y="1329"/>
                </a:lnTo>
                <a:lnTo>
                  <a:pt x="378" y="1299"/>
                </a:lnTo>
                <a:lnTo>
                  <a:pt x="455" y="1255"/>
                </a:lnTo>
                <a:lnTo>
                  <a:pt x="530" y="1199"/>
                </a:lnTo>
                <a:lnTo>
                  <a:pt x="684" y="1038"/>
                </a:lnTo>
                <a:lnTo>
                  <a:pt x="833" y="811"/>
                </a:lnTo>
                <a:lnTo>
                  <a:pt x="985" y="541"/>
                </a:lnTo>
                <a:lnTo>
                  <a:pt x="1062" y="403"/>
                </a:lnTo>
                <a:lnTo>
                  <a:pt x="1137" y="272"/>
                </a:lnTo>
                <a:lnTo>
                  <a:pt x="1214" y="161"/>
                </a:lnTo>
                <a:lnTo>
                  <a:pt x="1288" y="73"/>
                </a:lnTo>
                <a:lnTo>
                  <a:pt x="1365" y="19"/>
                </a:lnTo>
                <a:lnTo>
                  <a:pt x="144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4"/>
          <p:cNvSpPr/>
          <p:nvPr/>
        </p:nvSpPr>
        <p:spPr>
          <a:xfrm>
            <a:off x="6934200" y="5334000"/>
            <a:ext cx="59055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baseline="-25000" i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1" i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44"/>
          <p:cNvSpPr/>
          <p:nvPr/>
        </p:nvSpPr>
        <p:spPr>
          <a:xfrm>
            <a:off x="6089650" y="3727450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sp>
        <p:nvSpPr>
          <p:cNvPr id="1261" name="Google Shape;1261;p44"/>
          <p:cNvSpPr/>
          <p:nvPr/>
        </p:nvSpPr>
        <p:spPr>
          <a:xfrm>
            <a:off x="5867400" y="4244975"/>
            <a:ext cx="893763" cy="1165225"/>
          </a:xfrm>
          <a:custGeom>
            <a:rect b="b" l="l" r="r" t="t"/>
            <a:pathLst>
              <a:path extrusionOk="0" h="686" w="563">
                <a:moveTo>
                  <a:pt x="0" y="685"/>
                </a:moveTo>
                <a:lnTo>
                  <a:pt x="0" y="0"/>
                </a:lnTo>
                <a:lnTo>
                  <a:pt x="562" y="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4"/>
          <p:cNvSpPr/>
          <p:nvPr/>
        </p:nvSpPr>
        <p:spPr>
          <a:xfrm>
            <a:off x="6711950" y="4191000"/>
            <a:ext cx="147638" cy="147638"/>
          </a:xfrm>
          <a:custGeom>
            <a:rect b="b" l="l" r="r" t="t"/>
            <a:pathLst>
              <a:path extrusionOk="0" h="93" w="93">
                <a:moveTo>
                  <a:pt x="0" y="0"/>
                </a:moveTo>
                <a:lnTo>
                  <a:pt x="92" y="45"/>
                </a:lnTo>
                <a:lnTo>
                  <a:pt x="0" y="92"/>
                </a:lnTo>
                <a:lnTo>
                  <a:pt x="4" y="85"/>
                </a:lnTo>
                <a:lnTo>
                  <a:pt x="5" y="78"/>
                </a:lnTo>
                <a:lnTo>
                  <a:pt x="7" y="72"/>
                </a:lnTo>
                <a:lnTo>
                  <a:pt x="8" y="65"/>
                </a:lnTo>
                <a:lnTo>
                  <a:pt x="10" y="58"/>
                </a:lnTo>
                <a:lnTo>
                  <a:pt x="10" y="49"/>
                </a:lnTo>
                <a:lnTo>
                  <a:pt x="10" y="42"/>
                </a:lnTo>
                <a:lnTo>
                  <a:pt x="10" y="35"/>
                </a:lnTo>
                <a:lnTo>
                  <a:pt x="8" y="27"/>
                </a:lnTo>
                <a:lnTo>
                  <a:pt x="7" y="20"/>
                </a:lnTo>
                <a:lnTo>
                  <a:pt x="5" y="13"/>
                </a:lnTo>
                <a:lnTo>
                  <a:pt x="4" y="8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44"/>
          <p:cNvSpPr/>
          <p:nvPr/>
        </p:nvSpPr>
        <p:spPr>
          <a:xfrm>
            <a:off x="304800" y="1676400"/>
            <a:ext cx="8458200" cy="10636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diantara .025 dan .05) </a:t>
            </a:r>
            <a:r>
              <a:rPr b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0.01).  </a:t>
            </a:r>
            <a:b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Jangan tolak, terima.</a:t>
            </a:r>
            <a:endParaRPr/>
          </a:p>
        </p:txBody>
      </p:sp>
      <p:sp>
        <p:nvSpPr>
          <p:cNvPr id="1264" name="Google Shape;1264;p44"/>
          <p:cNvSpPr/>
          <p:nvPr/>
        </p:nvSpPr>
        <p:spPr>
          <a:xfrm>
            <a:off x="5634038" y="3081338"/>
            <a:ext cx="3133725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[.025, .05] </a:t>
            </a:r>
            <a:endParaRPr/>
          </a:p>
        </p:txBody>
      </p:sp>
      <p:sp>
        <p:nvSpPr>
          <p:cNvPr id="1265" name="Google Shape;1265;p44"/>
          <p:cNvSpPr/>
          <p:nvPr/>
        </p:nvSpPr>
        <p:spPr>
          <a:xfrm>
            <a:off x="6619875" y="4498975"/>
            <a:ext cx="1762125" cy="454025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0.01</a:t>
            </a:r>
            <a:endParaRPr/>
          </a:p>
        </p:txBody>
      </p:sp>
      <p:cxnSp>
        <p:nvCxnSpPr>
          <p:cNvPr id="1266" name="Google Shape;1266;p44"/>
          <p:cNvCxnSpPr/>
          <p:nvPr/>
        </p:nvCxnSpPr>
        <p:spPr>
          <a:xfrm flipH="1">
            <a:off x="5424488" y="3684588"/>
            <a:ext cx="373062" cy="1109662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67" name="Google Shape;1267;p44"/>
          <p:cNvCxnSpPr/>
          <p:nvPr/>
        </p:nvCxnSpPr>
        <p:spPr>
          <a:xfrm flipH="1">
            <a:off x="6019800" y="4953000"/>
            <a:ext cx="685800" cy="30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8" name="Google Shape;1268;p44"/>
          <p:cNvSpPr/>
          <p:nvPr/>
        </p:nvSpPr>
        <p:spPr>
          <a:xfrm>
            <a:off x="609600" y="6037263"/>
            <a:ext cx="7924800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Nilai 1.80 berada di daerah non Reject Region</a:t>
            </a:r>
            <a:endParaRPr/>
          </a:p>
        </p:txBody>
      </p:sp>
      <p:sp>
        <p:nvSpPr>
          <p:cNvPr id="1269" name="Google Shape;1269;p44"/>
          <p:cNvSpPr/>
          <p:nvPr/>
        </p:nvSpPr>
        <p:spPr>
          <a:xfrm>
            <a:off x="2514600" y="5332413"/>
            <a:ext cx="3273425" cy="153987"/>
          </a:xfrm>
          <a:custGeom>
            <a:rect b="b" l="l" r="r" t="t"/>
            <a:pathLst>
              <a:path extrusionOk="0" h="97" w="2062">
                <a:moveTo>
                  <a:pt x="0" y="48"/>
                </a:moveTo>
                <a:lnTo>
                  <a:pt x="412" y="96"/>
                </a:lnTo>
                <a:lnTo>
                  <a:pt x="412" y="72"/>
                </a:lnTo>
                <a:lnTo>
                  <a:pt x="1649" y="72"/>
                </a:lnTo>
                <a:lnTo>
                  <a:pt x="1649" y="96"/>
                </a:lnTo>
                <a:lnTo>
                  <a:pt x="2061" y="48"/>
                </a:lnTo>
                <a:lnTo>
                  <a:pt x="1649" y="0"/>
                </a:lnTo>
                <a:lnTo>
                  <a:pt x="1649" y="24"/>
                </a:lnTo>
                <a:lnTo>
                  <a:pt x="412" y="24"/>
                </a:lnTo>
                <a:lnTo>
                  <a:pt x="412" y="0"/>
                </a:lnTo>
                <a:lnTo>
                  <a:pt x="0" y="48"/>
                </a:lnTo>
              </a:path>
            </a:pathLst>
          </a:custGeom>
          <a:solidFill>
            <a:srgbClr val="E4E4F8"/>
          </a:solidFill>
          <a:ln cap="rnd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0" name="Google Shape;1270;p44"/>
          <p:cNvCxnSpPr/>
          <p:nvPr/>
        </p:nvCxnSpPr>
        <p:spPr>
          <a:xfrm>
            <a:off x="5910263" y="5029200"/>
            <a:ext cx="15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1" name="Google Shape;1271;p44"/>
          <p:cNvSpPr txBox="1"/>
          <p:nvPr/>
        </p:nvSpPr>
        <p:spPr>
          <a:xfrm>
            <a:off x="5791200" y="5638800"/>
            <a:ext cx="1022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2.4377</a:t>
            </a:r>
            <a:endParaRPr/>
          </a:p>
        </p:txBody>
      </p:sp>
      <p:cxnSp>
        <p:nvCxnSpPr>
          <p:cNvPr id="1272" name="Google Shape;1272;p44"/>
          <p:cNvCxnSpPr/>
          <p:nvPr/>
        </p:nvCxnSpPr>
        <p:spPr>
          <a:xfrm flipH="1" rot="4099552">
            <a:off x="5854701" y="5430837"/>
            <a:ext cx="449262" cy="271463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73" name="Google Shape;1273;p44"/>
          <p:cNvCxnSpPr/>
          <p:nvPr/>
        </p:nvCxnSpPr>
        <p:spPr>
          <a:xfrm rot="-4099552">
            <a:off x="4870450" y="5562600"/>
            <a:ext cx="457200" cy="15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74" name="Google Shape;1274;p44"/>
          <p:cNvCxnSpPr/>
          <p:nvPr/>
        </p:nvCxnSpPr>
        <p:spPr>
          <a:xfrm>
            <a:off x="1981200" y="5410200"/>
            <a:ext cx="5562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5" name="Google Shape;127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281" name="Google Shape;1281;p4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2" name="Google Shape;1282;p4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Uji Proporsi Populasi</a:t>
            </a:r>
            <a:endParaRPr/>
          </a:p>
        </p:txBody>
      </p:sp>
      <p:sp>
        <p:nvSpPr>
          <p:cNvPr id="1283" name="Google Shape;1283;p45"/>
          <p:cNvSpPr txBox="1"/>
          <p:nvPr>
            <p:ph idx="1" type="body"/>
          </p:nvPr>
        </p:nvSpPr>
        <p:spPr>
          <a:xfrm>
            <a:off x="228600" y="1752600"/>
            <a:ext cx="8686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Terdapat variabel yang bernilai kategorikal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Terdapat 2 kemungkinan hasil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“success” (memiliki karakteristik tertentu) dan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“failure” (tidak memiliki karakteristik tertentu)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Dinotasikan dengan p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Untuk sampel proporsi sbb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100"/>
              <a:buChar char="■"/>
            </a:pPr>
            <a:r>
              <a:rPr lang="en-US" sz="2800"/>
              <a:t>Pendekatan secara Normal digunakan jika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400"/>
              <a:t>np ≥ 5 dan n(1-p) ≥ 5</a:t>
            </a:r>
            <a:endParaRPr sz="2000"/>
          </a:p>
          <a:p>
            <a:pPr indent="-247650" lvl="0" marL="342900" rtl="0" algn="l"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000"/>
          </a:p>
        </p:txBody>
      </p:sp>
      <p:pic>
        <p:nvPicPr>
          <p:cNvPr id="1284" name="Google Shape;12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3733800"/>
            <a:ext cx="38862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5486400"/>
            <a:ext cx="1600200" cy="75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5105400"/>
            <a:ext cx="2895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293" name="Google Shape;1293;p4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94" name="Google Shape;1294;p4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Contoh: Uji Z untuk p (</a:t>
            </a:r>
            <a:r>
              <a:rPr i="1" lang="en-US"/>
              <a:t>one-tail)</a:t>
            </a:r>
            <a:endParaRPr/>
          </a:p>
        </p:txBody>
      </p:sp>
      <p:sp>
        <p:nvSpPr>
          <p:cNvPr id="1295" name="Google Shape;1295;p46"/>
          <p:cNvSpPr/>
          <p:nvPr/>
        </p:nvSpPr>
        <p:spPr>
          <a:xfrm>
            <a:off x="609600" y="5029200"/>
            <a:ext cx="4133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6" name="Google Shape;129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905000"/>
            <a:ext cx="1328738" cy="969963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46"/>
          <p:cNvSpPr txBox="1"/>
          <p:nvPr>
            <p:ph idx="1" type="body"/>
          </p:nvPr>
        </p:nvSpPr>
        <p:spPr>
          <a:xfrm>
            <a:off x="381000" y="2249488"/>
            <a:ext cx="4343400" cy="39227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Q. Bagian pemasaran mengklaim bahwa sebuah survey akan memiliki tingkat respon 4%. 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Untuk mengujinya, random sampel dari 500 obyek disurvey dengan response 25 orang.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400"/>
              <a:t>Uji pada signifikan level </a:t>
            </a:r>
            <a:r>
              <a:rPr i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/>
              <a:t> = .05.</a:t>
            </a:r>
            <a:endParaRPr/>
          </a:p>
        </p:txBody>
      </p:sp>
      <p:pic>
        <p:nvPicPr>
          <p:cNvPr id="1298" name="Google Shape;129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895600"/>
            <a:ext cx="3962400" cy="3259138"/>
          </a:xfrm>
          <a:prstGeom prst="rect">
            <a:avLst/>
          </a:prstGeom>
          <a:solidFill>
            <a:srgbClr val="E4E4F8"/>
          </a:solidFill>
          <a:ln>
            <a:noFill/>
          </a:ln>
        </p:spPr>
      </p:pic>
      <p:pic>
        <p:nvPicPr>
          <p:cNvPr id="1299" name="Google Shape;129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305" name="Google Shape;1305;p4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6" name="Google Shape;1306;p47"/>
          <p:cNvSpPr/>
          <p:nvPr/>
        </p:nvSpPr>
        <p:spPr>
          <a:xfrm>
            <a:off x="8153400" y="2286000"/>
            <a:ext cx="685800" cy="3810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7" name="Google Shape;130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2057400"/>
            <a:ext cx="53721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47"/>
          <p:cNvSpPr/>
          <p:nvPr/>
        </p:nvSpPr>
        <p:spPr>
          <a:xfrm>
            <a:off x="2133600" y="6324600"/>
            <a:ext cx="609600" cy="304800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7"/>
          <p:cNvSpPr/>
          <p:nvPr/>
        </p:nvSpPr>
        <p:spPr>
          <a:xfrm>
            <a:off x="1295400" y="6019800"/>
            <a:ext cx="609600" cy="3048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47"/>
          <p:cNvSpPr/>
          <p:nvPr/>
        </p:nvSpPr>
        <p:spPr>
          <a:xfrm>
            <a:off x="2590800" y="6019800"/>
            <a:ext cx="609600" cy="3048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7"/>
          <p:cNvSpPr/>
          <p:nvPr/>
        </p:nvSpPr>
        <p:spPr>
          <a:xfrm>
            <a:off x="2514600" y="3886200"/>
            <a:ext cx="838200" cy="304800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7"/>
          <p:cNvSpPr/>
          <p:nvPr/>
        </p:nvSpPr>
        <p:spPr>
          <a:xfrm>
            <a:off x="2701925" y="5254625"/>
            <a:ext cx="642938" cy="650875"/>
          </a:xfrm>
          <a:custGeom>
            <a:rect b="b" l="l" r="r" t="t"/>
            <a:pathLst>
              <a:path extrusionOk="0" h="410" w="405">
                <a:moveTo>
                  <a:pt x="0" y="0"/>
                </a:moveTo>
                <a:lnTo>
                  <a:pt x="0" y="409"/>
                </a:lnTo>
                <a:lnTo>
                  <a:pt x="404" y="409"/>
                </a:lnTo>
                <a:lnTo>
                  <a:pt x="356" y="388"/>
                </a:lnTo>
                <a:lnTo>
                  <a:pt x="307" y="364"/>
                </a:lnTo>
                <a:lnTo>
                  <a:pt x="263" y="333"/>
                </a:lnTo>
                <a:lnTo>
                  <a:pt x="221" y="302"/>
                </a:lnTo>
                <a:lnTo>
                  <a:pt x="179" y="267"/>
                </a:lnTo>
                <a:lnTo>
                  <a:pt x="141" y="228"/>
                </a:lnTo>
                <a:lnTo>
                  <a:pt x="106" y="187"/>
                </a:lnTo>
                <a:lnTo>
                  <a:pt x="75" y="144"/>
                </a:lnTo>
                <a:lnTo>
                  <a:pt x="47" y="98"/>
                </a:lnTo>
                <a:lnTo>
                  <a:pt x="22" y="49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4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Contoh: Uji Z untuk p (</a:t>
            </a:r>
            <a:r>
              <a:rPr i="1" lang="en-US"/>
              <a:t>two-tail)</a:t>
            </a:r>
            <a:endParaRPr/>
          </a:p>
        </p:txBody>
      </p:sp>
      <p:sp>
        <p:nvSpPr>
          <p:cNvPr id="1314" name="Google Shape;1314;p47"/>
          <p:cNvSpPr/>
          <p:nvPr/>
        </p:nvSpPr>
        <p:spPr>
          <a:xfrm>
            <a:off x="1144588" y="5181600"/>
            <a:ext cx="533400" cy="723900"/>
          </a:xfrm>
          <a:custGeom>
            <a:rect b="b" l="l" r="r" t="t"/>
            <a:pathLst>
              <a:path extrusionOk="0" h="456" w="336">
                <a:moveTo>
                  <a:pt x="335" y="0"/>
                </a:moveTo>
                <a:lnTo>
                  <a:pt x="335" y="455"/>
                </a:lnTo>
                <a:lnTo>
                  <a:pt x="0" y="455"/>
                </a:lnTo>
                <a:lnTo>
                  <a:pt x="40" y="432"/>
                </a:lnTo>
                <a:lnTo>
                  <a:pt x="80" y="405"/>
                </a:lnTo>
                <a:lnTo>
                  <a:pt x="117" y="370"/>
                </a:lnTo>
                <a:lnTo>
                  <a:pt x="152" y="336"/>
                </a:lnTo>
                <a:lnTo>
                  <a:pt x="186" y="297"/>
                </a:lnTo>
                <a:lnTo>
                  <a:pt x="218" y="254"/>
                </a:lnTo>
                <a:lnTo>
                  <a:pt x="247" y="208"/>
                </a:lnTo>
                <a:lnTo>
                  <a:pt x="273" y="160"/>
                </a:lnTo>
                <a:lnTo>
                  <a:pt x="296" y="109"/>
                </a:lnTo>
                <a:lnTo>
                  <a:pt x="317" y="54"/>
                </a:lnTo>
                <a:lnTo>
                  <a:pt x="335" y="0"/>
                </a:lnTo>
              </a:path>
            </a:pathLst>
          </a:custGeom>
          <a:solidFill>
            <a:srgbClr val="FFFF6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7"/>
          <p:cNvSpPr txBox="1"/>
          <p:nvPr>
            <p:ph idx="1" type="body"/>
          </p:nvPr>
        </p:nvSpPr>
        <p:spPr>
          <a:xfrm>
            <a:off x="381000" y="2743200"/>
            <a:ext cx="38481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 = .05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Noto Sans Symbols"/>
              <a:buNone/>
            </a:pPr>
            <a:r>
              <a:rPr b="1"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= 500</a:t>
            </a:r>
            <a:endParaRPr/>
          </a:p>
        </p:txBody>
      </p:sp>
      <p:sp>
        <p:nvSpPr>
          <p:cNvPr id="1316" name="Google Shape;1316;p47"/>
          <p:cNvSpPr/>
          <p:nvPr/>
        </p:nvSpPr>
        <p:spPr>
          <a:xfrm>
            <a:off x="4943475" y="4041775"/>
            <a:ext cx="42005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 menolak pada </a:t>
            </a:r>
            <a:r>
              <a:rPr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= .05</a:t>
            </a:r>
            <a:endParaRPr/>
          </a:p>
        </p:txBody>
      </p:sp>
      <p:sp>
        <p:nvSpPr>
          <p:cNvPr id="1317" name="Google Shape;1317;p47"/>
          <p:cNvSpPr/>
          <p:nvPr/>
        </p:nvSpPr>
        <p:spPr>
          <a:xfrm>
            <a:off x="371475" y="1600200"/>
            <a:ext cx="22955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.04   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baseline="-25000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.04</a:t>
            </a:r>
            <a:endParaRPr/>
          </a:p>
        </p:txBody>
      </p:sp>
      <p:sp>
        <p:nvSpPr>
          <p:cNvPr id="1318" name="Google Shape;1318;p47"/>
          <p:cNvSpPr/>
          <p:nvPr/>
        </p:nvSpPr>
        <p:spPr>
          <a:xfrm>
            <a:off x="304800" y="3810000"/>
            <a:ext cx="32099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Nilai kritikal: </a:t>
            </a:r>
            <a:r>
              <a:rPr b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±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1.96</a:t>
            </a:r>
            <a:endParaRPr/>
          </a:p>
        </p:txBody>
      </p:sp>
      <p:sp>
        <p:nvSpPr>
          <p:cNvPr id="1319" name="Google Shape;1319;p47"/>
          <p:cNvSpPr/>
          <p:nvPr/>
        </p:nvSpPr>
        <p:spPr>
          <a:xfrm>
            <a:off x="4867275" y="1524000"/>
            <a:ext cx="30575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Uji statistik:</a:t>
            </a:r>
            <a:endParaRPr/>
          </a:p>
        </p:txBody>
      </p:sp>
      <p:sp>
        <p:nvSpPr>
          <p:cNvPr id="1320" name="Google Shape;1320;p47"/>
          <p:cNvSpPr/>
          <p:nvPr/>
        </p:nvSpPr>
        <p:spPr>
          <a:xfrm>
            <a:off x="4876800" y="3581400"/>
            <a:ext cx="23622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Keputusan:</a:t>
            </a:r>
            <a:endParaRPr/>
          </a:p>
        </p:txBody>
      </p:sp>
      <p:sp>
        <p:nvSpPr>
          <p:cNvPr id="1321" name="Google Shape;1321;p47"/>
          <p:cNvSpPr/>
          <p:nvPr/>
        </p:nvSpPr>
        <p:spPr>
          <a:xfrm>
            <a:off x="4876800" y="4572000"/>
            <a:ext cx="2514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Kesimpulan:</a:t>
            </a:r>
            <a:endParaRPr/>
          </a:p>
        </p:txBody>
      </p:sp>
      <p:sp>
        <p:nvSpPr>
          <p:cNvPr id="1322" name="Google Shape;1322;p47"/>
          <p:cNvSpPr/>
          <p:nvPr/>
        </p:nvSpPr>
        <p:spPr>
          <a:xfrm>
            <a:off x="787400" y="4595813"/>
            <a:ext cx="1389063" cy="1338262"/>
          </a:xfrm>
          <a:custGeom>
            <a:rect b="b" l="l" r="r" t="t"/>
            <a:pathLst>
              <a:path extrusionOk="0" h="843" w="875">
                <a:moveTo>
                  <a:pt x="0" y="842"/>
                </a:moveTo>
                <a:lnTo>
                  <a:pt x="92" y="831"/>
                </a:lnTo>
                <a:lnTo>
                  <a:pt x="137" y="822"/>
                </a:lnTo>
                <a:lnTo>
                  <a:pt x="183" y="808"/>
                </a:lnTo>
                <a:lnTo>
                  <a:pt x="229" y="789"/>
                </a:lnTo>
                <a:lnTo>
                  <a:pt x="276" y="763"/>
                </a:lnTo>
                <a:lnTo>
                  <a:pt x="321" y="729"/>
                </a:lnTo>
                <a:lnTo>
                  <a:pt x="414" y="631"/>
                </a:lnTo>
                <a:lnTo>
                  <a:pt x="506" y="493"/>
                </a:lnTo>
                <a:lnTo>
                  <a:pt x="598" y="329"/>
                </a:lnTo>
                <a:lnTo>
                  <a:pt x="643" y="245"/>
                </a:lnTo>
                <a:lnTo>
                  <a:pt x="690" y="165"/>
                </a:lnTo>
                <a:lnTo>
                  <a:pt x="735" y="98"/>
                </a:lnTo>
                <a:lnTo>
                  <a:pt x="782" y="45"/>
                </a:lnTo>
                <a:lnTo>
                  <a:pt x="827" y="11"/>
                </a:lnTo>
                <a:lnTo>
                  <a:pt x="874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7"/>
          <p:cNvSpPr/>
          <p:nvPr/>
        </p:nvSpPr>
        <p:spPr>
          <a:xfrm>
            <a:off x="2174875" y="4595813"/>
            <a:ext cx="1389063" cy="1338262"/>
          </a:xfrm>
          <a:custGeom>
            <a:rect b="b" l="l" r="r" t="t"/>
            <a:pathLst>
              <a:path extrusionOk="0" h="843" w="875">
                <a:moveTo>
                  <a:pt x="874" y="842"/>
                </a:moveTo>
                <a:lnTo>
                  <a:pt x="782" y="831"/>
                </a:lnTo>
                <a:lnTo>
                  <a:pt x="735" y="822"/>
                </a:lnTo>
                <a:lnTo>
                  <a:pt x="690" y="808"/>
                </a:lnTo>
                <a:lnTo>
                  <a:pt x="643" y="789"/>
                </a:lnTo>
                <a:lnTo>
                  <a:pt x="598" y="763"/>
                </a:lnTo>
                <a:lnTo>
                  <a:pt x="551" y="729"/>
                </a:lnTo>
                <a:lnTo>
                  <a:pt x="459" y="631"/>
                </a:lnTo>
                <a:lnTo>
                  <a:pt x="368" y="493"/>
                </a:lnTo>
                <a:lnTo>
                  <a:pt x="276" y="329"/>
                </a:lnTo>
                <a:lnTo>
                  <a:pt x="230" y="245"/>
                </a:lnTo>
                <a:lnTo>
                  <a:pt x="183" y="165"/>
                </a:lnTo>
                <a:lnTo>
                  <a:pt x="137" y="98"/>
                </a:lnTo>
                <a:lnTo>
                  <a:pt x="92" y="45"/>
                </a:lnTo>
                <a:lnTo>
                  <a:pt x="45" y="11"/>
                </a:lnTo>
                <a:lnTo>
                  <a:pt x="0" y="0"/>
                </a:lnTo>
              </a:path>
            </a:pathLst>
          </a:custGeom>
          <a:noFill/>
          <a:ln cap="rnd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4" name="Google Shape;1324;p47"/>
          <p:cNvCxnSpPr/>
          <p:nvPr/>
        </p:nvCxnSpPr>
        <p:spPr>
          <a:xfrm rot="10800000">
            <a:off x="2701925" y="4827588"/>
            <a:ext cx="0" cy="122396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47"/>
          <p:cNvSpPr/>
          <p:nvPr/>
        </p:nvSpPr>
        <p:spPr>
          <a:xfrm>
            <a:off x="787400" y="4830763"/>
            <a:ext cx="2828925" cy="1096962"/>
          </a:xfrm>
          <a:custGeom>
            <a:rect b="b" l="l" r="r" t="t"/>
            <a:pathLst>
              <a:path extrusionOk="0" h="691" w="1782">
                <a:moveTo>
                  <a:pt x="0" y="0"/>
                </a:moveTo>
                <a:lnTo>
                  <a:pt x="0" y="690"/>
                </a:lnTo>
                <a:lnTo>
                  <a:pt x="1781" y="69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6" name="Google Shape;1326;p47"/>
          <p:cNvCxnSpPr/>
          <p:nvPr/>
        </p:nvCxnSpPr>
        <p:spPr>
          <a:xfrm>
            <a:off x="2174875" y="4722813"/>
            <a:ext cx="0" cy="1128712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27" name="Google Shape;1327;p47"/>
          <p:cNvSpPr/>
          <p:nvPr/>
        </p:nvSpPr>
        <p:spPr>
          <a:xfrm>
            <a:off x="3270250" y="5784850"/>
            <a:ext cx="406400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None/>
            </a:pPr>
            <a:r>
              <a:rPr i="1"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328" name="Google Shape;1328;p47"/>
          <p:cNvSpPr/>
          <p:nvPr/>
        </p:nvSpPr>
        <p:spPr>
          <a:xfrm>
            <a:off x="1974850" y="5930900"/>
            <a:ext cx="35718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None/>
            </a:pPr>
            <a:r>
              <a:rPr lang="en-US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1329" name="Google Shape;1329;p47"/>
          <p:cNvCxnSpPr/>
          <p:nvPr/>
        </p:nvCxnSpPr>
        <p:spPr>
          <a:xfrm rot="10800000">
            <a:off x="1676400" y="4867275"/>
            <a:ext cx="0" cy="1223963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47"/>
          <p:cNvCxnSpPr/>
          <p:nvPr/>
        </p:nvCxnSpPr>
        <p:spPr>
          <a:xfrm>
            <a:off x="2760663" y="4876800"/>
            <a:ext cx="50323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31" name="Google Shape;1331;p47"/>
          <p:cNvCxnSpPr/>
          <p:nvPr/>
        </p:nvCxnSpPr>
        <p:spPr>
          <a:xfrm rot="10800000">
            <a:off x="1058863" y="4876800"/>
            <a:ext cx="63023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32" name="Google Shape;1332;p47"/>
          <p:cNvSpPr/>
          <p:nvPr/>
        </p:nvSpPr>
        <p:spPr>
          <a:xfrm>
            <a:off x="687388" y="4421188"/>
            <a:ext cx="1063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tolak</a:t>
            </a:r>
            <a:endParaRPr/>
          </a:p>
        </p:txBody>
      </p:sp>
      <p:sp>
        <p:nvSpPr>
          <p:cNvPr id="1333" name="Google Shape;1333;p47"/>
          <p:cNvSpPr/>
          <p:nvPr/>
        </p:nvSpPr>
        <p:spPr>
          <a:xfrm>
            <a:off x="2592388" y="4421188"/>
            <a:ext cx="1063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tolak</a:t>
            </a:r>
            <a:endParaRPr/>
          </a:p>
        </p:txBody>
      </p:sp>
      <p:sp>
        <p:nvSpPr>
          <p:cNvPr id="1334" name="Google Shape;1334;p47"/>
          <p:cNvSpPr/>
          <p:nvPr/>
        </p:nvSpPr>
        <p:spPr>
          <a:xfrm>
            <a:off x="3354388" y="4954588"/>
            <a:ext cx="8350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.025</a:t>
            </a:r>
            <a:endParaRPr/>
          </a:p>
        </p:txBody>
      </p:sp>
      <p:sp>
        <p:nvSpPr>
          <p:cNvPr id="1335" name="Google Shape;1335;p47"/>
          <p:cNvSpPr/>
          <p:nvPr/>
        </p:nvSpPr>
        <p:spPr>
          <a:xfrm>
            <a:off x="839788" y="4954588"/>
            <a:ext cx="8350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.025</a:t>
            </a:r>
            <a:endParaRPr/>
          </a:p>
        </p:txBody>
      </p:sp>
      <p:cxnSp>
        <p:nvCxnSpPr>
          <p:cNvPr id="1336" name="Google Shape;1336;p47"/>
          <p:cNvCxnSpPr/>
          <p:nvPr/>
        </p:nvCxnSpPr>
        <p:spPr>
          <a:xfrm>
            <a:off x="1312863" y="5275263"/>
            <a:ext cx="198437" cy="427037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37" name="Google Shape;1337;p47"/>
          <p:cNvSpPr txBox="1"/>
          <p:nvPr/>
        </p:nvSpPr>
        <p:spPr>
          <a:xfrm>
            <a:off x="2559050" y="5943600"/>
            <a:ext cx="717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1.96</a:t>
            </a:r>
            <a:endParaRPr/>
          </a:p>
        </p:txBody>
      </p:sp>
      <p:sp>
        <p:nvSpPr>
          <p:cNvPr id="1338" name="Google Shape;1338;p47"/>
          <p:cNvSpPr txBox="1"/>
          <p:nvPr/>
        </p:nvSpPr>
        <p:spPr>
          <a:xfrm>
            <a:off x="990600" y="5943600"/>
            <a:ext cx="81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-1.96</a:t>
            </a:r>
            <a:endParaRPr/>
          </a:p>
        </p:txBody>
      </p:sp>
      <p:sp>
        <p:nvSpPr>
          <p:cNvPr id="1339" name="Google Shape;1339;p47"/>
          <p:cNvSpPr txBox="1"/>
          <p:nvPr/>
        </p:nvSpPr>
        <p:spPr>
          <a:xfrm>
            <a:off x="2101850" y="6248400"/>
            <a:ext cx="717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1.14</a:t>
            </a:r>
            <a:endParaRPr/>
          </a:p>
        </p:txBody>
      </p:sp>
      <p:sp>
        <p:nvSpPr>
          <p:cNvPr id="1340" name="Google Shape;1340;p47"/>
          <p:cNvSpPr/>
          <p:nvPr/>
        </p:nvSpPr>
        <p:spPr>
          <a:xfrm>
            <a:off x="5105400" y="5029200"/>
            <a:ext cx="37338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Tidak ada bukti yang cukup kuat untuk menolak klaim bahwa respon dari survey sebesar 4%</a:t>
            </a:r>
            <a:endParaRPr/>
          </a:p>
        </p:txBody>
      </p:sp>
      <p:cxnSp>
        <p:nvCxnSpPr>
          <p:cNvPr id="1341" name="Google Shape;1341;p47"/>
          <p:cNvCxnSpPr/>
          <p:nvPr/>
        </p:nvCxnSpPr>
        <p:spPr>
          <a:xfrm flipH="1">
            <a:off x="2819400" y="5410200"/>
            <a:ext cx="5334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42" name="Google Shape;1342;p47"/>
          <p:cNvCxnSpPr/>
          <p:nvPr/>
        </p:nvCxnSpPr>
        <p:spPr>
          <a:xfrm rot="10800000">
            <a:off x="2438400" y="58674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343" name="Google Shape;134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1700" y="62357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4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 11 HIPOTESA SATU SAMPEL</a:t>
            </a:r>
            <a:endParaRPr/>
          </a:p>
        </p:txBody>
      </p:sp>
      <p:sp>
        <p:nvSpPr>
          <p:cNvPr id="1349" name="Google Shape;1349;p4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‹#›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50" name="Google Shape;1350;p48"/>
          <p:cNvSpPr txBox="1"/>
          <p:nvPr>
            <p:ph type="title"/>
          </p:nvPr>
        </p:nvSpPr>
        <p:spPr>
          <a:xfrm>
            <a:off x="228600" y="457200"/>
            <a:ext cx="8458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Solusi: </a:t>
            </a:r>
            <a:r>
              <a:rPr i="1" lang="en-US"/>
              <a:t>p </a:t>
            </a:r>
            <a:r>
              <a:rPr lang="en-US"/>
              <a:t>-Value untuk p (</a:t>
            </a:r>
            <a:r>
              <a:rPr i="1" lang="en-US"/>
              <a:t>two-tail)</a:t>
            </a:r>
            <a:endParaRPr/>
          </a:p>
        </p:txBody>
      </p:sp>
      <p:sp>
        <p:nvSpPr>
          <p:cNvPr id="1351" name="Google Shape;1351;p48"/>
          <p:cNvSpPr/>
          <p:nvPr/>
        </p:nvSpPr>
        <p:spPr>
          <a:xfrm flipH="1">
            <a:off x="2514600" y="4043363"/>
            <a:ext cx="1065213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9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8"/>
          <p:cNvSpPr/>
          <p:nvPr/>
        </p:nvSpPr>
        <p:spPr>
          <a:xfrm>
            <a:off x="1004888" y="1676400"/>
            <a:ext cx="7096125" cy="106362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0.2542) </a:t>
            </a:r>
            <a:r>
              <a:rPr b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0.05).  </a:t>
            </a:r>
            <a:b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Jangan tolak, terima.</a:t>
            </a:r>
            <a:endParaRPr/>
          </a:p>
        </p:txBody>
      </p:sp>
      <p:cxnSp>
        <p:nvCxnSpPr>
          <p:cNvPr id="1353" name="Google Shape;1353;p48"/>
          <p:cNvCxnSpPr/>
          <p:nvPr/>
        </p:nvCxnSpPr>
        <p:spPr>
          <a:xfrm>
            <a:off x="4495800" y="2976563"/>
            <a:ext cx="0" cy="22098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54" name="Google Shape;1354;p48"/>
          <p:cNvSpPr/>
          <p:nvPr/>
        </p:nvSpPr>
        <p:spPr>
          <a:xfrm>
            <a:off x="5334000" y="4043363"/>
            <a:ext cx="1065213" cy="1076325"/>
          </a:xfrm>
          <a:custGeom>
            <a:rect b="b" l="l" r="r" t="t"/>
            <a:pathLst>
              <a:path extrusionOk="0" h="678" w="671">
                <a:moveTo>
                  <a:pt x="0" y="0"/>
                </a:moveTo>
                <a:lnTo>
                  <a:pt x="0" y="677"/>
                </a:lnTo>
                <a:lnTo>
                  <a:pt x="670" y="677"/>
                </a:lnTo>
                <a:lnTo>
                  <a:pt x="589" y="642"/>
                </a:lnTo>
                <a:lnTo>
                  <a:pt x="510" y="599"/>
                </a:lnTo>
                <a:lnTo>
                  <a:pt x="436" y="551"/>
                </a:lnTo>
                <a:lnTo>
                  <a:pt x="364" y="499"/>
                </a:lnTo>
                <a:lnTo>
                  <a:pt x="297" y="441"/>
                </a:lnTo>
                <a:lnTo>
                  <a:pt x="235" y="377"/>
                </a:lnTo>
                <a:lnTo>
                  <a:pt x="177" y="310"/>
                </a:lnTo>
                <a:lnTo>
                  <a:pt x="124" y="238"/>
                </a:lnTo>
                <a:lnTo>
                  <a:pt x="76" y="162"/>
                </a:lnTo>
                <a:lnTo>
                  <a:pt x="35" y="81"/>
                </a:lnTo>
                <a:lnTo>
                  <a:pt x="0" y="0"/>
                </a:lnTo>
              </a:path>
            </a:pathLst>
          </a:custGeom>
          <a:solidFill>
            <a:srgbClr val="FF99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8"/>
          <p:cNvSpPr/>
          <p:nvPr/>
        </p:nvSpPr>
        <p:spPr>
          <a:xfrm>
            <a:off x="4260850" y="5249863"/>
            <a:ext cx="392113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56" name="Google Shape;1356;p48"/>
          <p:cNvSpPr/>
          <p:nvPr/>
        </p:nvSpPr>
        <p:spPr>
          <a:xfrm>
            <a:off x="4648200" y="5524500"/>
            <a:ext cx="72548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1.14</a:t>
            </a:r>
            <a:endParaRPr b="1"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8"/>
          <p:cNvSpPr/>
          <p:nvPr/>
        </p:nvSpPr>
        <p:spPr>
          <a:xfrm>
            <a:off x="5875338" y="4881563"/>
            <a:ext cx="601662" cy="341312"/>
          </a:xfrm>
          <a:custGeom>
            <a:rect b="b" l="l" r="r" t="t"/>
            <a:pathLst>
              <a:path extrusionOk="0" h="215" w="379">
                <a:moveTo>
                  <a:pt x="0" y="0"/>
                </a:moveTo>
                <a:lnTo>
                  <a:pt x="0" y="214"/>
                </a:lnTo>
                <a:lnTo>
                  <a:pt x="378" y="214"/>
                </a:lnTo>
                <a:lnTo>
                  <a:pt x="144" y="107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8"/>
          <p:cNvSpPr/>
          <p:nvPr/>
        </p:nvSpPr>
        <p:spPr>
          <a:xfrm>
            <a:off x="4473575" y="2925763"/>
            <a:ext cx="2287588" cy="2200275"/>
          </a:xfrm>
          <a:custGeom>
            <a:rect b="b" l="l" r="r" t="t"/>
            <a:pathLst>
              <a:path extrusionOk="0" h="1386" w="1441">
                <a:moveTo>
                  <a:pt x="1440" y="1385"/>
                </a:moveTo>
                <a:lnTo>
                  <a:pt x="1289" y="1368"/>
                </a:lnTo>
                <a:lnTo>
                  <a:pt x="1214" y="1352"/>
                </a:lnTo>
                <a:lnTo>
                  <a:pt x="1137" y="1329"/>
                </a:lnTo>
                <a:lnTo>
                  <a:pt x="1062" y="1299"/>
                </a:lnTo>
                <a:lnTo>
                  <a:pt x="985" y="1255"/>
                </a:lnTo>
                <a:lnTo>
                  <a:pt x="910" y="1199"/>
                </a:lnTo>
                <a:lnTo>
                  <a:pt x="759" y="1038"/>
                </a:lnTo>
                <a:lnTo>
                  <a:pt x="607" y="811"/>
                </a:lnTo>
                <a:lnTo>
                  <a:pt x="455" y="541"/>
                </a:lnTo>
                <a:lnTo>
                  <a:pt x="380" y="403"/>
                </a:lnTo>
                <a:lnTo>
                  <a:pt x="304" y="272"/>
                </a:lnTo>
                <a:lnTo>
                  <a:pt x="229" y="161"/>
                </a:lnTo>
                <a:lnTo>
                  <a:pt x="152" y="73"/>
                </a:lnTo>
                <a:lnTo>
                  <a:pt x="77" y="19"/>
                </a:lnTo>
                <a:lnTo>
                  <a:pt x="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48"/>
          <p:cNvSpPr/>
          <p:nvPr/>
        </p:nvSpPr>
        <p:spPr>
          <a:xfrm>
            <a:off x="2187575" y="2925763"/>
            <a:ext cx="2287588" cy="2200275"/>
          </a:xfrm>
          <a:custGeom>
            <a:rect b="b" l="l" r="r" t="t"/>
            <a:pathLst>
              <a:path extrusionOk="0" h="1386" w="1441">
                <a:moveTo>
                  <a:pt x="0" y="1385"/>
                </a:moveTo>
                <a:lnTo>
                  <a:pt x="152" y="1368"/>
                </a:lnTo>
                <a:lnTo>
                  <a:pt x="229" y="1352"/>
                </a:lnTo>
                <a:lnTo>
                  <a:pt x="303" y="1329"/>
                </a:lnTo>
                <a:lnTo>
                  <a:pt x="378" y="1299"/>
                </a:lnTo>
                <a:lnTo>
                  <a:pt x="455" y="1255"/>
                </a:lnTo>
                <a:lnTo>
                  <a:pt x="530" y="1199"/>
                </a:lnTo>
                <a:lnTo>
                  <a:pt x="684" y="1038"/>
                </a:lnTo>
                <a:lnTo>
                  <a:pt x="833" y="811"/>
                </a:lnTo>
                <a:lnTo>
                  <a:pt x="985" y="541"/>
                </a:lnTo>
                <a:lnTo>
                  <a:pt x="1062" y="403"/>
                </a:lnTo>
                <a:lnTo>
                  <a:pt x="1137" y="272"/>
                </a:lnTo>
                <a:lnTo>
                  <a:pt x="1214" y="161"/>
                </a:lnTo>
                <a:lnTo>
                  <a:pt x="1288" y="73"/>
                </a:lnTo>
                <a:lnTo>
                  <a:pt x="1365" y="19"/>
                </a:lnTo>
                <a:lnTo>
                  <a:pt x="1440" y="0"/>
                </a:lnTo>
              </a:path>
            </a:pathLst>
          </a:custGeom>
          <a:noFill/>
          <a:ln cap="rnd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0" name="Google Shape;1360;p48"/>
          <p:cNvCxnSpPr/>
          <p:nvPr/>
        </p:nvCxnSpPr>
        <p:spPr>
          <a:xfrm>
            <a:off x="2160588" y="2852738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1" name="Google Shape;1361;p48"/>
          <p:cNvCxnSpPr/>
          <p:nvPr/>
        </p:nvCxnSpPr>
        <p:spPr>
          <a:xfrm>
            <a:off x="2160588" y="3081338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2" name="Google Shape;1362;p48"/>
          <p:cNvCxnSpPr/>
          <p:nvPr/>
        </p:nvCxnSpPr>
        <p:spPr>
          <a:xfrm>
            <a:off x="2160588" y="3309938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3" name="Google Shape;1363;p48"/>
          <p:cNvCxnSpPr/>
          <p:nvPr/>
        </p:nvCxnSpPr>
        <p:spPr>
          <a:xfrm>
            <a:off x="2160588" y="3535363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4" name="Google Shape;1364;p48"/>
          <p:cNvCxnSpPr/>
          <p:nvPr/>
        </p:nvCxnSpPr>
        <p:spPr>
          <a:xfrm>
            <a:off x="2160588" y="3763963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5" name="Google Shape;1365;p48"/>
          <p:cNvCxnSpPr/>
          <p:nvPr/>
        </p:nvCxnSpPr>
        <p:spPr>
          <a:xfrm>
            <a:off x="2160588" y="4216400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6" name="Google Shape;1366;p48"/>
          <p:cNvCxnSpPr/>
          <p:nvPr/>
        </p:nvCxnSpPr>
        <p:spPr>
          <a:xfrm>
            <a:off x="2160588" y="4441825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48"/>
          <p:cNvCxnSpPr/>
          <p:nvPr/>
        </p:nvCxnSpPr>
        <p:spPr>
          <a:xfrm>
            <a:off x="2160588" y="4670425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48"/>
          <p:cNvCxnSpPr/>
          <p:nvPr/>
        </p:nvCxnSpPr>
        <p:spPr>
          <a:xfrm>
            <a:off x="2160588" y="4895850"/>
            <a:ext cx="1587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48"/>
          <p:cNvCxnSpPr/>
          <p:nvPr/>
        </p:nvCxnSpPr>
        <p:spPr>
          <a:xfrm>
            <a:off x="6845300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0" name="Google Shape;1370;p48"/>
          <p:cNvCxnSpPr/>
          <p:nvPr/>
        </p:nvCxnSpPr>
        <p:spPr>
          <a:xfrm>
            <a:off x="6381750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1" name="Google Shape;1371;p48"/>
          <p:cNvCxnSpPr/>
          <p:nvPr/>
        </p:nvCxnSpPr>
        <p:spPr>
          <a:xfrm>
            <a:off x="5915025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2" name="Google Shape;1372;p48"/>
          <p:cNvCxnSpPr/>
          <p:nvPr/>
        </p:nvCxnSpPr>
        <p:spPr>
          <a:xfrm>
            <a:off x="5449888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3" name="Google Shape;1373;p48"/>
          <p:cNvCxnSpPr/>
          <p:nvPr/>
        </p:nvCxnSpPr>
        <p:spPr>
          <a:xfrm>
            <a:off x="4983163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4" name="Google Shape;1374;p48"/>
          <p:cNvCxnSpPr/>
          <p:nvPr/>
        </p:nvCxnSpPr>
        <p:spPr>
          <a:xfrm>
            <a:off x="4516438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5" name="Google Shape;1375;p48"/>
          <p:cNvCxnSpPr/>
          <p:nvPr/>
        </p:nvCxnSpPr>
        <p:spPr>
          <a:xfrm>
            <a:off x="4049713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6" name="Google Shape;1376;p48"/>
          <p:cNvCxnSpPr/>
          <p:nvPr/>
        </p:nvCxnSpPr>
        <p:spPr>
          <a:xfrm>
            <a:off x="3586163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48"/>
          <p:cNvCxnSpPr/>
          <p:nvPr/>
        </p:nvCxnSpPr>
        <p:spPr>
          <a:xfrm>
            <a:off x="3121025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48"/>
          <p:cNvCxnSpPr/>
          <p:nvPr/>
        </p:nvCxnSpPr>
        <p:spPr>
          <a:xfrm>
            <a:off x="2654300" y="5145088"/>
            <a:ext cx="0" cy="635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9" name="Google Shape;1379;p48"/>
          <p:cNvSpPr/>
          <p:nvPr/>
        </p:nvSpPr>
        <p:spPr>
          <a:xfrm>
            <a:off x="7205663" y="5249863"/>
            <a:ext cx="41433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380" name="Google Shape;1380;p48"/>
          <p:cNvSpPr/>
          <p:nvPr/>
        </p:nvSpPr>
        <p:spPr>
          <a:xfrm>
            <a:off x="6089650" y="3579813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sp>
        <p:nvSpPr>
          <p:cNvPr id="1381" name="Google Shape;1381;p48"/>
          <p:cNvSpPr/>
          <p:nvPr/>
        </p:nvSpPr>
        <p:spPr>
          <a:xfrm>
            <a:off x="5867400" y="4097338"/>
            <a:ext cx="893763" cy="1165225"/>
          </a:xfrm>
          <a:custGeom>
            <a:rect b="b" l="l" r="r" t="t"/>
            <a:pathLst>
              <a:path extrusionOk="0" h="686" w="563">
                <a:moveTo>
                  <a:pt x="0" y="685"/>
                </a:moveTo>
                <a:lnTo>
                  <a:pt x="0" y="0"/>
                </a:lnTo>
                <a:lnTo>
                  <a:pt x="562" y="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8"/>
          <p:cNvSpPr/>
          <p:nvPr/>
        </p:nvSpPr>
        <p:spPr>
          <a:xfrm>
            <a:off x="6711950" y="4043363"/>
            <a:ext cx="147638" cy="147637"/>
          </a:xfrm>
          <a:custGeom>
            <a:rect b="b" l="l" r="r" t="t"/>
            <a:pathLst>
              <a:path extrusionOk="0" h="93" w="93">
                <a:moveTo>
                  <a:pt x="0" y="0"/>
                </a:moveTo>
                <a:lnTo>
                  <a:pt x="92" y="45"/>
                </a:lnTo>
                <a:lnTo>
                  <a:pt x="0" y="92"/>
                </a:lnTo>
                <a:lnTo>
                  <a:pt x="4" y="85"/>
                </a:lnTo>
                <a:lnTo>
                  <a:pt x="5" y="78"/>
                </a:lnTo>
                <a:lnTo>
                  <a:pt x="7" y="72"/>
                </a:lnTo>
                <a:lnTo>
                  <a:pt x="8" y="65"/>
                </a:lnTo>
                <a:lnTo>
                  <a:pt x="10" y="58"/>
                </a:lnTo>
                <a:lnTo>
                  <a:pt x="10" y="49"/>
                </a:lnTo>
                <a:lnTo>
                  <a:pt x="10" y="42"/>
                </a:lnTo>
                <a:lnTo>
                  <a:pt x="10" y="35"/>
                </a:lnTo>
                <a:lnTo>
                  <a:pt x="8" y="27"/>
                </a:lnTo>
                <a:lnTo>
                  <a:pt x="7" y="20"/>
                </a:lnTo>
                <a:lnTo>
                  <a:pt x="5" y="13"/>
                </a:lnTo>
                <a:lnTo>
                  <a:pt x="4" y="8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8"/>
          <p:cNvSpPr/>
          <p:nvPr/>
        </p:nvSpPr>
        <p:spPr>
          <a:xfrm>
            <a:off x="6619875" y="4351338"/>
            <a:ext cx="1304925" cy="454025"/>
          </a:xfrm>
          <a:prstGeom prst="rect">
            <a:avLst/>
          </a:prstGeom>
          <a:solidFill>
            <a:srgbClr val="FDDBE4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1"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0.05</a:t>
            </a:r>
            <a:endParaRPr/>
          </a:p>
        </p:txBody>
      </p:sp>
      <p:cxnSp>
        <p:nvCxnSpPr>
          <p:cNvPr id="1384" name="Google Shape;1384;p48"/>
          <p:cNvCxnSpPr/>
          <p:nvPr/>
        </p:nvCxnSpPr>
        <p:spPr>
          <a:xfrm flipH="1">
            <a:off x="5424488" y="3536950"/>
            <a:ext cx="373062" cy="1109663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85" name="Google Shape;1385;p48"/>
          <p:cNvCxnSpPr/>
          <p:nvPr/>
        </p:nvCxnSpPr>
        <p:spPr>
          <a:xfrm flipH="1">
            <a:off x="6019800" y="4805363"/>
            <a:ext cx="685800" cy="30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6" name="Google Shape;1386;p48"/>
          <p:cNvSpPr/>
          <p:nvPr/>
        </p:nvSpPr>
        <p:spPr>
          <a:xfrm>
            <a:off x="3048000" y="5184775"/>
            <a:ext cx="2740025" cy="153988"/>
          </a:xfrm>
          <a:custGeom>
            <a:rect b="b" l="l" r="r" t="t"/>
            <a:pathLst>
              <a:path extrusionOk="0" h="97" w="2062">
                <a:moveTo>
                  <a:pt x="0" y="48"/>
                </a:moveTo>
                <a:lnTo>
                  <a:pt x="412" y="96"/>
                </a:lnTo>
                <a:lnTo>
                  <a:pt x="412" y="72"/>
                </a:lnTo>
                <a:lnTo>
                  <a:pt x="1649" y="72"/>
                </a:lnTo>
                <a:lnTo>
                  <a:pt x="1649" y="96"/>
                </a:lnTo>
                <a:lnTo>
                  <a:pt x="2061" y="48"/>
                </a:lnTo>
                <a:lnTo>
                  <a:pt x="1649" y="0"/>
                </a:lnTo>
                <a:lnTo>
                  <a:pt x="1649" y="24"/>
                </a:lnTo>
                <a:lnTo>
                  <a:pt x="412" y="24"/>
                </a:lnTo>
                <a:lnTo>
                  <a:pt x="412" y="0"/>
                </a:lnTo>
                <a:lnTo>
                  <a:pt x="0" y="48"/>
                </a:lnTo>
              </a:path>
            </a:pathLst>
          </a:custGeom>
          <a:solidFill>
            <a:srgbClr val="E4E4F8"/>
          </a:solidFill>
          <a:ln cap="rnd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7" name="Google Shape;1387;p48"/>
          <p:cNvCxnSpPr/>
          <p:nvPr/>
        </p:nvCxnSpPr>
        <p:spPr>
          <a:xfrm>
            <a:off x="5910263" y="4881563"/>
            <a:ext cx="15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8" name="Google Shape;1388;p48"/>
          <p:cNvCxnSpPr/>
          <p:nvPr/>
        </p:nvCxnSpPr>
        <p:spPr>
          <a:xfrm>
            <a:off x="5949950" y="4957763"/>
            <a:ext cx="635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9" name="Google Shape;1389;p48"/>
          <p:cNvSpPr txBox="1"/>
          <p:nvPr/>
        </p:nvSpPr>
        <p:spPr>
          <a:xfrm>
            <a:off x="5943600" y="5491163"/>
            <a:ext cx="717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1.96</a:t>
            </a:r>
            <a:endParaRPr/>
          </a:p>
        </p:txBody>
      </p:sp>
      <p:cxnSp>
        <p:nvCxnSpPr>
          <p:cNvPr id="1390" name="Google Shape;1390;p48"/>
          <p:cNvCxnSpPr/>
          <p:nvPr/>
        </p:nvCxnSpPr>
        <p:spPr>
          <a:xfrm flipH="1" rot="4099552">
            <a:off x="5854700" y="5283200"/>
            <a:ext cx="449263" cy="271463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1" name="Google Shape;1391;p48"/>
          <p:cNvCxnSpPr/>
          <p:nvPr/>
        </p:nvCxnSpPr>
        <p:spPr>
          <a:xfrm rot="-4099552">
            <a:off x="4870450" y="5414963"/>
            <a:ext cx="457200" cy="15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2" name="Google Shape;1392;p48"/>
          <p:cNvCxnSpPr/>
          <p:nvPr/>
        </p:nvCxnSpPr>
        <p:spPr>
          <a:xfrm>
            <a:off x="1981200" y="5262563"/>
            <a:ext cx="5562600" cy="0"/>
          </a:xfrm>
          <a:prstGeom prst="straightConnector1">
            <a:avLst/>
          </a:prstGeom>
          <a:noFill/>
          <a:ln cap="rnd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3" name="Google Shape;1393;p48"/>
          <p:cNvSpPr/>
          <p:nvPr/>
        </p:nvSpPr>
        <p:spPr>
          <a:xfrm flipH="1">
            <a:off x="2446338" y="4881563"/>
            <a:ext cx="601662" cy="341312"/>
          </a:xfrm>
          <a:custGeom>
            <a:rect b="b" l="l" r="r" t="t"/>
            <a:pathLst>
              <a:path extrusionOk="0" h="215" w="379">
                <a:moveTo>
                  <a:pt x="0" y="0"/>
                </a:moveTo>
                <a:lnTo>
                  <a:pt x="0" y="214"/>
                </a:lnTo>
                <a:lnTo>
                  <a:pt x="378" y="214"/>
                </a:lnTo>
                <a:lnTo>
                  <a:pt x="144" y="107"/>
                </a:lnTo>
                <a:lnTo>
                  <a:pt x="0" y="0"/>
                </a:lnTo>
              </a:path>
            </a:pathLst>
          </a:custGeom>
          <a:solidFill>
            <a:srgbClr val="FFFF66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48"/>
          <p:cNvSpPr/>
          <p:nvPr/>
        </p:nvSpPr>
        <p:spPr>
          <a:xfrm>
            <a:off x="5634038" y="2933700"/>
            <a:ext cx="2671762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-Value = 2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.1271</a:t>
            </a:r>
            <a:endParaRPr/>
          </a:p>
        </p:txBody>
      </p:sp>
      <p:cxnSp>
        <p:nvCxnSpPr>
          <p:cNvPr id="1395" name="Google Shape;1395;p48"/>
          <p:cNvCxnSpPr/>
          <p:nvPr/>
        </p:nvCxnSpPr>
        <p:spPr>
          <a:xfrm flipH="1">
            <a:off x="3429000" y="3433763"/>
            <a:ext cx="2201863" cy="1371600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6" name="Google Shape;1396;p48"/>
          <p:cNvCxnSpPr/>
          <p:nvPr/>
        </p:nvCxnSpPr>
        <p:spPr>
          <a:xfrm flipH="1">
            <a:off x="2895600" y="4652963"/>
            <a:ext cx="3733800" cy="45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7" name="Google Shape;1397;p48"/>
          <p:cNvSpPr/>
          <p:nvPr/>
        </p:nvSpPr>
        <p:spPr>
          <a:xfrm>
            <a:off x="838200" y="5961063"/>
            <a:ext cx="7772400" cy="454025"/>
          </a:xfrm>
          <a:prstGeom prst="rect">
            <a:avLst/>
          </a:prstGeom>
          <a:solidFill>
            <a:srgbClr val="E4E4F8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Nilai 1.14 berada di daerah not Reject Region</a:t>
            </a:r>
            <a:endParaRPr/>
          </a:p>
        </p:txBody>
      </p:sp>
      <p:sp>
        <p:nvSpPr>
          <p:cNvPr id="1398" name="Google Shape;1398;p48"/>
          <p:cNvSpPr/>
          <p:nvPr/>
        </p:nvSpPr>
        <p:spPr>
          <a:xfrm flipH="1">
            <a:off x="2209800" y="4119563"/>
            <a:ext cx="893763" cy="1165225"/>
          </a:xfrm>
          <a:custGeom>
            <a:rect b="b" l="l" r="r" t="t"/>
            <a:pathLst>
              <a:path extrusionOk="0" h="686" w="563">
                <a:moveTo>
                  <a:pt x="0" y="685"/>
                </a:moveTo>
                <a:lnTo>
                  <a:pt x="0" y="0"/>
                </a:lnTo>
                <a:lnTo>
                  <a:pt x="562" y="0"/>
                </a:lnTo>
              </a:path>
            </a:pathLst>
          </a:custGeom>
          <a:noFill/>
          <a:ln cap="rnd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8"/>
          <p:cNvSpPr/>
          <p:nvPr/>
        </p:nvSpPr>
        <p:spPr>
          <a:xfrm>
            <a:off x="1905000" y="3586163"/>
            <a:ext cx="8413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tolak</a:t>
            </a:r>
            <a:endParaRPr/>
          </a:p>
        </p:txBody>
      </p:sp>
      <p:sp>
        <p:nvSpPr>
          <p:cNvPr id="1400" name="Google Shape;1400;p48"/>
          <p:cNvSpPr/>
          <p:nvPr/>
        </p:nvSpPr>
        <p:spPr>
          <a:xfrm flipH="1">
            <a:off x="2057400" y="4043363"/>
            <a:ext cx="147638" cy="147637"/>
          </a:xfrm>
          <a:custGeom>
            <a:rect b="b" l="l" r="r" t="t"/>
            <a:pathLst>
              <a:path extrusionOk="0" h="93" w="93">
                <a:moveTo>
                  <a:pt x="0" y="0"/>
                </a:moveTo>
                <a:lnTo>
                  <a:pt x="92" y="45"/>
                </a:lnTo>
                <a:lnTo>
                  <a:pt x="0" y="92"/>
                </a:lnTo>
                <a:lnTo>
                  <a:pt x="4" y="85"/>
                </a:lnTo>
                <a:lnTo>
                  <a:pt x="5" y="78"/>
                </a:lnTo>
                <a:lnTo>
                  <a:pt x="7" y="72"/>
                </a:lnTo>
                <a:lnTo>
                  <a:pt x="8" y="65"/>
                </a:lnTo>
                <a:lnTo>
                  <a:pt x="10" y="58"/>
                </a:lnTo>
                <a:lnTo>
                  <a:pt x="10" y="49"/>
                </a:lnTo>
                <a:lnTo>
                  <a:pt x="10" y="42"/>
                </a:lnTo>
                <a:lnTo>
                  <a:pt x="10" y="35"/>
                </a:lnTo>
                <a:lnTo>
                  <a:pt x="8" y="27"/>
                </a:lnTo>
                <a:lnTo>
                  <a:pt x="7" y="20"/>
                </a:lnTo>
                <a:lnTo>
                  <a:pt x="5" y="13"/>
                </a:lnTo>
                <a:lnTo>
                  <a:pt x="4" y="8"/>
                </a:lnTo>
                <a:lnTo>
                  <a:pt x="0" y="0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xel">
  <a:themeElements>
    <a:clrScheme name="Pixel 7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6633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